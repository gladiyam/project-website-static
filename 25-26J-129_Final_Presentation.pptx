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bold r:id="rId14"/>
      <p:boldItalic r:id="rId15"/>
    </p:embeddedFont>
    <p:embeddedFont>
      <p:font typeface="Inter ExtraBold" panose="020B0604020202020204" charset="0"/>
      <p:bold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97223-1A1C-4F15-9403-AF36AB2416DE}" v="21" dt="2026-05-04T17:40:32.602"/>
  </p1510:revLst>
</p1510:revInfo>
</file>

<file path=ppt/tableStyles.xml><?xml version="1.0" encoding="utf-8"?>
<a:tblStyleLst xmlns:a="http://schemas.openxmlformats.org/drawingml/2006/main" def="{F62278D4-5407-40D9-9FE1-8803EC6E542A}">
  <a:tblStyle styleId="{F62278D4-5407-40D9-9FE1-8803EC6E54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bf5b8b4d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bf5b8b4d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bf5b8b4d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bf5b8b4d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bf5b8b4d3_0_6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dbf5b8b4d3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f5b8b4d3_0_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bf5b8b4d3_0_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bf5b8b4d3_0_2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bf5b8b4d3_0_2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bf5b8b4d3_0_1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bf5b8b4d3_0_1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bf5b8b4d3_0_1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bf5b8b4d3_0_1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bf5b8b4d3_0_1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dbf5b8b4d3_0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bf5b8b4d3_0_1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dbf5b8b4d3_0_1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bf5b8b4d3_0_17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dbf5b8b4d3_0_17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3067200" cy="5143500"/>
            <a:chOff x="0" y="0"/>
            <a:chExt cx="3067200" cy="51435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48000" y="0"/>
              <a:ext cx="19200" cy="51435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571500" y="5715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dirty="0">
              <a:solidFill>
                <a:srgbClr val="4A86E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 sz="4800" b="0" dirty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Modular Multi-Agent</a:t>
            </a:r>
            <a:endParaRPr sz="4800" b="0" dirty="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571500" y="1905000"/>
            <a:ext cx="8001000" cy="1524000"/>
            <a:chOff x="571500" y="1905000"/>
            <a:chExt cx="8001000" cy="1524000"/>
          </a:xfrm>
        </p:grpSpPr>
        <p:sp>
          <p:nvSpPr>
            <p:cNvPr id="59" name="Google Shape;59;p13"/>
            <p:cNvSpPr/>
            <p:nvPr/>
          </p:nvSpPr>
          <p:spPr>
            <a:xfrm>
              <a:off x="571500" y="1905000"/>
              <a:ext cx="8001000" cy="1524000"/>
            </a:xfrm>
            <a:prstGeom prst="roundRect">
              <a:avLst>
                <a:gd name="adj" fmla="val 7500"/>
              </a:avLst>
            </a:prstGeom>
            <a:solidFill>
              <a:srgbClr val="4A86E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952500" y="1905000"/>
              <a:ext cx="723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Document AI Platform</a:t>
              </a:r>
              <a:endParaRPr sz="3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Redefining intelligence in enterprise workflows</a:t>
              </a:r>
              <a:endParaRPr sz="14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1" name="Google Shape;61;p13"/>
          <p:cNvSpPr txBox="1"/>
          <p:nvPr/>
        </p:nvSpPr>
        <p:spPr>
          <a:xfrm>
            <a:off x="571500" y="3714750"/>
            <a:ext cx="5524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Adaptive Policy Routing &amp; Explainable Document Intelligence</a:t>
            </a:r>
            <a:endParaRPr sz="180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2" name="Google Shape;62;p13"/>
          <p:cNvGrpSpPr/>
          <p:nvPr/>
        </p:nvGrpSpPr>
        <p:grpSpPr>
          <a:xfrm>
            <a:off x="6477000" y="4191000"/>
            <a:ext cx="2095500" cy="381000"/>
            <a:chOff x="6477000" y="4191000"/>
            <a:chExt cx="2095500" cy="381000"/>
          </a:xfrm>
        </p:grpSpPr>
        <p:sp>
          <p:nvSpPr>
            <p:cNvPr id="63" name="Google Shape;63;p13"/>
            <p:cNvSpPr/>
            <p:nvPr/>
          </p:nvSpPr>
          <p:spPr>
            <a:xfrm>
              <a:off x="6477000" y="4191000"/>
              <a:ext cx="2095500" cy="3810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6477000" y="4191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PROJECT ID: 25-26J-129</a:t>
              </a:r>
              <a:endParaRPr sz="11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3048000" y="0"/>
            <a:ext cx="19200" cy="514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81000" y="3810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0" b="0" dirty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 Statement </a:t>
            </a:r>
            <a:endParaRPr sz="1860" b="0" dirty="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2" name="Google Shape;72;p14"/>
          <p:cNvGrpSpPr/>
          <p:nvPr/>
        </p:nvGrpSpPr>
        <p:grpSpPr>
          <a:xfrm>
            <a:off x="381000" y="3429000"/>
            <a:ext cx="2286000" cy="1333500"/>
            <a:chOff x="381000" y="3429000"/>
            <a:chExt cx="2286000" cy="1333500"/>
          </a:xfrm>
        </p:grpSpPr>
        <p:sp>
          <p:nvSpPr>
            <p:cNvPr id="73" name="Google Shape;73;p14"/>
            <p:cNvSpPr/>
            <p:nvPr/>
          </p:nvSpPr>
          <p:spPr>
            <a:xfrm>
              <a:off x="381000" y="3429000"/>
              <a:ext cx="2286000" cy="1333500"/>
            </a:xfrm>
            <a:prstGeom prst="roundRect">
              <a:avLst>
                <a:gd name="adj" fmla="val 8571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523875" y="3571875"/>
              <a:ext cx="2000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STAKEHOLDERS</a:t>
              </a:r>
              <a:endParaRPr sz="935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2575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Document processing teams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2575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Compliance officers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2575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Healthcare RCM analysts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2575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Inter"/>
                <a:buChar char="●"/>
              </a:pPr>
              <a:r>
                <a:rPr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Finance directors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3429000" y="571500"/>
            <a:ext cx="5334000" cy="1047900"/>
            <a:chOff x="3429000" y="571500"/>
            <a:chExt cx="5334000" cy="1047900"/>
          </a:xfrm>
        </p:grpSpPr>
        <p:sp>
          <p:nvSpPr>
            <p:cNvPr id="76" name="Google Shape;76;p14"/>
            <p:cNvSpPr/>
            <p:nvPr/>
          </p:nvSpPr>
          <p:spPr>
            <a:xfrm>
              <a:off x="3429000" y="571500"/>
              <a:ext cx="5334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4095750" y="714375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Document Overload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Companies process thousands of daily invoices, claims, and contracts with no intelligent routing or adaptation per document type.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3429000" y="1809750"/>
            <a:ext cx="5334000" cy="1047900"/>
            <a:chOff x="3429000" y="1809750"/>
            <a:chExt cx="5334000" cy="1047900"/>
          </a:xfrm>
        </p:grpSpPr>
        <p:sp>
          <p:nvSpPr>
            <p:cNvPr id="80" name="Google Shape;80;p14"/>
            <p:cNvSpPr/>
            <p:nvPr/>
          </p:nvSpPr>
          <p:spPr>
            <a:xfrm>
              <a:off x="3429000" y="1809750"/>
              <a:ext cx="5334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4095750" y="1952625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 Memory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Lessons learned from one document are never applied to the next. The system remains permanently stuck at day-one performance.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3429000" y="3048000"/>
            <a:ext cx="5334000" cy="1047900"/>
            <a:chOff x="3429000" y="3048000"/>
            <a:chExt cx="5334000" cy="1047900"/>
          </a:xfrm>
        </p:grpSpPr>
        <p:sp>
          <p:nvSpPr>
            <p:cNvPr id="84" name="Google Shape;84;p14"/>
            <p:cNvSpPr/>
            <p:nvPr/>
          </p:nvSpPr>
          <p:spPr>
            <a:xfrm>
              <a:off x="3429000" y="3048000"/>
              <a:ext cx="5334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4095750" y="3190875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 Trust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AI extracts fields with no explanation or evidence, lacking a structured way for humans to verify or correct results.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7048500" y="4476750"/>
            <a:ext cx="1714500" cy="285900"/>
            <a:chOff x="7048500" y="4476750"/>
            <a:chExt cx="1714500" cy="285900"/>
          </a:xfrm>
        </p:grpSpPr>
        <p:sp>
          <p:nvSpPr>
            <p:cNvPr id="88" name="Google Shape;88;p14"/>
            <p:cNvSpPr/>
            <p:nvPr/>
          </p:nvSpPr>
          <p:spPr>
            <a:xfrm>
              <a:off x="7048500" y="4476750"/>
              <a:ext cx="1714500" cy="2859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7048500" y="4476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PROJECT ID: 25-26J-129</a:t>
              </a:r>
              <a:endParaRPr sz="9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048000" y="0"/>
            <a:ext cx="19200" cy="514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381000" y="381000"/>
            <a:ext cx="2286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We Built</a:t>
            </a:r>
            <a:endParaRPr sz="2400" b="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pipeline of 14 intelligent agents that learns from every document, explains every decision, and validates every output.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3429000" y="381000"/>
            <a:ext cx="5334000" cy="952500"/>
            <a:chOff x="3429000" y="381000"/>
            <a:chExt cx="5334000" cy="952500"/>
          </a:xfrm>
        </p:grpSpPr>
        <p:sp>
          <p:nvSpPr>
            <p:cNvPr id="98" name="Google Shape;98;p15"/>
            <p:cNvSpPr/>
            <p:nvPr/>
          </p:nvSpPr>
          <p:spPr>
            <a:xfrm>
              <a:off x="3429000" y="381000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4048125" y="47625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IDPO: Intelligent Document Processing Orchestrator</a:t>
              </a:r>
              <a:endParaRPr sz="1400" b="1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Central pipeline coordinator with 14+ specialist agents. Adaptive OCR, entity extraction, field-level recovery, and escalation.</a:t>
              </a:r>
              <a:endParaRPr sz="105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3429000" y="1524000"/>
            <a:ext cx="5334000" cy="952500"/>
            <a:chOff x="3429000" y="1524000"/>
            <a:chExt cx="5334000" cy="952500"/>
          </a:xfrm>
        </p:grpSpPr>
        <p:sp>
          <p:nvSpPr>
            <p:cNvPr id="102" name="Google Shape;102;p15"/>
            <p:cNvSpPr/>
            <p:nvPr/>
          </p:nvSpPr>
          <p:spPr>
            <a:xfrm>
              <a:off x="3429000" y="1524000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4048125" y="161925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AHMN: Adaptive Hierarchical Memory Network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Three-tier memory (Redis → PostgreSQL → pgvector). Thompson Sampling selects policy. RABI solves cold-start. DAAF handles drift.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3429000" y="2667000"/>
            <a:ext cx="5334000" cy="952500"/>
            <a:chOff x="3429000" y="2667000"/>
            <a:chExt cx="5334000" cy="952500"/>
          </a:xfrm>
        </p:grpSpPr>
        <p:sp>
          <p:nvSpPr>
            <p:cNvPr id="106" name="Google Shape;106;p15"/>
            <p:cNvSpPr/>
            <p:nvPr/>
          </p:nvSpPr>
          <p:spPr>
            <a:xfrm>
              <a:off x="3429000" y="2667000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4048125" y="276225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XAI-HITL: Human-Guided Explainable AI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BARTQA + LIME explanations + attention scores. Every extraction comes with traceable evidence. Human corrections feed back to loop.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3429000" y="3810000"/>
            <a:ext cx="5334000" cy="952500"/>
            <a:chOff x="3429000" y="3810000"/>
            <a:chExt cx="5334000" cy="952500"/>
          </a:xfrm>
        </p:grpSpPr>
        <p:sp>
          <p:nvSpPr>
            <p:cNvPr id="110" name="Google Shape;110;p15"/>
            <p:cNvSpPr/>
            <p:nvPr/>
          </p:nvSpPr>
          <p:spPr>
            <a:xfrm>
              <a:off x="3429000" y="3810000"/>
              <a:ext cx="5334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4048125" y="390525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Guardrails: Hallucination Detection &amp; Validation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Six-layer ensemble: schema adherence, internal consistency, relevance, domain rules, PII detection, and semantic faithfulness.</a:t>
              </a:r>
              <a:endParaRPr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381000" y="4476750"/>
            <a:ext cx="1714500" cy="285900"/>
            <a:chOff x="381000" y="4476750"/>
            <a:chExt cx="1714500" cy="285900"/>
          </a:xfrm>
        </p:grpSpPr>
        <p:sp>
          <p:nvSpPr>
            <p:cNvPr id="114" name="Google Shape;114;p15"/>
            <p:cNvSpPr/>
            <p:nvPr/>
          </p:nvSpPr>
          <p:spPr>
            <a:xfrm>
              <a:off x="381000" y="4476750"/>
              <a:ext cx="1714500" cy="2859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381000" y="4476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PROJECT ID: 25-26J-129</a:t>
              </a:r>
              <a:endParaRPr sz="9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1475" y="0"/>
            <a:ext cx="50010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7"/>
          <p:cNvGrpSpPr/>
          <p:nvPr/>
        </p:nvGrpSpPr>
        <p:grpSpPr>
          <a:xfrm>
            <a:off x="0" y="0"/>
            <a:ext cx="9144000" cy="771600"/>
            <a:chOff x="0" y="0"/>
            <a:chExt cx="9144000" cy="771600"/>
          </a:xfrm>
        </p:grpSpPr>
        <p:sp>
          <p:nvSpPr>
            <p:cNvPr id="127" name="Google Shape;127;p1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0" y="762000"/>
              <a:ext cx="9144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381000" y="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Adaptive </a:t>
              </a:r>
              <a:r>
                <a:rPr lang="en" sz="22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Hierarchical</a:t>
              </a:r>
              <a:r>
                <a:rPr lang="en" sz="2200" b="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M</a:t>
              </a:r>
              <a:r>
                <a:rPr lang="en" sz="22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emory Network</a:t>
              </a:r>
              <a:endParaRPr sz="2200" b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Dasanayake D.R.L. | IT22350800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7048500" y="238125"/>
              <a:ext cx="1714500" cy="2859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7048500" y="23812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PROJECT ID: 25-26J-129</a:t>
              </a:r>
              <a:endParaRPr sz="8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2" name="Google Shape;132;p17"/>
          <p:cNvGrpSpPr/>
          <p:nvPr/>
        </p:nvGrpSpPr>
        <p:grpSpPr>
          <a:xfrm>
            <a:off x="381000" y="952500"/>
            <a:ext cx="2667000" cy="4000500"/>
            <a:chOff x="381000" y="952500"/>
            <a:chExt cx="2667000" cy="4000500"/>
          </a:xfrm>
        </p:grpSpPr>
        <p:sp>
          <p:nvSpPr>
            <p:cNvPr id="133" name="Google Shape;133;p17"/>
            <p:cNvSpPr/>
            <p:nvPr/>
          </p:nvSpPr>
          <p:spPr>
            <a:xfrm>
              <a:off x="381000" y="952500"/>
              <a:ext cx="2667000" cy="4000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571500" y="11430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 b="1">
                  <a:solidFill>
                    <a:srgbClr val="0537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Adaptive Memory Network</a:t>
              </a:r>
              <a:endParaRPr sz="1190" b="1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5" name="Google Shape;135;p17"/>
            <p:cNvPicPr preferRelativeResize="0"/>
            <p:nvPr/>
          </p:nvPicPr>
          <p:blipFill rotWithShape="1">
            <a:blip r:embed="rId4">
              <a:alphaModFix/>
            </a:blip>
            <a:srcRect t="5799" b="5807"/>
            <a:stretch/>
          </p:blipFill>
          <p:spPr>
            <a:xfrm>
              <a:off x="1047750" y="1619250"/>
              <a:ext cx="1333500" cy="1333500"/>
            </a:xfrm>
            <a:prstGeom prst="ellipse">
              <a:avLst/>
            </a:prstGeom>
            <a:noFill/>
            <a:ln>
              <a:noFill/>
            </a:ln>
          </p:spPr>
        </p:pic>
        <p:grpSp>
          <p:nvGrpSpPr>
            <p:cNvPr id="136" name="Google Shape;136;p17"/>
            <p:cNvGrpSpPr/>
            <p:nvPr/>
          </p:nvGrpSpPr>
          <p:grpSpPr>
            <a:xfrm>
              <a:off x="571500" y="3143250"/>
              <a:ext cx="1047900" cy="666900"/>
              <a:chOff x="571500" y="3143250"/>
              <a:chExt cx="1047900" cy="666900"/>
            </a:xfrm>
          </p:grpSpPr>
          <p:sp>
            <p:nvSpPr>
              <p:cNvPr id="137" name="Google Shape;137;p17"/>
              <p:cNvSpPr/>
              <p:nvPr/>
            </p:nvSpPr>
            <p:spPr>
              <a:xfrm>
                <a:off x="571500" y="3143250"/>
                <a:ext cx="1047900" cy="666900"/>
              </a:xfrm>
              <a:prstGeom prst="roundRect">
                <a:avLst>
                  <a:gd name="adj" fmla="val 17142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571500" y="3143250"/>
                <a:ext cx="1047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40%</a:t>
                </a:r>
                <a:endParaRPr sz="1800" b="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Routing Acc.</a:t>
                </a:r>
                <a:endParaRPr sz="8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9" name="Google Shape;139;p17"/>
            <p:cNvGrpSpPr/>
            <p:nvPr/>
          </p:nvGrpSpPr>
          <p:grpSpPr>
            <a:xfrm>
              <a:off x="1809750" y="3143250"/>
              <a:ext cx="1047900" cy="666900"/>
              <a:chOff x="1809750" y="3143250"/>
              <a:chExt cx="1047900" cy="666900"/>
            </a:xfrm>
          </p:grpSpPr>
          <p:sp>
            <p:nvSpPr>
              <p:cNvPr id="140" name="Google Shape;140;p17"/>
              <p:cNvSpPr/>
              <p:nvPr/>
            </p:nvSpPr>
            <p:spPr>
              <a:xfrm>
                <a:off x="1809750" y="3143250"/>
                <a:ext cx="1047900" cy="666900"/>
              </a:xfrm>
              <a:prstGeom prst="roundRect">
                <a:avLst>
                  <a:gd name="adj" fmla="val 17142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1809750" y="3143250"/>
                <a:ext cx="1047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1.06s</a:t>
                </a:r>
                <a:endParaRPr sz="1800" b="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Avg. Latency</a:t>
                </a:r>
                <a:endParaRPr sz="8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2" name="Google Shape;142;p17"/>
          <p:cNvGrpSpPr/>
          <p:nvPr/>
        </p:nvGrpSpPr>
        <p:grpSpPr>
          <a:xfrm>
            <a:off x="3238500" y="952500"/>
            <a:ext cx="5524500" cy="2476500"/>
            <a:chOff x="3238500" y="952500"/>
            <a:chExt cx="5524500" cy="2476500"/>
          </a:xfrm>
        </p:grpSpPr>
        <p:grpSp>
          <p:nvGrpSpPr>
            <p:cNvPr id="143" name="Google Shape;143;p17"/>
            <p:cNvGrpSpPr/>
            <p:nvPr/>
          </p:nvGrpSpPr>
          <p:grpSpPr>
            <a:xfrm>
              <a:off x="3238500" y="952500"/>
              <a:ext cx="5524500" cy="762000"/>
              <a:chOff x="3238500" y="952500"/>
              <a:chExt cx="5524500" cy="762000"/>
            </a:xfrm>
          </p:grpSpPr>
          <p:sp>
            <p:nvSpPr>
              <p:cNvPr id="144" name="Google Shape;144;p17"/>
              <p:cNvSpPr/>
              <p:nvPr/>
            </p:nvSpPr>
            <p:spPr>
              <a:xfrm>
                <a:off x="3238500" y="952500"/>
                <a:ext cx="55245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7"/>
              <p:cNvSpPr txBox="1"/>
              <p:nvPr/>
            </p:nvSpPr>
            <p:spPr>
              <a:xfrm>
                <a:off x="3857625" y="1047750"/>
                <a:ext cx="476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Thompson Sampling</a:t>
                </a:r>
                <a:endParaRPr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Learns optimal processing strategies per document type automatically.</a:t>
                </a:r>
                <a:endParaRPr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7" name="Google Shape;147;p17"/>
            <p:cNvGrpSpPr/>
            <p:nvPr/>
          </p:nvGrpSpPr>
          <p:grpSpPr>
            <a:xfrm>
              <a:off x="3238500" y="1809750"/>
              <a:ext cx="5524500" cy="762000"/>
              <a:chOff x="3238500" y="1809750"/>
              <a:chExt cx="5524500" cy="762000"/>
            </a:xfrm>
          </p:grpSpPr>
          <p:sp>
            <p:nvSpPr>
              <p:cNvPr id="148" name="Google Shape;148;p17"/>
              <p:cNvSpPr/>
              <p:nvPr/>
            </p:nvSpPr>
            <p:spPr>
              <a:xfrm>
                <a:off x="3238500" y="1809750"/>
                <a:ext cx="55245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7"/>
              <p:cNvSpPr txBox="1"/>
              <p:nvPr/>
            </p:nvSpPr>
            <p:spPr>
              <a:xfrm>
                <a:off x="3857625" y="1905000"/>
                <a:ext cx="476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RABI</a:t>
                </a:r>
                <a:endParaRPr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Transfers knowledge to new document types (100 → 30 docs).</a:t>
                </a:r>
                <a:endParaRPr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3238500" y="2667000"/>
              <a:ext cx="5524500" cy="762000"/>
              <a:chOff x="3238500" y="2667000"/>
              <a:chExt cx="5524500" cy="7620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3238500" y="2667000"/>
                <a:ext cx="55245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3857625" y="2762250"/>
                <a:ext cx="476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DAAF</a:t>
                </a:r>
                <a:endParaRPr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Detects pattern shifts over time to maintain long-term accuracy.</a:t>
                </a:r>
                <a:endParaRPr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5" name="Google Shape;155;p17"/>
          <p:cNvGrpSpPr/>
          <p:nvPr/>
        </p:nvGrpSpPr>
        <p:grpSpPr>
          <a:xfrm>
            <a:off x="3238500" y="3714750"/>
            <a:ext cx="5524500" cy="1238400"/>
            <a:chOff x="3238500" y="3714750"/>
            <a:chExt cx="5524500" cy="1238400"/>
          </a:xfrm>
        </p:grpSpPr>
        <p:sp>
          <p:nvSpPr>
            <p:cNvPr id="156" name="Google Shape;156;p17"/>
            <p:cNvSpPr/>
            <p:nvPr/>
          </p:nvSpPr>
          <p:spPr>
            <a:xfrm>
              <a:off x="3238500" y="3714750"/>
              <a:ext cx="5524500" cy="1238400"/>
            </a:xfrm>
            <a:prstGeom prst="roundRect">
              <a:avLst>
                <a:gd name="adj" fmla="val 9230"/>
              </a:avLst>
            </a:prstGeom>
            <a:solidFill>
              <a:srgbClr val="F1F5F9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3429000" y="3857625"/>
              <a:ext cx="514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Experimental Performance Metrics</a:t>
              </a:r>
              <a:endParaRPr sz="11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75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Inter"/>
                <a:buChar char="●"/>
              </a:pP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Policy accuracy: Seen 45.5%, Near-Neighbor 50.0%, Cold-Start 0%, Overall 40%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750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Inter"/>
                <a:buChar char="●"/>
              </a:pP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RABI activation: 100% | Determinism: 100%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750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900"/>
                <a:buFont typeface="Inter"/>
                <a:buChar char="●"/>
              </a:pP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30 test cases across 3 regimes | Avg routing latency: 1.06s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8"/>
          <p:cNvGrpSpPr/>
          <p:nvPr/>
        </p:nvGrpSpPr>
        <p:grpSpPr>
          <a:xfrm>
            <a:off x="0" y="-62900"/>
            <a:ext cx="9144000" cy="834500"/>
            <a:chOff x="0" y="-62900"/>
            <a:chExt cx="9144000" cy="834500"/>
          </a:xfrm>
        </p:grpSpPr>
        <p:sp>
          <p:nvSpPr>
            <p:cNvPr id="163" name="Google Shape;163;p1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0" y="762000"/>
              <a:ext cx="9144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381000" y="-62900"/>
              <a:ext cx="5969700" cy="64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4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4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Intelligent Document Processing Orchestrator</a:t>
              </a:r>
              <a:endParaRPr sz="204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Nayanapriya S.A.T.</a:t>
              </a:r>
              <a:r>
                <a:rPr lang="en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| IT22892058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7048500" y="238125"/>
              <a:ext cx="1714500" cy="2859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7048500" y="238125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PROJECT ID: 25-26J-129</a:t>
              </a:r>
              <a:endParaRPr sz="8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8"/>
          <p:cNvGrpSpPr/>
          <p:nvPr/>
        </p:nvGrpSpPr>
        <p:grpSpPr>
          <a:xfrm>
            <a:off x="381000" y="952500"/>
            <a:ext cx="2667000" cy="4000500"/>
            <a:chOff x="381000" y="952500"/>
            <a:chExt cx="2667000" cy="4000500"/>
          </a:xfrm>
        </p:grpSpPr>
        <p:sp>
          <p:nvSpPr>
            <p:cNvPr id="169" name="Google Shape;169;p18"/>
            <p:cNvSpPr/>
            <p:nvPr/>
          </p:nvSpPr>
          <p:spPr>
            <a:xfrm>
              <a:off x="381000" y="952500"/>
              <a:ext cx="2667000" cy="4000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571500" y="11430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 b="1" dirty="0">
                  <a:solidFill>
                    <a:srgbClr val="0537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Intelligent Document Processing Orchestrator (IDPO)</a:t>
              </a:r>
              <a:endParaRPr sz="1190" b="1" dirty="0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571500" y="3143250"/>
              <a:ext cx="1047900" cy="666900"/>
            </a:xfrm>
            <a:prstGeom prst="roundRect">
              <a:avLst>
                <a:gd name="adj" fmla="val 17142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809750" y="3143250"/>
              <a:ext cx="1047900" cy="666900"/>
            </a:xfrm>
            <a:prstGeom prst="roundRect">
              <a:avLst>
                <a:gd name="adj" fmla="val 17142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891150" y="1633500"/>
            <a:ext cx="1485900" cy="1485900"/>
            <a:chOff x="781050" y="1971675"/>
            <a:chExt cx="1485900" cy="1485900"/>
          </a:xfrm>
        </p:grpSpPr>
        <p:pic>
          <p:nvPicPr>
            <p:cNvPr id="174" name="Google Shape;174;p18"/>
            <p:cNvPicPr preferRelativeResize="0"/>
            <p:nvPr/>
          </p:nvPicPr>
          <p:blipFill rotWithShape="1">
            <a:blip r:embed="rId4">
              <a:alphaModFix/>
            </a:blip>
            <a:srcRect l="1409" r="1419"/>
            <a:stretch/>
          </p:blipFill>
          <p:spPr>
            <a:xfrm>
              <a:off x="809625" y="2000250"/>
              <a:ext cx="1428900" cy="14289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75" name="Google Shape;175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1050" y="1971675"/>
              <a:ext cx="1485900" cy="1485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18"/>
          <p:cNvGrpSpPr/>
          <p:nvPr/>
        </p:nvGrpSpPr>
        <p:grpSpPr>
          <a:xfrm>
            <a:off x="380925" y="3119400"/>
            <a:ext cx="2667150" cy="762000"/>
            <a:chOff x="190500" y="3714750"/>
            <a:chExt cx="2667150" cy="762000"/>
          </a:xfrm>
        </p:grpSpPr>
        <p:sp>
          <p:nvSpPr>
            <p:cNvPr id="177" name="Google Shape;177;p18"/>
            <p:cNvSpPr/>
            <p:nvPr/>
          </p:nvSpPr>
          <p:spPr>
            <a:xfrm>
              <a:off x="190500" y="3714750"/>
              <a:ext cx="1238400" cy="7620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1619250" y="3714750"/>
              <a:ext cx="1238400" cy="7620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1619250" y="3714750"/>
              <a:ext cx="123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332ms</a:t>
              </a:r>
              <a:endParaRPr sz="2200" b="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Fastest Run</a:t>
              </a:r>
              <a:endParaRPr sz="9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320775" y="3714750"/>
              <a:ext cx="1108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70.6%</a:t>
              </a:r>
              <a:endParaRPr sz="2200" b="0">
                <a:solidFill>
                  <a:srgbClr val="3B82F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Success Rate</a:t>
              </a:r>
              <a:endParaRPr sz="9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3325900" y="859875"/>
            <a:ext cx="5524500" cy="952500"/>
            <a:chOff x="3333750" y="381000"/>
            <a:chExt cx="5524500" cy="952500"/>
          </a:xfrm>
        </p:grpSpPr>
        <p:sp>
          <p:nvSpPr>
            <p:cNvPr id="182" name="Google Shape;182;p18"/>
            <p:cNvSpPr/>
            <p:nvPr/>
          </p:nvSpPr>
          <p:spPr>
            <a:xfrm>
              <a:off x="3333750" y="381000"/>
              <a:ext cx="55245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3952875" y="3810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Hybrid Retrieval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BM25 keyword index combined with 256-d HashingEmbedder for precision recall.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5" name="Google Shape;185;p18"/>
          <p:cNvGrpSpPr/>
          <p:nvPr/>
        </p:nvGrpSpPr>
        <p:grpSpPr>
          <a:xfrm>
            <a:off x="3325900" y="1976400"/>
            <a:ext cx="5524500" cy="3048000"/>
            <a:chOff x="3333750" y="1524000"/>
            <a:chExt cx="5524500" cy="3048000"/>
          </a:xfrm>
        </p:grpSpPr>
        <p:sp>
          <p:nvSpPr>
            <p:cNvPr id="186" name="Google Shape;186;p18"/>
            <p:cNvSpPr/>
            <p:nvPr/>
          </p:nvSpPr>
          <p:spPr>
            <a:xfrm>
              <a:off x="3333750" y="1524000"/>
              <a:ext cx="5524500" cy="3048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3952875" y="1666875"/>
              <a:ext cx="4762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Extraction Modes</a:t>
              </a:r>
              <a:endParaRPr sz="15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Bulk, Per-field, and Chain-of-Thought (Qwen3) selected via policy recommendation.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17 documents processed across 12 pipeline runs</a:t>
              </a:r>
              <a:endParaRPr sz="105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Pipeline success rate: 70.6% (12/17)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Processing time: 332ms (fastest) to 42.0s (slowest)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Single-doc success: 87.5% (7/8 runs)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Batch processing: failures in 3+ doc runs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0" y="7620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Hallucination &amp; </a:t>
            </a:r>
            <a:r>
              <a:rPr lang="en" sz="2200" b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Guardrail Detection </a:t>
            </a:r>
            <a:endParaRPr sz="2200" b="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Wijetunga W.L.A.T. | </a:t>
            </a:r>
            <a:r>
              <a:rPr lang="en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IT22910936</a:t>
            </a:r>
            <a:endParaRPr sz="10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048500" y="238125"/>
            <a:ext cx="1714500" cy="285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048500" y="238125"/>
            <a:ext cx="1714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PROJECT ID: 25-26J-129</a:t>
            </a:r>
            <a:endParaRPr sz="800" b="1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81000" y="952500"/>
            <a:ext cx="2667000" cy="4000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9"/>
          <p:cNvGrpSpPr/>
          <p:nvPr/>
        </p:nvGrpSpPr>
        <p:grpSpPr>
          <a:xfrm>
            <a:off x="571500" y="1143000"/>
            <a:ext cx="2286000" cy="2762400"/>
            <a:chOff x="571500" y="1143000"/>
            <a:chExt cx="2286000" cy="2762400"/>
          </a:xfrm>
        </p:grpSpPr>
        <p:sp>
          <p:nvSpPr>
            <p:cNvPr id="200" name="Google Shape;200;p19"/>
            <p:cNvSpPr txBox="1"/>
            <p:nvPr/>
          </p:nvSpPr>
          <p:spPr>
            <a:xfrm>
              <a:off x="571500" y="11430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537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Hallucination Detection &amp; Output Validator</a:t>
              </a:r>
              <a:endParaRPr sz="1200" b="1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01" name="Google Shape;201;p19"/>
            <p:cNvPicPr preferRelativeResize="0"/>
            <p:nvPr/>
          </p:nvPicPr>
          <p:blipFill rotWithShape="1">
            <a:blip r:embed="rId4">
              <a:alphaModFix/>
            </a:blip>
            <a:srcRect t="552" b="21669"/>
            <a:stretch/>
          </p:blipFill>
          <p:spPr>
            <a:xfrm>
              <a:off x="1047750" y="1619250"/>
              <a:ext cx="1333500" cy="13335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02" name="Google Shape;202;p19"/>
            <p:cNvSpPr/>
            <p:nvPr/>
          </p:nvSpPr>
          <p:spPr>
            <a:xfrm>
              <a:off x="571500" y="3429000"/>
              <a:ext cx="2286000" cy="476400"/>
            </a:xfrm>
            <a:prstGeom prst="roundRect">
              <a:avLst>
                <a:gd name="adj" fmla="val 24000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571500" y="3429000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Verified</a:t>
              </a:r>
              <a:endParaRPr sz="1400" b="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Error isolation prevents pipeline blocks.</a:t>
              </a:r>
              <a:endParaRPr sz="800" b="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4" name="Google Shape;204;p19"/>
          <p:cNvGrpSpPr/>
          <p:nvPr/>
        </p:nvGrpSpPr>
        <p:grpSpPr>
          <a:xfrm>
            <a:off x="3238500" y="952500"/>
            <a:ext cx="5524500" cy="2762400"/>
            <a:chOff x="3238500" y="952500"/>
            <a:chExt cx="5524500" cy="2762400"/>
          </a:xfrm>
        </p:grpSpPr>
        <p:sp>
          <p:nvSpPr>
            <p:cNvPr id="205" name="Google Shape;205;p19"/>
            <p:cNvSpPr/>
            <p:nvPr/>
          </p:nvSpPr>
          <p:spPr>
            <a:xfrm>
              <a:off x="3238500" y="952500"/>
              <a:ext cx="5524500" cy="47640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3857625" y="9525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Schema Adherence </a:t>
              </a: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— Rigid Pydantic model checks.</a:t>
              </a:r>
              <a:endParaRPr sz="11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3238500" y="1524000"/>
              <a:ext cx="5524500" cy="47640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3857625" y="15240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Relevance </a:t>
              </a: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— Cosine similarity field-to-source.</a:t>
              </a:r>
              <a:endParaRPr sz="11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3238500" y="2095500"/>
              <a:ext cx="5524500" cy="47640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3857625" y="20955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Internal Consistency </a:t>
              </a: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— Financial formula validation.</a:t>
              </a:r>
              <a:endParaRPr sz="11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3238500" y="2667000"/>
              <a:ext cx="5524500" cy="47640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3857625" y="26670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PII Leakage </a:t>
              </a: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— Context-aware masking (Presidio).</a:t>
              </a:r>
              <a:endParaRPr sz="11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3238500" y="3238500"/>
              <a:ext cx="5524500" cy="47640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3857625" y="32385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Faithfulness </a:t>
              </a:r>
              <a:r>
                <a:rPr lang="en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— Weighted semantic grounding.</a:t>
              </a:r>
              <a:endParaRPr sz="11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0" name="Google Shape;220;p19"/>
          <p:cNvSpPr/>
          <p:nvPr/>
        </p:nvSpPr>
        <p:spPr>
          <a:xfrm>
            <a:off x="3238500" y="3905250"/>
            <a:ext cx="5524500" cy="104790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3381375" y="3952875"/>
            <a:ext cx="5238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Validation Results &amp; System Integrity</a:t>
            </a:r>
            <a:endParaRPr sz="1000" b="1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79400" algn="l" rtl="0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Inter"/>
              <a:buChar char="●"/>
            </a:pPr>
            <a:r>
              <a:rPr lang="en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Schema: 100%, Relevance: 87%, Consistency: 94%, Domain Rules: 91%, PII: 96%, Faithfulness: 89%</a:t>
            </a:r>
            <a:endParaRPr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794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Inter"/>
              <a:buChar char="●"/>
            </a:pPr>
            <a:r>
              <a:rPr lang="en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 document type schemas supported | Validation verified on live runs</a:t>
            </a:r>
            <a:endParaRPr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79400" algn="l" rtl="0">
              <a:spcBef>
                <a:spcPts val="15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Inter"/>
              <a:buChar char="●"/>
            </a:pPr>
            <a:r>
              <a:rPr lang="en" sz="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Error isolation confirmed: layer failures don't block others</a:t>
            </a:r>
            <a:endParaRPr sz="8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 animBg="1"/>
      <p:bldP spid="198" grpId="0" animBg="1"/>
      <p:bldP spid="220" grpId="0" animBg="1"/>
      <p:bldP spid="2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0" y="762000"/>
            <a:ext cx="9144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381000" y="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Explainable </a:t>
            </a:r>
            <a:r>
              <a:rPr lang="en" sz="2200" b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 &amp; H</a:t>
            </a:r>
            <a:r>
              <a:rPr lang="en" sz="22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uman In </a:t>
            </a:r>
            <a:r>
              <a:rPr lang="en" sz="2200" b="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Loop</a:t>
            </a:r>
            <a:endParaRPr sz="2200" b="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Pathirana M.M. |</a:t>
            </a:r>
            <a:r>
              <a:rPr lang="en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IT22335050</a:t>
            </a:r>
            <a:endParaRPr sz="1000" b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381000" y="952500"/>
            <a:ext cx="2667000" cy="4000500"/>
            <a:chOff x="381000" y="952500"/>
            <a:chExt cx="2667000" cy="4000500"/>
          </a:xfrm>
        </p:grpSpPr>
        <p:sp>
          <p:nvSpPr>
            <p:cNvPr id="230" name="Google Shape;230;p20"/>
            <p:cNvSpPr/>
            <p:nvPr/>
          </p:nvSpPr>
          <p:spPr>
            <a:xfrm>
              <a:off x="381000" y="952500"/>
              <a:ext cx="2667000" cy="4000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571500" y="11430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537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Explainable AI Feedback Loop</a:t>
              </a:r>
              <a:endParaRPr sz="1200" b="1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32" name="Google Shape;232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00125" y="1619250"/>
              <a:ext cx="1428900" cy="1428900"/>
            </a:xfrm>
            <a:prstGeom prst="ellipse">
              <a:avLst/>
            </a:prstGeom>
            <a:noFill/>
            <a:ln>
              <a:noFill/>
            </a:ln>
          </p:spPr>
        </p:pic>
        <p:grpSp>
          <p:nvGrpSpPr>
            <p:cNvPr id="233" name="Google Shape;233;p20"/>
            <p:cNvGrpSpPr/>
            <p:nvPr/>
          </p:nvGrpSpPr>
          <p:grpSpPr>
            <a:xfrm>
              <a:off x="571500" y="3190875"/>
              <a:ext cx="2286150" cy="666900"/>
              <a:chOff x="571500" y="3190875"/>
              <a:chExt cx="2286150" cy="666900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571500" y="3190875"/>
                <a:ext cx="1047900" cy="666900"/>
              </a:xfrm>
              <a:prstGeom prst="roundRect">
                <a:avLst>
                  <a:gd name="adj" fmla="val 17142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0"/>
              <p:cNvSpPr txBox="1"/>
              <p:nvPr/>
            </p:nvSpPr>
            <p:spPr>
              <a:xfrm>
                <a:off x="571500" y="3190875"/>
                <a:ext cx="1047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70%</a:t>
                </a:r>
                <a:endParaRPr sz="2000" b="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Q&amp;A Accuracy</a:t>
                </a:r>
                <a:endParaRPr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1809750" y="3190875"/>
                <a:ext cx="1047900" cy="666900"/>
              </a:xfrm>
              <a:prstGeom prst="roundRect">
                <a:avLst>
                  <a:gd name="adj" fmla="val 17142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0"/>
              <p:cNvSpPr txBox="1"/>
              <p:nvPr/>
            </p:nvSpPr>
            <p:spPr>
              <a:xfrm>
                <a:off x="1809750" y="3190875"/>
                <a:ext cx="1047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0">
                    <a:solidFill>
                      <a:srgbClr val="3B82F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100%</a:t>
                </a:r>
                <a:endParaRPr sz="2000" b="0">
                  <a:solidFill>
                    <a:srgbClr val="3B82F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Factual Accuracy</a:t>
                </a:r>
                <a:endParaRPr sz="8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38" name="Google Shape;238;p20"/>
            <p:cNvSpPr/>
            <p:nvPr/>
          </p:nvSpPr>
          <p:spPr>
            <a:xfrm>
              <a:off x="571500" y="4000500"/>
              <a:ext cx="2286000" cy="381000"/>
            </a:xfrm>
            <a:prstGeom prst="roundRect">
              <a:avLst>
                <a:gd name="adj" fmla="val 30000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571500" y="400050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Verified HITL Loop</a:t>
              </a:r>
              <a:endParaRPr sz="900" b="1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3238500" y="952500"/>
            <a:ext cx="5524500" cy="4000650"/>
            <a:chOff x="3238500" y="952500"/>
            <a:chExt cx="5524500" cy="4000650"/>
          </a:xfrm>
        </p:grpSpPr>
        <p:grpSp>
          <p:nvGrpSpPr>
            <p:cNvPr id="241" name="Google Shape;241;p20"/>
            <p:cNvGrpSpPr/>
            <p:nvPr/>
          </p:nvGrpSpPr>
          <p:grpSpPr>
            <a:xfrm>
              <a:off x="3238500" y="952500"/>
              <a:ext cx="5524500" cy="809700"/>
              <a:chOff x="3238500" y="952500"/>
              <a:chExt cx="5524500" cy="8097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3238500" y="952500"/>
                <a:ext cx="5524500" cy="809700"/>
              </a:xfrm>
              <a:prstGeom prst="roundRect">
                <a:avLst>
                  <a:gd name="adj" fmla="val 1882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0"/>
              <p:cNvSpPr txBox="1"/>
              <p:nvPr/>
            </p:nvSpPr>
            <p:spPr>
              <a:xfrm>
                <a:off x="3857625" y="952500"/>
                <a:ext cx="4762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BART Generative Q&amp;A</a:t>
                </a:r>
                <a:endParaRPr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Cross-attention character offset mapping for frontend highlighting.</a:t>
                </a:r>
                <a:endParaRPr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5" name="Google Shape;245;p20"/>
            <p:cNvGrpSpPr/>
            <p:nvPr/>
          </p:nvGrpSpPr>
          <p:grpSpPr>
            <a:xfrm>
              <a:off x="3238500" y="1857375"/>
              <a:ext cx="5524500" cy="809700"/>
              <a:chOff x="3238500" y="1857375"/>
              <a:chExt cx="5524500" cy="8097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3238500" y="1857375"/>
                <a:ext cx="5524500" cy="809700"/>
              </a:xfrm>
              <a:prstGeom prst="roundRect">
                <a:avLst>
                  <a:gd name="adj" fmla="val 1882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0"/>
              <p:cNvSpPr txBox="1"/>
              <p:nvPr/>
            </p:nvSpPr>
            <p:spPr>
              <a:xfrm>
                <a:off x="3857625" y="1857375"/>
                <a:ext cx="4762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LIME Mechanism</a:t>
                </a:r>
                <a:endParaRPr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Perturbation-based word importance scoring.</a:t>
                </a:r>
                <a:endParaRPr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9" name="Google Shape;249;p20"/>
            <p:cNvGrpSpPr/>
            <p:nvPr/>
          </p:nvGrpSpPr>
          <p:grpSpPr>
            <a:xfrm>
              <a:off x="3238500" y="2762250"/>
              <a:ext cx="5524500" cy="2190900"/>
              <a:chOff x="3238500" y="2762250"/>
              <a:chExt cx="5524500" cy="2190900"/>
            </a:xfrm>
          </p:grpSpPr>
          <p:sp>
            <p:nvSpPr>
              <p:cNvPr id="250" name="Google Shape;250;p20"/>
              <p:cNvSpPr/>
              <p:nvPr/>
            </p:nvSpPr>
            <p:spPr>
              <a:xfrm>
                <a:off x="3238500" y="2762250"/>
                <a:ext cx="5524500" cy="2190900"/>
              </a:xfrm>
              <a:prstGeom prst="roundRect">
                <a:avLst>
                  <a:gd name="adj" fmla="val 6956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0"/>
              <p:cNvSpPr txBox="1"/>
              <p:nvPr/>
            </p:nvSpPr>
            <p:spPr>
              <a:xfrm>
                <a:off x="3429000" y="2905125"/>
                <a:ext cx="5143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Detailed Evaluation Metrics</a:t>
                </a:r>
                <a:endParaRPr sz="11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2889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3B82F6"/>
                  </a:buClr>
                  <a:buSzPts val="950"/>
                  <a:buFont typeface="Inter"/>
                  <a:buChar char="●"/>
                </a:pPr>
                <a:r>
                  <a:rPr lang="en" sz="950" b="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Overall:</a:t>
                </a:r>
                <a:r>
                  <a:rPr lang="en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70% Q&amp;A Accuracy (21/30)</a:t>
                </a:r>
                <a:endParaRPr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288925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3B82F6"/>
                  </a:buClr>
                  <a:buSzPts val="950"/>
                  <a:buFont typeface="Inter"/>
                  <a:buChar char="●"/>
                </a:pPr>
                <a:r>
                  <a:rPr lang="en" sz="950" b="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Category Breakdown:</a:t>
                </a:r>
                <a:r>
                  <a:rPr lang="en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Numerical 46.2%, Yes/No 85.7%, Factual 100%, Synthesis 80%</a:t>
                </a:r>
                <a:endParaRPr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288925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3B82F6"/>
                  </a:buClr>
                  <a:buSzPts val="950"/>
                  <a:buFont typeface="Inter"/>
                  <a:buChar char="●"/>
                </a:pPr>
                <a:r>
                  <a:rPr lang="en" sz="950" b="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Reliability:</a:t>
                </a:r>
                <a:r>
                  <a:rPr lang="en" sz="9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85.7% Polarity Correctness | Unanswerable Detector triggered 6/30 (4 app.)</a:t>
                </a:r>
                <a:endParaRPr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288925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3B82F6"/>
                  </a:buClr>
                  <a:buSzPts val="950"/>
                  <a:buFont typeface="Inter"/>
                  <a:buChar char="●"/>
                </a:pPr>
                <a:r>
                  <a:rPr lang="en" sz="950" b="1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HITL feedback verified: correct → alpha+1 in AHMN posterior</a:t>
                </a:r>
                <a:endParaRPr sz="95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2" name="Google Shape;252;p20"/>
          <p:cNvGrpSpPr/>
          <p:nvPr/>
        </p:nvGrpSpPr>
        <p:grpSpPr>
          <a:xfrm>
            <a:off x="7048500" y="238125"/>
            <a:ext cx="1714500" cy="285900"/>
            <a:chOff x="7048500" y="238125"/>
            <a:chExt cx="1714500" cy="285900"/>
          </a:xfrm>
        </p:grpSpPr>
        <p:sp>
          <p:nvSpPr>
            <p:cNvPr id="253" name="Google Shape;253;p20"/>
            <p:cNvSpPr txBox="1"/>
            <p:nvPr/>
          </p:nvSpPr>
          <p:spPr>
            <a:xfrm>
              <a:off x="7048500" y="238125"/>
              <a:ext cx="1714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PROJECT ID: 25-26J-129</a:t>
              </a:r>
              <a:endParaRPr sz="8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7048500" y="238125"/>
              <a:ext cx="1714500" cy="285900"/>
            </a:xfrm>
            <a:prstGeom prst="roundRect">
              <a:avLst>
                <a:gd name="adj" fmla="val 49999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20"/>
          <p:cNvSpPr txBox="1"/>
          <p:nvPr/>
        </p:nvSpPr>
        <p:spPr>
          <a:xfrm>
            <a:off x="7048500" y="238125"/>
            <a:ext cx="1714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PROJECT ID: 25-26J-129</a:t>
            </a:r>
            <a:endParaRPr sz="800" b="1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69" y="4693444"/>
            <a:ext cx="827246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769" y="1121569"/>
            <a:ext cx="8272462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435769" y="435769"/>
            <a:ext cx="868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i="0" u="none" strike="noStrike" cap="none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rPr>
              <a:t>System Evaluation &amp; Metrics</a:t>
            </a:r>
            <a:endParaRPr sz="1100"/>
          </a:p>
        </p:txBody>
      </p:sp>
      <p:sp>
        <p:nvSpPr>
          <p:cNvPr id="264" name="Google Shape;264;p21"/>
          <p:cNvSpPr/>
          <p:nvPr/>
        </p:nvSpPr>
        <p:spPr>
          <a:xfrm>
            <a:off x="435769" y="907256"/>
            <a:ext cx="428700" cy="28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35769" y="3614738"/>
            <a:ext cx="8272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Feedback Loop Integration: Correct reviewer feedback successfully propagates to AHMN posterior (α+1).</a:t>
            </a:r>
            <a:endParaRPr sz="1100"/>
          </a:p>
        </p:txBody>
      </p:sp>
      <p:sp>
        <p:nvSpPr>
          <p:cNvPr id="266" name="Google Shape;266;p21"/>
          <p:cNvSpPr txBox="1"/>
          <p:nvPr/>
        </p:nvSpPr>
        <p:spPr>
          <a:xfrm>
            <a:off x="435769" y="4807744"/>
            <a:ext cx="14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67" name="Google Shape;267;p21"/>
          <p:cNvSpPr txBox="1"/>
          <p:nvPr/>
        </p:nvSpPr>
        <p:spPr>
          <a:xfrm>
            <a:off x="8229600" y="4807744"/>
            <a:ext cx="478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aphicFrame>
        <p:nvGraphicFramePr>
          <p:cNvPr id="268" name="Google Shape;268;p21"/>
          <p:cNvGraphicFramePr/>
          <p:nvPr/>
        </p:nvGraphicFramePr>
        <p:xfrm>
          <a:off x="435769" y="1193006"/>
          <a:ext cx="8272475" cy="2243150"/>
        </p:xfrm>
        <a:graphic>
          <a:graphicData uri="http://schemas.openxmlformats.org/drawingml/2006/table">
            <a:tbl>
              <a:tblPr firstRow="1" bandRow="1">
                <a:noFill/>
                <a:tableStyleId>{F62278D4-5407-40D9-9FE1-8803EC6E542A}</a:tableStyleId>
              </a:tblPr>
              <a:tblGrid>
                <a:gridCol w="182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 Domain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7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 Performance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7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Outcome Verified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37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Policy Routing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40% Routing Accuracy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Thompson Sampling Learnt State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Cold-Start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RABI Activation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Posteriors Transferred correctly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Orchestration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70.6% Pipeline Success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12/17 docs processed successfully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Validation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92.8% Layer Coverage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Guardrail Ensemble Integrity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Explainability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85.7% Polarity Accuracy </a:t>
                      </a:r>
                      <a:r>
                        <a:rPr lang="en" sz="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&amp; 70% Q &amp; A Accuracy 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XAI highlight consistency verified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System Health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Determinism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77 Test Cases Passed</a:t>
                      </a:r>
                      <a:endParaRPr sz="1100"/>
                    </a:p>
                  </a:txBody>
                  <a:tcPr marL="47625" marR="47625" marT="19050" marB="19050" anchor="ctr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9" name="Google Shape;269;p21"/>
          <p:cNvSpPr/>
          <p:nvPr/>
        </p:nvSpPr>
        <p:spPr>
          <a:xfrm>
            <a:off x="435769" y="1853803"/>
            <a:ext cx="182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262560" y="1853803"/>
            <a:ext cx="286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131445" y="1853803"/>
            <a:ext cx="3576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35769" y="2168128"/>
            <a:ext cx="182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2262560" y="2168128"/>
            <a:ext cx="286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131445" y="2168128"/>
            <a:ext cx="3576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35769" y="2482453"/>
            <a:ext cx="182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262560" y="2482453"/>
            <a:ext cx="286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131445" y="2482453"/>
            <a:ext cx="3576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35769" y="2796778"/>
            <a:ext cx="182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2262560" y="2796778"/>
            <a:ext cx="286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131445" y="2796778"/>
            <a:ext cx="3576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35769" y="3111103"/>
            <a:ext cx="182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2262560" y="3111103"/>
            <a:ext cx="286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5131445" y="3111103"/>
            <a:ext cx="3576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35769" y="3425428"/>
            <a:ext cx="182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262560" y="3425428"/>
            <a:ext cx="286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131445" y="3425428"/>
            <a:ext cx="3576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69" y="4693444"/>
            <a:ext cx="827246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435769" y="435769"/>
            <a:ext cx="868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i="0" u="none" strike="noStrike" cap="none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rPr>
              <a:t>Limitations </a:t>
            </a:r>
            <a:endParaRPr sz="1100"/>
          </a:p>
        </p:txBody>
      </p:sp>
      <p:sp>
        <p:nvSpPr>
          <p:cNvPr id="294" name="Google Shape;294;p22"/>
          <p:cNvSpPr/>
          <p:nvPr/>
        </p:nvSpPr>
        <p:spPr>
          <a:xfrm>
            <a:off x="435769" y="907256"/>
            <a:ext cx="428700" cy="28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35769" y="4807744"/>
            <a:ext cx="1221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96" name="Google Shape;296;p22"/>
          <p:cNvSpPr txBox="1"/>
          <p:nvPr/>
        </p:nvSpPr>
        <p:spPr>
          <a:xfrm>
            <a:off x="8229600" y="4807744"/>
            <a:ext cx="478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297" name="Google Shape;297;p22"/>
          <p:cNvGrpSpPr/>
          <p:nvPr/>
        </p:nvGrpSpPr>
        <p:grpSpPr>
          <a:xfrm>
            <a:off x="435769" y="1114425"/>
            <a:ext cx="8267775" cy="3029100"/>
            <a:chOff x="435769" y="1114425"/>
            <a:chExt cx="8267775" cy="3029100"/>
          </a:xfrm>
        </p:grpSpPr>
        <p:grpSp>
          <p:nvGrpSpPr>
            <p:cNvPr id="298" name="Google Shape;298;p22"/>
            <p:cNvGrpSpPr/>
            <p:nvPr/>
          </p:nvGrpSpPr>
          <p:grpSpPr>
            <a:xfrm>
              <a:off x="435769" y="1114425"/>
              <a:ext cx="4048200" cy="1428900"/>
              <a:chOff x="435769" y="1114425"/>
              <a:chExt cx="4048200" cy="1428900"/>
            </a:xfrm>
          </p:grpSpPr>
          <p:sp>
            <p:nvSpPr>
              <p:cNvPr id="299" name="Google Shape;299;p22"/>
              <p:cNvSpPr/>
              <p:nvPr/>
            </p:nvSpPr>
            <p:spPr>
              <a:xfrm>
                <a:off x="435769" y="1114425"/>
                <a:ext cx="40482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FEF2F2"/>
              </a:solidFill>
              <a:ln w="9525" cap="flat" cmpd="sng">
                <a:solidFill>
                  <a:srgbClr val="FE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2"/>
              <p:cNvSpPr txBox="1"/>
              <p:nvPr/>
            </p:nvSpPr>
            <p:spPr>
              <a:xfrm>
                <a:off x="840619" y="1537788"/>
                <a:ext cx="3238500" cy="626918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Seed Data</a:t>
                </a:r>
                <a:endParaRPr sz="1400" b="1" dirty="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0" dirty="0">
                    <a:solidFill>
                      <a:srgbClr val="991B1B"/>
                    </a:solidFill>
                    <a:latin typeface="Inter"/>
                    <a:ea typeface="Inter"/>
                    <a:cs typeface="Inter"/>
                    <a:sym typeface="Inter"/>
                  </a:rPr>
                  <a:t>Small LTM seed (21 entries) limits initial reach.</a:t>
                </a:r>
                <a:endParaRPr sz="1100" b="0" dirty="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2" name="Google Shape;302;p22"/>
            <p:cNvGrpSpPr/>
            <p:nvPr/>
          </p:nvGrpSpPr>
          <p:grpSpPr>
            <a:xfrm>
              <a:off x="4655344" y="1114425"/>
              <a:ext cx="4048200" cy="1428900"/>
              <a:chOff x="4655344" y="1114425"/>
              <a:chExt cx="4048200" cy="1428900"/>
            </a:xfrm>
          </p:grpSpPr>
          <p:sp>
            <p:nvSpPr>
              <p:cNvPr id="303" name="Google Shape;303;p22"/>
              <p:cNvSpPr/>
              <p:nvPr/>
            </p:nvSpPr>
            <p:spPr>
              <a:xfrm>
                <a:off x="4655344" y="1114425"/>
                <a:ext cx="40482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FEF2F2"/>
              </a:solidFill>
              <a:ln w="9525" cap="flat" cmpd="sng">
                <a:solidFill>
                  <a:srgbClr val="FE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2"/>
              <p:cNvSpPr txBox="1"/>
              <p:nvPr/>
            </p:nvSpPr>
            <p:spPr>
              <a:xfrm>
                <a:off x="5314950" y="1499688"/>
                <a:ext cx="3238500" cy="703118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PII Sensitivity</a:t>
                </a:r>
                <a:endParaRPr sz="1400" b="1" dirty="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0" dirty="0">
                    <a:solidFill>
                      <a:srgbClr val="991B1B"/>
                    </a:solidFill>
                    <a:latin typeface="Inter"/>
                    <a:ea typeface="Inter"/>
                    <a:cs typeface="Inter"/>
                    <a:sym typeface="Inter"/>
                  </a:rPr>
                  <a:t>Presidio underperforms on local Sri Lankan names.</a:t>
                </a:r>
                <a:endParaRPr sz="1100" b="0" dirty="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6" name="Google Shape;306;p22"/>
            <p:cNvGrpSpPr/>
            <p:nvPr/>
          </p:nvGrpSpPr>
          <p:grpSpPr>
            <a:xfrm>
              <a:off x="435769" y="2714625"/>
              <a:ext cx="4048200" cy="1428900"/>
              <a:chOff x="435769" y="2714625"/>
              <a:chExt cx="4048200" cy="1428900"/>
            </a:xfrm>
          </p:grpSpPr>
          <p:sp>
            <p:nvSpPr>
              <p:cNvPr id="307" name="Google Shape;307;p22"/>
              <p:cNvSpPr/>
              <p:nvPr/>
            </p:nvSpPr>
            <p:spPr>
              <a:xfrm>
                <a:off x="435769" y="2714625"/>
                <a:ext cx="40482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FEF2F2"/>
              </a:solidFill>
              <a:ln w="9525" cap="flat" cmpd="sng">
                <a:solidFill>
                  <a:srgbClr val="FE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2"/>
              <p:cNvSpPr txBox="1"/>
              <p:nvPr/>
            </p:nvSpPr>
            <p:spPr>
              <a:xfrm>
                <a:off x="864469" y="3153716"/>
                <a:ext cx="3238500" cy="550718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Synthesis Latency</a:t>
                </a:r>
                <a:endParaRPr sz="1400" b="1" dirty="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0" dirty="0">
                    <a:solidFill>
                      <a:srgbClr val="991B1B"/>
                    </a:solidFill>
                    <a:latin typeface="Inter"/>
                    <a:ea typeface="Inter"/>
                    <a:cs typeface="Inter"/>
                    <a:sym typeface="Inter"/>
                  </a:rPr>
                  <a:t>High processing time for full XAI (89.5s).</a:t>
                </a:r>
                <a:endParaRPr sz="1100" b="0" dirty="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0" name="Google Shape;310;p22"/>
            <p:cNvGrpSpPr/>
            <p:nvPr/>
          </p:nvGrpSpPr>
          <p:grpSpPr>
            <a:xfrm>
              <a:off x="4655344" y="2714625"/>
              <a:ext cx="4048200" cy="1428900"/>
              <a:chOff x="4655344" y="2714625"/>
              <a:chExt cx="4048200" cy="1428900"/>
            </a:xfrm>
          </p:grpSpPr>
          <p:sp>
            <p:nvSpPr>
              <p:cNvPr id="311" name="Google Shape;311;p22"/>
              <p:cNvSpPr/>
              <p:nvPr/>
            </p:nvSpPr>
            <p:spPr>
              <a:xfrm>
                <a:off x="4655344" y="2714625"/>
                <a:ext cx="40482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FEF2F2"/>
              </a:solidFill>
              <a:ln w="9525" cap="flat" cmpd="sng">
                <a:solidFill>
                  <a:srgbClr val="FEE2E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2"/>
              <p:cNvSpPr txBox="1"/>
              <p:nvPr/>
            </p:nvSpPr>
            <p:spPr>
              <a:xfrm>
                <a:off x="5314950" y="3195279"/>
                <a:ext cx="3238500" cy="467591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1" dirty="0">
                    <a:solidFill>
                      <a:srgbClr val="7F1D1D"/>
                    </a:solidFill>
                    <a:latin typeface="Inter"/>
                    <a:ea typeface="Inter"/>
                    <a:cs typeface="Inter"/>
                    <a:sym typeface="Inter"/>
                  </a:rPr>
                  <a:t>Batch Reliability</a:t>
                </a:r>
                <a:endParaRPr sz="1400" b="1" dirty="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0" dirty="0">
                    <a:solidFill>
                      <a:srgbClr val="991B1B"/>
                    </a:solidFill>
                    <a:latin typeface="Inter"/>
                    <a:ea typeface="Inter"/>
                    <a:cs typeface="Inter"/>
                    <a:sym typeface="Inter"/>
                  </a:rPr>
                  <a:t>Failure rates in high-concurrency 3+ doc runs.</a:t>
                </a:r>
                <a:endParaRPr sz="1100" b="0" dirty="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3"/>
          <p:cNvGrpSpPr/>
          <p:nvPr/>
        </p:nvGrpSpPr>
        <p:grpSpPr>
          <a:xfrm>
            <a:off x="435769" y="435769"/>
            <a:ext cx="8272500" cy="499988"/>
            <a:chOff x="435769" y="435769"/>
            <a:chExt cx="8272500" cy="499988"/>
          </a:xfrm>
        </p:grpSpPr>
        <p:sp>
          <p:nvSpPr>
            <p:cNvPr id="320" name="Google Shape;320;p23"/>
            <p:cNvSpPr txBox="1"/>
            <p:nvPr/>
          </p:nvSpPr>
          <p:spPr>
            <a:xfrm>
              <a:off x="435769" y="435769"/>
              <a:ext cx="827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>
                  <a:solidFill>
                    <a:srgbClr val="0537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Detailed Future Roadmap</a:t>
              </a:r>
              <a:endParaRPr sz="1900" b="1">
                <a:solidFill>
                  <a:srgbClr val="0537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435769" y="907256"/>
              <a:ext cx="428700" cy="285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23"/>
          <p:cNvGrpSpPr/>
          <p:nvPr/>
        </p:nvGrpSpPr>
        <p:grpSpPr>
          <a:xfrm>
            <a:off x="428625" y="1190625"/>
            <a:ext cx="4000500" cy="857400"/>
            <a:chOff x="428625" y="1190625"/>
            <a:chExt cx="4000500" cy="857400"/>
          </a:xfrm>
        </p:grpSpPr>
        <p:sp>
          <p:nvSpPr>
            <p:cNvPr id="323" name="Google Shape;323;p23"/>
            <p:cNvSpPr/>
            <p:nvPr/>
          </p:nvSpPr>
          <p:spPr>
            <a:xfrm>
              <a:off x="428625" y="1190625"/>
              <a:ext cx="4000500" cy="8574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1047750" y="119062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BART Fine-tuning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Fine-tune on Sri Lankan financial, legal, and clinical documents.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6" name="Google Shape;326;p23"/>
          <p:cNvGrpSpPr/>
          <p:nvPr/>
        </p:nvGrpSpPr>
        <p:grpSpPr>
          <a:xfrm>
            <a:off x="4714875" y="1190625"/>
            <a:ext cx="4000500" cy="857400"/>
            <a:chOff x="4714875" y="1190625"/>
            <a:chExt cx="4000500" cy="857400"/>
          </a:xfrm>
        </p:grpSpPr>
        <p:sp>
          <p:nvSpPr>
            <p:cNvPr id="327" name="Google Shape;327;p23"/>
            <p:cNvSpPr/>
            <p:nvPr/>
          </p:nvSpPr>
          <p:spPr>
            <a:xfrm>
              <a:off x="4714875" y="1190625"/>
              <a:ext cx="4000500" cy="8574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5334000" y="119062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LTM Seed Expansion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Expand from 21 to 100+ entries to significantly reduce policy bias.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0" name="Google Shape;330;p23"/>
          <p:cNvGrpSpPr/>
          <p:nvPr/>
        </p:nvGrpSpPr>
        <p:grpSpPr>
          <a:xfrm>
            <a:off x="428625" y="2238375"/>
            <a:ext cx="4000500" cy="857400"/>
            <a:chOff x="428625" y="2238375"/>
            <a:chExt cx="4000500" cy="857400"/>
          </a:xfrm>
        </p:grpSpPr>
        <p:sp>
          <p:nvSpPr>
            <p:cNvPr id="331" name="Google Shape;331;p23"/>
            <p:cNvSpPr/>
            <p:nvPr/>
          </p:nvSpPr>
          <p:spPr>
            <a:xfrm>
              <a:off x="428625" y="2238375"/>
              <a:ext cx="4000500" cy="8574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1047750" y="223837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DAAF Optimization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Implement per-document-type DAAF forgetting rates.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4" name="Google Shape;334;p23"/>
          <p:cNvGrpSpPr/>
          <p:nvPr/>
        </p:nvGrpSpPr>
        <p:grpSpPr>
          <a:xfrm>
            <a:off x="4714875" y="2238375"/>
            <a:ext cx="4000500" cy="857400"/>
            <a:chOff x="4714875" y="2238375"/>
            <a:chExt cx="4000500" cy="857400"/>
          </a:xfrm>
        </p:grpSpPr>
        <p:sp>
          <p:nvSpPr>
            <p:cNvPr id="335" name="Google Shape;335;p23"/>
            <p:cNvSpPr/>
            <p:nvPr/>
          </p:nvSpPr>
          <p:spPr>
            <a:xfrm>
              <a:off x="4714875" y="2238375"/>
              <a:ext cx="4000500" cy="8574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5334000" y="223837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NER Pipeline Integration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Replace entity placeholders with a live, production-grade NER pipeline.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8" name="Google Shape;338;p23"/>
          <p:cNvGrpSpPr/>
          <p:nvPr/>
        </p:nvGrpSpPr>
        <p:grpSpPr>
          <a:xfrm>
            <a:off x="428625" y="3286125"/>
            <a:ext cx="4000500" cy="857400"/>
            <a:chOff x="428625" y="3286125"/>
            <a:chExt cx="4000500" cy="857400"/>
          </a:xfrm>
        </p:grpSpPr>
        <p:sp>
          <p:nvSpPr>
            <p:cNvPr id="339" name="Google Shape;339;p23"/>
            <p:cNvSpPr/>
            <p:nvPr/>
          </p:nvSpPr>
          <p:spPr>
            <a:xfrm>
              <a:off x="428625" y="3286125"/>
              <a:ext cx="4000500" cy="8574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1047750" y="328612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Multi-modal Integration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 vision-language models directly into the IDPO framework.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2" name="Google Shape;342;p23"/>
          <p:cNvGrpSpPr/>
          <p:nvPr/>
        </p:nvGrpSpPr>
        <p:grpSpPr>
          <a:xfrm>
            <a:off x="4714875" y="3286125"/>
            <a:ext cx="4000500" cy="857400"/>
            <a:chOff x="4714875" y="3286125"/>
            <a:chExt cx="4000500" cy="857400"/>
          </a:xfrm>
        </p:grpSpPr>
        <p:sp>
          <p:nvSpPr>
            <p:cNvPr id="343" name="Google Shape;343;p23"/>
            <p:cNvSpPr/>
            <p:nvPr/>
          </p:nvSpPr>
          <p:spPr>
            <a:xfrm>
              <a:off x="4714875" y="3286125"/>
              <a:ext cx="4000500" cy="8574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3"/>
            <p:cNvSpPr txBox="1"/>
            <p:nvPr/>
          </p:nvSpPr>
          <p:spPr>
            <a:xfrm>
              <a:off x="5334000" y="328612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Advanced RABI Search</a:t>
              </a:r>
              <a:endParaRPr sz="13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Filtered pgvector nearest-neighbor search with domain exclusion.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6" name="Google Shape;346;p23"/>
          <p:cNvGrpSpPr/>
          <p:nvPr/>
        </p:nvGrpSpPr>
        <p:grpSpPr>
          <a:xfrm>
            <a:off x="428625" y="4333875"/>
            <a:ext cx="8286900" cy="381000"/>
            <a:chOff x="428625" y="4333875"/>
            <a:chExt cx="8286900" cy="381000"/>
          </a:xfrm>
        </p:grpSpPr>
        <p:sp>
          <p:nvSpPr>
            <p:cNvPr id="347" name="Google Shape;347;p23"/>
            <p:cNvSpPr/>
            <p:nvPr/>
          </p:nvSpPr>
          <p:spPr>
            <a:xfrm>
              <a:off x="428625" y="4333875"/>
              <a:ext cx="8286900" cy="381000"/>
            </a:xfrm>
            <a:prstGeom prst="roundRect">
              <a:avLst>
                <a:gd name="adj" fmla="val 20000"/>
              </a:avLst>
            </a:prstGeom>
            <a:solidFill>
              <a:srgbClr val="F1F5F9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3"/>
            <p:cNvSpPr txBox="1"/>
            <p:nvPr/>
          </p:nvSpPr>
          <p:spPr>
            <a:xfrm>
              <a:off x="571500" y="4333875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dirty="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Batch processing reliability improvements in IDPO</a:t>
              </a:r>
              <a:endParaRPr sz="1100" b="0" dirty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903</Words>
  <Application>Microsoft Office PowerPoint</Application>
  <PresentationFormat>On-screen Show (16:9)</PresentationFormat>
  <Paragraphs>146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WIJETUNGA W L A T it22910936</cp:lastModifiedBy>
  <cp:revision>2</cp:revision>
  <dcterms:modified xsi:type="dcterms:W3CDTF">2026-05-05T03:13:38Z</dcterms:modified>
</cp:coreProperties>
</file>