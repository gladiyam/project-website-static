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4"/>
  </p:sldMasterIdLst>
  <p:notesMasterIdLst>
    <p:notesMasterId r:id="rId35"/>
  </p:notesMasterIdLst>
  <p:handoutMasterIdLst>
    <p:handoutMasterId r:id="rId36"/>
  </p:handoutMasterIdLst>
  <p:sldIdLst>
    <p:sldId id="277" r:id="rId5"/>
    <p:sldId id="270" r:id="rId6"/>
    <p:sldId id="315" r:id="rId7"/>
    <p:sldId id="271" r:id="rId8"/>
    <p:sldId id="287" r:id="rId9"/>
    <p:sldId id="289" r:id="rId10"/>
    <p:sldId id="299" r:id="rId11"/>
    <p:sldId id="290" r:id="rId12"/>
    <p:sldId id="291" r:id="rId13"/>
    <p:sldId id="320" r:id="rId14"/>
    <p:sldId id="264" r:id="rId15"/>
    <p:sldId id="274" r:id="rId16"/>
    <p:sldId id="301" r:id="rId17"/>
    <p:sldId id="305" r:id="rId18"/>
    <p:sldId id="306" r:id="rId19"/>
    <p:sldId id="317" r:id="rId20"/>
    <p:sldId id="298" r:id="rId21"/>
    <p:sldId id="311" r:id="rId22"/>
    <p:sldId id="312" r:id="rId23"/>
    <p:sldId id="309" r:id="rId24"/>
    <p:sldId id="310" r:id="rId25"/>
    <p:sldId id="319" r:id="rId26"/>
    <p:sldId id="318" r:id="rId27"/>
    <p:sldId id="303" r:id="rId28"/>
    <p:sldId id="304" r:id="rId29"/>
    <p:sldId id="321" r:id="rId30"/>
    <p:sldId id="302" r:id="rId31"/>
    <p:sldId id="293" r:id="rId32"/>
    <p:sldId id="316" r:id="rId33"/>
    <p:sldId id="313" r:id="rId34"/>
  </p:sldIdLst>
  <p:sldSz cx="12192000" cy="6858000"/>
  <p:notesSz cx="6858000" cy="9144000"/>
  <p:defaultTextStyle>
    <a:defPPr>
      <a:defRPr lang="en-A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281919-85CD-4437-AB69-E7C2AEB2C9ED}" v="457" dt="2025-09-08T18:35:50.993"/>
    <p1510:client id="{74C8D035-9FC8-744E-8F8B-ADBAFDFA41D3}" v="1082" dt="2025-09-08T18:20:41.604"/>
    <p1510:client id="{9CF8BBC1-2264-4A23-A4F6-FC092F29EA83}" v="1477" dt="2025-09-19T16:43:26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2" autoAdjust="0"/>
    <p:restoredTop sz="94660"/>
  </p:normalViewPr>
  <p:slideViewPr>
    <p:cSldViewPr>
      <p:cViewPr varScale="1">
        <p:scale>
          <a:sx n="159" d="100"/>
          <a:sy n="159" d="100"/>
        </p:scale>
        <p:origin x="234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63EF0E-AD9A-442D-8016-13D1F77E95A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7F72E38-AD7D-41F1-8AF4-D0F2D636AD44}">
      <dgm:prSet/>
      <dgm:spPr/>
      <dgm:t>
        <a:bodyPr/>
        <a:lstStyle/>
        <a:p>
          <a:r>
            <a:rPr lang="en-US" b="1">
              <a:latin typeface="Rockwell" panose="02060603020205020403" pitchFamily="18" charset="0"/>
            </a:rPr>
            <a:t>Document Overload</a:t>
          </a:r>
          <a:r>
            <a:rPr lang="en-US">
              <a:latin typeface="Rockwell" panose="02060603020205020403" pitchFamily="18" charset="0"/>
            </a:rPr>
            <a:t>: Companies can't efficiently process thousands of documents</a:t>
          </a:r>
        </a:p>
      </dgm:t>
    </dgm:pt>
    <dgm:pt modelId="{115E6448-7481-4AC2-96E2-B327E51F6E6F}" type="parTrans" cxnId="{9483BCBE-26D1-4899-AACB-0073AB7F9DF3}">
      <dgm:prSet/>
      <dgm:spPr/>
      <dgm:t>
        <a:bodyPr/>
        <a:lstStyle/>
        <a:p>
          <a:endParaRPr lang="en-US"/>
        </a:p>
      </dgm:t>
    </dgm:pt>
    <dgm:pt modelId="{796B58F2-1670-4150-A4AD-C351C2DBCB4E}" type="sibTrans" cxnId="{9483BCBE-26D1-4899-AACB-0073AB7F9DF3}">
      <dgm:prSet/>
      <dgm:spPr/>
      <dgm:t>
        <a:bodyPr/>
        <a:lstStyle/>
        <a:p>
          <a:endParaRPr lang="en-US"/>
        </a:p>
      </dgm:t>
    </dgm:pt>
    <dgm:pt modelId="{F772538C-AC09-45A3-97CE-C9E4DD7B799A}">
      <dgm:prSet/>
      <dgm:spPr/>
      <dgm:t>
        <a:bodyPr/>
        <a:lstStyle/>
        <a:p>
          <a:r>
            <a:rPr lang="en-US" b="1">
              <a:latin typeface="Rockwell" panose="02060603020205020403" pitchFamily="18" charset="0"/>
            </a:rPr>
            <a:t>No Memory</a:t>
          </a:r>
          <a:r>
            <a:rPr lang="en-US">
              <a:latin typeface="Rockwell" panose="02060603020205020403" pitchFamily="18" charset="0"/>
            </a:rPr>
            <a:t>: Systems forget previous work and repeat everything</a:t>
          </a:r>
        </a:p>
      </dgm:t>
    </dgm:pt>
    <dgm:pt modelId="{40BE06F8-225E-491C-B776-2436B62EBB98}" type="parTrans" cxnId="{2FF0BEED-47C8-46DC-8AEE-CE8F0FCE8540}">
      <dgm:prSet/>
      <dgm:spPr/>
      <dgm:t>
        <a:bodyPr/>
        <a:lstStyle/>
        <a:p>
          <a:endParaRPr lang="en-US"/>
        </a:p>
      </dgm:t>
    </dgm:pt>
    <dgm:pt modelId="{2116510C-E353-4CF9-9BD9-74E24257E49F}" type="sibTrans" cxnId="{2FF0BEED-47C8-46DC-8AEE-CE8F0FCE8540}">
      <dgm:prSet/>
      <dgm:spPr/>
      <dgm:t>
        <a:bodyPr/>
        <a:lstStyle/>
        <a:p>
          <a:endParaRPr lang="en-US"/>
        </a:p>
      </dgm:t>
    </dgm:pt>
    <dgm:pt modelId="{A85C2250-8582-4E7D-AAFC-7430EF84AEAF}">
      <dgm:prSet/>
      <dgm:spPr/>
      <dgm:t>
        <a:bodyPr/>
        <a:lstStyle/>
        <a:p>
          <a:r>
            <a:rPr lang="en-US" b="1">
              <a:latin typeface="Rockwell" panose="02060603020205020403" pitchFamily="18" charset="0"/>
            </a:rPr>
            <a:t>Trust Issues</a:t>
          </a:r>
          <a:r>
            <a:rPr lang="en-US">
              <a:latin typeface="Rockwell" panose="02060603020205020403" pitchFamily="18" charset="0"/>
            </a:rPr>
            <a:t>: Users don't know if AI answers are correct</a:t>
          </a:r>
        </a:p>
      </dgm:t>
    </dgm:pt>
    <dgm:pt modelId="{40C4337E-769D-4DDB-BE41-B934873BC8FC}" type="parTrans" cxnId="{F9C3A5FF-23D5-49F1-BEA1-8FD597F1044B}">
      <dgm:prSet/>
      <dgm:spPr/>
      <dgm:t>
        <a:bodyPr/>
        <a:lstStyle/>
        <a:p>
          <a:endParaRPr lang="en-US"/>
        </a:p>
      </dgm:t>
    </dgm:pt>
    <dgm:pt modelId="{881C734E-A57C-42FE-B7BA-2720A9F28833}" type="sibTrans" cxnId="{F9C3A5FF-23D5-49F1-BEA1-8FD597F1044B}">
      <dgm:prSet/>
      <dgm:spPr/>
      <dgm:t>
        <a:bodyPr/>
        <a:lstStyle/>
        <a:p>
          <a:endParaRPr lang="en-US"/>
        </a:p>
      </dgm:t>
    </dgm:pt>
    <dgm:pt modelId="{DBDE26DE-660A-425E-82A6-9F38893C4E83}" type="pres">
      <dgm:prSet presAssocID="{EF63EF0E-AD9A-442D-8016-13D1F77E95A0}" presName="root" presStyleCnt="0">
        <dgm:presLayoutVars>
          <dgm:dir/>
          <dgm:resizeHandles val="exact"/>
        </dgm:presLayoutVars>
      </dgm:prSet>
      <dgm:spPr/>
    </dgm:pt>
    <dgm:pt modelId="{7B724EBE-7759-4AE7-BFE0-C0ED9D7910DE}" type="pres">
      <dgm:prSet presAssocID="{57F72E38-AD7D-41F1-8AF4-D0F2D636AD44}" presName="compNode" presStyleCnt="0"/>
      <dgm:spPr/>
    </dgm:pt>
    <dgm:pt modelId="{02D1B458-7126-49EA-9613-ACFCFE949AD4}" type="pres">
      <dgm:prSet presAssocID="{57F72E38-AD7D-41F1-8AF4-D0F2D636AD44}" presName="bgRect" presStyleLbl="bgShp" presStyleIdx="0" presStyleCnt="3"/>
      <dgm:spPr/>
    </dgm:pt>
    <dgm:pt modelId="{F8C658A4-70B6-49D8-BED3-BBCB12EDDFED}" type="pres">
      <dgm:prSet presAssocID="{57F72E38-AD7D-41F1-8AF4-D0F2D636AD4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7E09A6A-0478-4B42-B8B4-86A16453DC6C}" type="pres">
      <dgm:prSet presAssocID="{57F72E38-AD7D-41F1-8AF4-D0F2D636AD44}" presName="spaceRect" presStyleCnt="0"/>
      <dgm:spPr/>
    </dgm:pt>
    <dgm:pt modelId="{6BA9D41F-557D-4072-9E9E-06DCBEA1C500}" type="pres">
      <dgm:prSet presAssocID="{57F72E38-AD7D-41F1-8AF4-D0F2D636AD44}" presName="parTx" presStyleLbl="revTx" presStyleIdx="0" presStyleCnt="3">
        <dgm:presLayoutVars>
          <dgm:chMax val="0"/>
          <dgm:chPref val="0"/>
        </dgm:presLayoutVars>
      </dgm:prSet>
      <dgm:spPr/>
    </dgm:pt>
    <dgm:pt modelId="{0BAC8A30-5728-4AB9-9770-19A11EF0D3A2}" type="pres">
      <dgm:prSet presAssocID="{796B58F2-1670-4150-A4AD-C351C2DBCB4E}" presName="sibTrans" presStyleCnt="0"/>
      <dgm:spPr/>
    </dgm:pt>
    <dgm:pt modelId="{BF9588F7-C8BF-4B20-87B8-E2085E5E4291}" type="pres">
      <dgm:prSet presAssocID="{F772538C-AC09-45A3-97CE-C9E4DD7B799A}" presName="compNode" presStyleCnt="0"/>
      <dgm:spPr/>
    </dgm:pt>
    <dgm:pt modelId="{FCA272FA-83E8-4864-8872-B2C9E30ACD6F}" type="pres">
      <dgm:prSet presAssocID="{F772538C-AC09-45A3-97CE-C9E4DD7B799A}" presName="bgRect" presStyleLbl="bgShp" presStyleIdx="1" presStyleCnt="3"/>
      <dgm:spPr/>
    </dgm:pt>
    <dgm:pt modelId="{F3719D1C-5D5C-4C79-9EA4-26B328C85D6C}" type="pres">
      <dgm:prSet presAssocID="{F772538C-AC09-45A3-97CE-C9E4DD7B799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F1032120-C703-4861-AE4B-BD9848686370}" type="pres">
      <dgm:prSet presAssocID="{F772538C-AC09-45A3-97CE-C9E4DD7B799A}" presName="spaceRect" presStyleCnt="0"/>
      <dgm:spPr/>
    </dgm:pt>
    <dgm:pt modelId="{7A05F09F-97A7-494C-A656-D499968EC34A}" type="pres">
      <dgm:prSet presAssocID="{F772538C-AC09-45A3-97CE-C9E4DD7B799A}" presName="parTx" presStyleLbl="revTx" presStyleIdx="1" presStyleCnt="3">
        <dgm:presLayoutVars>
          <dgm:chMax val="0"/>
          <dgm:chPref val="0"/>
        </dgm:presLayoutVars>
      </dgm:prSet>
      <dgm:spPr/>
    </dgm:pt>
    <dgm:pt modelId="{64CB0AB7-4768-44DA-BD5F-6C90415117B0}" type="pres">
      <dgm:prSet presAssocID="{2116510C-E353-4CF9-9BD9-74E24257E49F}" presName="sibTrans" presStyleCnt="0"/>
      <dgm:spPr/>
    </dgm:pt>
    <dgm:pt modelId="{6D797754-18F1-4D27-B474-409F2AF08071}" type="pres">
      <dgm:prSet presAssocID="{A85C2250-8582-4E7D-AAFC-7430EF84AEAF}" presName="compNode" presStyleCnt="0"/>
      <dgm:spPr/>
    </dgm:pt>
    <dgm:pt modelId="{030E5CEE-2D6C-40A9-B737-D06AC4A2C4F2}" type="pres">
      <dgm:prSet presAssocID="{A85C2250-8582-4E7D-AAFC-7430EF84AEAF}" presName="bgRect" presStyleLbl="bgShp" presStyleIdx="2" presStyleCnt="3"/>
      <dgm:spPr/>
    </dgm:pt>
    <dgm:pt modelId="{C44C46F9-835E-41F4-A83B-447070F76345}" type="pres">
      <dgm:prSet presAssocID="{A85C2250-8582-4E7D-AAFC-7430EF84AEA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DEBD249-7472-4E45-8BA1-AFDDE1EC380A}" type="pres">
      <dgm:prSet presAssocID="{A85C2250-8582-4E7D-AAFC-7430EF84AEAF}" presName="spaceRect" presStyleCnt="0"/>
      <dgm:spPr/>
    </dgm:pt>
    <dgm:pt modelId="{CAF537FD-6C32-4153-A449-12D4A9823109}" type="pres">
      <dgm:prSet presAssocID="{A85C2250-8582-4E7D-AAFC-7430EF84AEA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E3F9525-116B-44E7-A95C-B3C6FC53CA49}" type="presOf" srcId="{F772538C-AC09-45A3-97CE-C9E4DD7B799A}" destId="{7A05F09F-97A7-494C-A656-D499968EC34A}" srcOrd="0" destOrd="0" presId="urn:microsoft.com/office/officeart/2018/2/layout/IconVerticalSolidList"/>
    <dgm:cxn modelId="{96C8884A-35BF-4798-958D-E72CAD5F06C7}" type="presOf" srcId="{EF63EF0E-AD9A-442D-8016-13D1F77E95A0}" destId="{DBDE26DE-660A-425E-82A6-9F38893C4E83}" srcOrd="0" destOrd="0" presId="urn:microsoft.com/office/officeart/2018/2/layout/IconVerticalSolidList"/>
    <dgm:cxn modelId="{D6FA4F50-31B3-4050-B5CE-005EA2F0F3BF}" type="presOf" srcId="{A85C2250-8582-4E7D-AAFC-7430EF84AEAF}" destId="{CAF537FD-6C32-4153-A449-12D4A9823109}" srcOrd="0" destOrd="0" presId="urn:microsoft.com/office/officeart/2018/2/layout/IconVerticalSolidList"/>
    <dgm:cxn modelId="{9483BCBE-26D1-4899-AACB-0073AB7F9DF3}" srcId="{EF63EF0E-AD9A-442D-8016-13D1F77E95A0}" destId="{57F72E38-AD7D-41F1-8AF4-D0F2D636AD44}" srcOrd="0" destOrd="0" parTransId="{115E6448-7481-4AC2-96E2-B327E51F6E6F}" sibTransId="{796B58F2-1670-4150-A4AD-C351C2DBCB4E}"/>
    <dgm:cxn modelId="{74FB3ADB-F2BF-4EAA-ACD9-4E3099C04606}" type="presOf" srcId="{57F72E38-AD7D-41F1-8AF4-D0F2D636AD44}" destId="{6BA9D41F-557D-4072-9E9E-06DCBEA1C500}" srcOrd="0" destOrd="0" presId="urn:microsoft.com/office/officeart/2018/2/layout/IconVerticalSolidList"/>
    <dgm:cxn modelId="{2FF0BEED-47C8-46DC-8AEE-CE8F0FCE8540}" srcId="{EF63EF0E-AD9A-442D-8016-13D1F77E95A0}" destId="{F772538C-AC09-45A3-97CE-C9E4DD7B799A}" srcOrd="1" destOrd="0" parTransId="{40BE06F8-225E-491C-B776-2436B62EBB98}" sibTransId="{2116510C-E353-4CF9-9BD9-74E24257E49F}"/>
    <dgm:cxn modelId="{F9C3A5FF-23D5-49F1-BEA1-8FD597F1044B}" srcId="{EF63EF0E-AD9A-442D-8016-13D1F77E95A0}" destId="{A85C2250-8582-4E7D-AAFC-7430EF84AEAF}" srcOrd="2" destOrd="0" parTransId="{40C4337E-769D-4DDB-BE41-B934873BC8FC}" sibTransId="{881C734E-A57C-42FE-B7BA-2720A9F28833}"/>
    <dgm:cxn modelId="{A7F59A23-15BD-4EFF-BA55-9F691A874286}" type="presParOf" srcId="{DBDE26DE-660A-425E-82A6-9F38893C4E83}" destId="{7B724EBE-7759-4AE7-BFE0-C0ED9D7910DE}" srcOrd="0" destOrd="0" presId="urn:microsoft.com/office/officeart/2018/2/layout/IconVerticalSolidList"/>
    <dgm:cxn modelId="{C7950B51-CFE8-4349-BF77-18A5C0A44B8F}" type="presParOf" srcId="{7B724EBE-7759-4AE7-BFE0-C0ED9D7910DE}" destId="{02D1B458-7126-49EA-9613-ACFCFE949AD4}" srcOrd="0" destOrd="0" presId="urn:microsoft.com/office/officeart/2018/2/layout/IconVerticalSolidList"/>
    <dgm:cxn modelId="{D21F5C06-F5C1-4A8F-967E-B84BD1324AD8}" type="presParOf" srcId="{7B724EBE-7759-4AE7-BFE0-C0ED9D7910DE}" destId="{F8C658A4-70B6-49D8-BED3-BBCB12EDDFED}" srcOrd="1" destOrd="0" presId="urn:microsoft.com/office/officeart/2018/2/layout/IconVerticalSolidList"/>
    <dgm:cxn modelId="{FA6FCF99-F4A4-4FCA-AF3C-4F3487F2FE1E}" type="presParOf" srcId="{7B724EBE-7759-4AE7-BFE0-C0ED9D7910DE}" destId="{C7E09A6A-0478-4B42-B8B4-86A16453DC6C}" srcOrd="2" destOrd="0" presId="urn:microsoft.com/office/officeart/2018/2/layout/IconVerticalSolidList"/>
    <dgm:cxn modelId="{7DFCB549-FE8C-4514-B049-5E0102792180}" type="presParOf" srcId="{7B724EBE-7759-4AE7-BFE0-C0ED9D7910DE}" destId="{6BA9D41F-557D-4072-9E9E-06DCBEA1C500}" srcOrd="3" destOrd="0" presId="urn:microsoft.com/office/officeart/2018/2/layout/IconVerticalSolidList"/>
    <dgm:cxn modelId="{BBD9165E-A233-4D2A-AEA3-74F1B7118D42}" type="presParOf" srcId="{DBDE26DE-660A-425E-82A6-9F38893C4E83}" destId="{0BAC8A30-5728-4AB9-9770-19A11EF0D3A2}" srcOrd="1" destOrd="0" presId="urn:microsoft.com/office/officeart/2018/2/layout/IconVerticalSolidList"/>
    <dgm:cxn modelId="{64209C8C-E4FB-4743-9159-C50A7B511825}" type="presParOf" srcId="{DBDE26DE-660A-425E-82A6-9F38893C4E83}" destId="{BF9588F7-C8BF-4B20-87B8-E2085E5E4291}" srcOrd="2" destOrd="0" presId="urn:microsoft.com/office/officeart/2018/2/layout/IconVerticalSolidList"/>
    <dgm:cxn modelId="{88702FC3-42DE-4E6A-9D55-AF77226E92A8}" type="presParOf" srcId="{BF9588F7-C8BF-4B20-87B8-E2085E5E4291}" destId="{FCA272FA-83E8-4864-8872-B2C9E30ACD6F}" srcOrd="0" destOrd="0" presId="urn:microsoft.com/office/officeart/2018/2/layout/IconVerticalSolidList"/>
    <dgm:cxn modelId="{A27470B4-1450-4E81-9047-EFE3D228C9B2}" type="presParOf" srcId="{BF9588F7-C8BF-4B20-87B8-E2085E5E4291}" destId="{F3719D1C-5D5C-4C79-9EA4-26B328C85D6C}" srcOrd="1" destOrd="0" presId="urn:microsoft.com/office/officeart/2018/2/layout/IconVerticalSolidList"/>
    <dgm:cxn modelId="{C9757EC7-4284-4F64-A66C-2FE981353673}" type="presParOf" srcId="{BF9588F7-C8BF-4B20-87B8-E2085E5E4291}" destId="{F1032120-C703-4861-AE4B-BD9848686370}" srcOrd="2" destOrd="0" presId="urn:microsoft.com/office/officeart/2018/2/layout/IconVerticalSolidList"/>
    <dgm:cxn modelId="{2F9DF8F2-82BE-4AC9-9FD7-C31902948AA2}" type="presParOf" srcId="{BF9588F7-C8BF-4B20-87B8-E2085E5E4291}" destId="{7A05F09F-97A7-494C-A656-D499968EC34A}" srcOrd="3" destOrd="0" presId="urn:microsoft.com/office/officeart/2018/2/layout/IconVerticalSolidList"/>
    <dgm:cxn modelId="{8161EEF1-CD59-4E50-8A2E-8CC2A37E6F5E}" type="presParOf" srcId="{DBDE26DE-660A-425E-82A6-9F38893C4E83}" destId="{64CB0AB7-4768-44DA-BD5F-6C90415117B0}" srcOrd="3" destOrd="0" presId="urn:microsoft.com/office/officeart/2018/2/layout/IconVerticalSolidList"/>
    <dgm:cxn modelId="{0EB82D2D-1577-4E36-BF7D-447ACBC6EEBF}" type="presParOf" srcId="{DBDE26DE-660A-425E-82A6-9F38893C4E83}" destId="{6D797754-18F1-4D27-B474-409F2AF08071}" srcOrd="4" destOrd="0" presId="urn:microsoft.com/office/officeart/2018/2/layout/IconVerticalSolidList"/>
    <dgm:cxn modelId="{6628274E-8946-4FD6-830A-D776C211F580}" type="presParOf" srcId="{6D797754-18F1-4D27-B474-409F2AF08071}" destId="{030E5CEE-2D6C-40A9-B737-D06AC4A2C4F2}" srcOrd="0" destOrd="0" presId="urn:microsoft.com/office/officeart/2018/2/layout/IconVerticalSolidList"/>
    <dgm:cxn modelId="{4AEBF1D7-97E2-40D8-92D7-9AC48B7AAAEE}" type="presParOf" srcId="{6D797754-18F1-4D27-B474-409F2AF08071}" destId="{C44C46F9-835E-41F4-A83B-447070F76345}" srcOrd="1" destOrd="0" presId="urn:microsoft.com/office/officeart/2018/2/layout/IconVerticalSolidList"/>
    <dgm:cxn modelId="{710E92E4-E183-4799-8B86-569F94AEC9FF}" type="presParOf" srcId="{6D797754-18F1-4D27-B474-409F2AF08071}" destId="{DDEBD249-7472-4E45-8BA1-AFDDE1EC380A}" srcOrd="2" destOrd="0" presId="urn:microsoft.com/office/officeart/2018/2/layout/IconVerticalSolidList"/>
    <dgm:cxn modelId="{13E629E8-A826-4E03-B4A0-850053ABA9F7}" type="presParOf" srcId="{6D797754-18F1-4D27-B474-409F2AF08071}" destId="{CAF537FD-6C32-4153-A449-12D4A982310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79E1EA-6010-48F6-9976-EB6422A91437}" type="doc">
      <dgm:prSet loTypeId="urn:microsoft.com/office/officeart/2005/8/layout/hierarchy1" loCatId="hierarchy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20F8C312-744D-45AB-B395-71E970AA3469}">
      <dgm:prSet/>
      <dgm:spPr/>
      <dgm:t>
        <a:bodyPr/>
        <a:lstStyle/>
        <a:p>
          <a:r>
            <a:rPr lang="en-US" b="1">
              <a:latin typeface="Rockwell" panose="02060603020205020403" pitchFamily="18" charset="0"/>
            </a:rPr>
            <a:t>What's Wrong Now:</a:t>
          </a:r>
          <a:br>
            <a:rPr lang="en-US" b="1">
              <a:latin typeface="Rockwell" panose="02060603020205020403" pitchFamily="18" charset="0"/>
            </a:rPr>
          </a:br>
          <a:r>
            <a:rPr lang="en-US">
              <a:latin typeface="Rockwell" panose="02060603020205020403" pitchFamily="18" charset="0"/>
            </a:rPr>
            <a:t>Systems waste time reprocessing same documents</a:t>
          </a:r>
          <a:br>
            <a:rPr lang="en-US">
              <a:latin typeface="Rockwell" panose="02060603020205020403" pitchFamily="18" charset="0"/>
            </a:rPr>
          </a:br>
          <a:r>
            <a:rPr lang="en-US">
              <a:latin typeface="Rockwell" panose="02060603020205020403" pitchFamily="18" charset="0"/>
            </a:rPr>
            <a:t>Can't combine different types of data properly</a:t>
          </a:r>
          <a:br>
            <a:rPr lang="en-US">
              <a:latin typeface="Rockwell" panose="02060603020205020403" pitchFamily="18" charset="0"/>
            </a:rPr>
          </a:br>
          <a:r>
            <a:rPr lang="en-US">
              <a:latin typeface="Rockwell" panose="02060603020205020403" pitchFamily="18" charset="0"/>
            </a:rPr>
            <a:t>Poor at detecting wrong answers</a:t>
          </a:r>
          <a:br>
            <a:rPr lang="en-US">
              <a:latin typeface="Rockwell" panose="02060603020205020403" pitchFamily="18" charset="0"/>
            </a:rPr>
          </a:br>
          <a:r>
            <a:rPr lang="en-US">
              <a:latin typeface="Rockwell" panose="02060603020205020403" pitchFamily="18" charset="0"/>
            </a:rPr>
            <a:t>No way for humans to improve the system</a:t>
          </a:r>
          <a:br>
            <a:rPr lang="en-US">
              <a:latin typeface="Rockwell" panose="02060603020205020403" pitchFamily="18" charset="0"/>
            </a:rPr>
          </a:br>
          <a:endParaRPr lang="en-US">
            <a:latin typeface="Rockwell" panose="02060603020205020403" pitchFamily="18" charset="0"/>
          </a:endParaRPr>
        </a:p>
      </dgm:t>
    </dgm:pt>
    <dgm:pt modelId="{B2690916-D20C-404C-AB58-C6DF914BC037}" type="parTrans" cxnId="{9AE0ED02-E2AA-48DA-AF1C-CCFE92AB74A1}">
      <dgm:prSet/>
      <dgm:spPr/>
      <dgm:t>
        <a:bodyPr/>
        <a:lstStyle/>
        <a:p>
          <a:endParaRPr lang="en-US"/>
        </a:p>
      </dgm:t>
    </dgm:pt>
    <dgm:pt modelId="{F3C74497-0DB2-4839-AF8D-1CB77607584C}" type="sibTrans" cxnId="{9AE0ED02-E2AA-48DA-AF1C-CCFE92AB74A1}">
      <dgm:prSet/>
      <dgm:spPr/>
      <dgm:t>
        <a:bodyPr/>
        <a:lstStyle/>
        <a:p>
          <a:endParaRPr lang="en-US"/>
        </a:p>
      </dgm:t>
    </dgm:pt>
    <dgm:pt modelId="{F396DE7B-ED0C-4035-8E9C-D0AB5D3E025B}">
      <dgm:prSet/>
      <dgm:spPr/>
      <dgm:t>
        <a:bodyPr/>
        <a:lstStyle/>
        <a:p>
          <a:r>
            <a:rPr lang="en-US" b="1">
              <a:latin typeface="Rockwell" panose="02060603020205020403" pitchFamily="18" charset="0"/>
            </a:rPr>
            <a:t>Our Solution:</a:t>
          </a:r>
          <a:br>
            <a:rPr lang="en-US" b="1">
              <a:latin typeface="Rockwell" panose="02060603020205020403" pitchFamily="18" charset="0"/>
            </a:rPr>
          </a:br>
          <a:r>
            <a:rPr lang="en-US">
              <a:latin typeface="Rockwell" panose="02060603020205020403" pitchFamily="18" charset="0"/>
            </a:rPr>
            <a:t>Smart memory that remembers important information</a:t>
          </a:r>
          <a:br>
            <a:rPr lang="en-US">
              <a:latin typeface="Rockwell" panose="02060603020205020403" pitchFamily="18" charset="0"/>
            </a:rPr>
          </a:br>
          <a:r>
            <a:rPr lang="en-US">
              <a:latin typeface="Rockwell" panose="02060603020205020403" pitchFamily="18" charset="0"/>
            </a:rPr>
            <a:t>Multiple AI agents working together</a:t>
          </a:r>
          <a:br>
            <a:rPr lang="en-US">
              <a:latin typeface="Rockwell" panose="02060603020205020403" pitchFamily="18" charset="0"/>
            </a:rPr>
          </a:br>
          <a:r>
            <a:rPr lang="en-US">
              <a:latin typeface="Rockwell" panose="02060603020205020403" pitchFamily="18" charset="0"/>
            </a:rPr>
            <a:t>Better error detection and safety checks</a:t>
          </a:r>
          <a:br>
            <a:rPr lang="en-US">
              <a:latin typeface="Rockwell" panose="02060603020205020403" pitchFamily="18" charset="0"/>
            </a:rPr>
          </a:br>
          <a:r>
            <a:rPr lang="en-US">
              <a:latin typeface="Rockwell" panose="02060603020205020403" pitchFamily="18" charset="0"/>
            </a:rPr>
            <a:t>Human feedback makes system smarter over time</a:t>
          </a:r>
        </a:p>
      </dgm:t>
    </dgm:pt>
    <dgm:pt modelId="{2D34A357-BDBD-4EA3-984D-CED9D6C4F58C}" type="parTrans" cxnId="{E892C59E-0B50-44E9-BBDE-6BD9F25FCD79}">
      <dgm:prSet/>
      <dgm:spPr/>
      <dgm:t>
        <a:bodyPr/>
        <a:lstStyle/>
        <a:p>
          <a:endParaRPr lang="en-US"/>
        </a:p>
      </dgm:t>
    </dgm:pt>
    <dgm:pt modelId="{98B912A4-C75C-4B64-911A-C53B880E7A7C}" type="sibTrans" cxnId="{E892C59E-0B50-44E9-BBDE-6BD9F25FCD79}">
      <dgm:prSet/>
      <dgm:spPr/>
      <dgm:t>
        <a:bodyPr/>
        <a:lstStyle/>
        <a:p>
          <a:endParaRPr lang="en-US"/>
        </a:p>
      </dgm:t>
    </dgm:pt>
    <dgm:pt modelId="{E8AD95F8-6758-49AE-A0AD-EE019C45D259}" type="pres">
      <dgm:prSet presAssocID="{9179E1EA-6010-48F6-9976-EB6422A9143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DCC4A38-CEA7-4336-B512-BC07F2EC02C4}" type="pres">
      <dgm:prSet presAssocID="{20F8C312-744D-45AB-B395-71E970AA3469}" presName="hierRoot1" presStyleCnt="0"/>
      <dgm:spPr/>
    </dgm:pt>
    <dgm:pt modelId="{8BDF665E-080B-4CFF-9866-607E44CD967F}" type="pres">
      <dgm:prSet presAssocID="{20F8C312-744D-45AB-B395-71E970AA3469}" presName="composite" presStyleCnt="0"/>
      <dgm:spPr/>
    </dgm:pt>
    <dgm:pt modelId="{FC4B6BDE-2376-41AA-8712-69DC677B605C}" type="pres">
      <dgm:prSet presAssocID="{20F8C312-744D-45AB-B395-71E970AA3469}" presName="background" presStyleLbl="node0" presStyleIdx="0" presStyleCnt="2"/>
      <dgm:spPr/>
    </dgm:pt>
    <dgm:pt modelId="{94A86079-F478-4378-B185-34128451310D}" type="pres">
      <dgm:prSet presAssocID="{20F8C312-744D-45AB-B395-71E970AA3469}" presName="text" presStyleLbl="fgAcc0" presStyleIdx="0" presStyleCnt="2">
        <dgm:presLayoutVars>
          <dgm:chPref val="3"/>
        </dgm:presLayoutVars>
      </dgm:prSet>
      <dgm:spPr/>
    </dgm:pt>
    <dgm:pt modelId="{3399EFE2-9B14-4E53-9FFE-F54DD107CD50}" type="pres">
      <dgm:prSet presAssocID="{20F8C312-744D-45AB-B395-71E970AA3469}" presName="hierChild2" presStyleCnt="0"/>
      <dgm:spPr/>
    </dgm:pt>
    <dgm:pt modelId="{A472460F-217A-40BC-A5A1-5DECF8BDA66B}" type="pres">
      <dgm:prSet presAssocID="{F396DE7B-ED0C-4035-8E9C-D0AB5D3E025B}" presName="hierRoot1" presStyleCnt="0"/>
      <dgm:spPr/>
    </dgm:pt>
    <dgm:pt modelId="{7BB7C1F6-1B6B-48FE-82CF-F604F64F5CF5}" type="pres">
      <dgm:prSet presAssocID="{F396DE7B-ED0C-4035-8E9C-D0AB5D3E025B}" presName="composite" presStyleCnt="0"/>
      <dgm:spPr/>
    </dgm:pt>
    <dgm:pt modelId="{E4047B73-A39F-4330-8B70-B6A633C23C02}" type="pres">
      <dgm:prSet presAssocID="{F396DE7B-ED0C-4035-8E9C-D0AB5D3E025B}" presName="background" presStyleLbl="node0" presStyleIdx="1" presStyleCnt="2"/>
      <dgm:spPr/>
    </dgm:pt>
    <dgm:pt modelId="{74A53594-00D8-4661-922A-3BCC842AEF36}" type="pres">
      <dgm:prSet presAssocID="{F396DE7B-ED0C-4035-8E9C-D0AB5D3E025B}" presName="text" presStyleLbl="fgAcc0" presStyleIdx="1" presStyleCnt="2">
        <dgm:presLayoutVars>
          <dgm:chPref val="3"/>
        </dgm:presLayoutVars>
      </dgm:prSet>
      <dgm:spPr/>
    </dgm:pt>
    <dgm:pt modelId="{9365C402-772F-413E-AB08-A7E8B646166D}" type="pres">
      <dgm:prSet presAssocID="{F396DE7B-ED0C-4035-8E9C-D0AB5D3E025B}" presName="hierChild2" presStyleCnt="0"/>
      <dgm:spPr/>
    </dgm:pt>
  </dgm:ptLst>
  <dgm:cxnLst>
    <dgm:cxn modelId="{9AE0ED02-E2AA-48DA-AF1C-CCFE92AB74A1}" srcId="{9179E1EA-6010-48F6-9976-EB6422A91437}" destId="{20F8C312-744D-45AB-B395-71E970AA3469}" srcOrd="0" destOrd="0" parTransId="{B2690916-D20C-404C-AB58-C6DF914BC037}" sibTransId="{F3C74497-0DB2-4839-AF8D-1CB77607584C}"/>
    <dgm:cxn modelId="{EBFCD231-D88F-4B6D-8590-5E5F282D86B5}" type="presOf" srcId="{9179E1EA-6010-48F6-9976-EB6422A91437}" destId="{E8AD95F8-6758-49AE-A0AD-EE019C45D259}" srcOrd="0" destOrd="0" presId="urn:microsoft.com/office/officeart/2005/8/layout/hierarchy1"/>
    <dgm:cxn modelId="{51B21B38-5FAC-4062-ABBF-41D47F6D6CEB}" type="presOf" srcId="{F396DE7B-ED0C-4035-8E9C-D0AB5D3E025B}" destId="{74A53594-00D8-4661-922A-3BCC842AEF36}" srcOrd="0" destOrd="0" presId="urn:microsoft.com/office/officeart/2005/8/layout/hierarchy1"/>
    <dgm:cxn modelId="{6DB8F04C-FBDD-41CC-957E-C1451EC5F980}" type="presOf" srcId="{20F8C312-744D-45AB-B395-71E970AA3469}" destId="{94A86079-F478-4378-B185-34128451310D}" srcOrd="0" destOrd="0" presId="urn:microsoft.com/office/officeart/2005/8/layout/hierarchy1"/>
    <dgm:cxn modelId="{E892C59E-0B50-44E9-BBDE-6BD9F25FCD79}" srcId="{9179E1EA-6010-48F6-9976-EB6422A91437}" destId="{F396DE7B-ED0C-4035-8E9C-D0AB5D3E025B}" srcOrd="1" destOrd="0" parTransId="{2D34A357-BDBD-4EA3-984D-CED9D6C4F58C}" sibTransId="{98B912A4-C75C-4B64-911A-C53B880E7A7C}"/>
    <dgm:cxn modelId="{12311304-D7FE-404A-B453-6266DC2E5846}" type="presParOf" srcId="{E8AD95F8-6758-49AE-A0AD-EE019C45D259}" destId="{BDCC4A38-CEA7-4336-B512-BC07F2EC02C4}" srcOrd="0" destOrd="0" presId="urn:microsoft.com/office/officeart/2005/8/layout/hierarchy1"/>
    <dgm:cxn modelId="{BB81C281-48BE-40ED-AA7F-A9C3D5F27BC9}" type="presParOf" srcId="{BDCC4A38-CEA7-4336-B512-BC07F2EC02C4}" destId="{8BDF665E-080B-4CFF-9866-607E44CD967F}" srcOrd="0" destOrd="0" presId="urn:microsoft.com/office/officeart/2005/8/layout/hierarchy1"/>
    <dgm:cxn modelId="{954EB8D4-5A90-4C52-A33D-68B1C22AD474}" type="presParOf" srcId="{8BDF665E-080B-4CFF-9866-607E44CD967F}" destId="{FC4B6BDE-2376-41AA-8712-69DC677B605C}" srcOrd="0" destOrd="0" presId="urn:microsoft.com/office/officeart/2005/8/layout/hierarchy1"/>
    <dgm:cxn modelId="{28A07DB5-17D0-4557-8564-02C5639328F7}" type="presParOf" srcId="{8BDF665E-080B-4CFF-9866-607E44CD967F}" destId="{94A86079-F478-4378-B185-34128451310D}" srcOrd="1" destOrd="0" presId="urn:microsoft.com/office/officeart/2005/8/layout/hierarchy1"/>
    <dgm:cxn modelId="{0D1E5BBB-8E13-4458-AF1B-DBBF01528C69}" type="presParOf" srcId="{BDCC4A38-CEA7-4336-B512-BC07F2EC02C4}" destId="{3399EFE2-9B14-4E53-9FFE-F54DD107CD50}" srcOrd="1" destOrd="0" presId="urn:microsoft.com/office/officeart/2005/8/layout/hierarchy1"/>
    <dgm:cxn modelId="{0E8D7CF2-991D-4F01-8F71-B933110F80B1}" type="presParOf" srcId="{E8AD95F8-6758-49AE-A0AD-EE019C45D259}" destId="{A472460F-217A-40BC-A5A1-5DECF8BDA66B}" srcOrd="1" destOrd="0" presId="urn:microsoft.com/office/officeart/2005/8/layout/hierarchy1"/>
    <dgm:cxn modelId="{EEDFD10E-993E-4DEE-8D8D-7D610A3A7DBE}" type="presParOf" srcId="{A472460F-217A-40BC-A5A1-5DECF8BDA66B}" destId="{7BB7C1F6-1B6B-48FE-82CF-F604F64F5CF5}" srcOrd="0" destOrd="0" presId="urn:microsoft.com/office/officeart/2005/8/layout/hierarchy1"/>
    <dgm:cxn modelId="{A6F5A851-46A2-4A27-84D8-E419115EA99B}" type="presParOf" srcId="{7BB7C1F6-1B6B-48FE-82CF-F604F64F5CF5}" destId="{E4047B73-A39F-4330-8B70-B6A633C23C02}" srcOrd="0" destOrd="0" presId="urn:microsoft.com/office/officeart/2005/8/layout/hierarchy1"/>
    <dgm:cxn modelId="{5ACDD84C-5790-4CC8-818B-B726A9127099}" type="presParOf" srcId="{7BB7C1F6-1B6B-48FE-82CF-F604F64F5CF5}" destId="{74A53594-00D8-4661-922A-3BCC842AEF36}" srcOrd="1" destOrd="0" presId="urn:microsoft.com/office/officeart/2005/8/layout/hierarchy1"/>
    <dgm:cxn modelId="{A6AED218-6E1C-4273-8741-E4E328FF4EBB}" type="presParOf" srcId="{A472460F-217A-40BC-A5A1-5DECF8BDA66B}" destId="{9365C402-772F-413E-AB08-A7E8B646166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1B458-7126-49EA-9613-ACFCFE949AD4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658A4-70B6-49D8-BED3-BBCB12EDDFED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9D41F-557D-4072-9E9E-06DCBEA1C500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Rockwell" panose="02060603020205020403" pitchFamily="18" charset="0"/>
            </a:rPr>
            <a:t>Document Overload</a:t>
          </a:r>
          <a:r>
            <a:rPr lang="en-US" sz="2500" kern="1200">
              <a:latin typeface="Rockwell" panose="02060603020205020403" pitchFamily="18" charset="0"/>
            </a:rPr>
            <a:t>: Companies can't efficiently process thousands of documents</a:t>
          </a:r>
        </a:p>
      </dsp:txBody>
      <dsp:txXfrm>
        <a:off x="1435590" y="531"/>
        <a:ext cx="9080009" cy="1242935"/>
      </dsp:txXfrm>
    </dsp:sp>
    <dsp:sp modelId="{FCA272FA-83E8-4864-8872-B2C9E30ACD6F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719D1C-5D5C-4C79-9EA4-26B328C85D6C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5F09F-97A7-494C-A656-D499968EC34A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Rockwell" panose="02060603020205020403" pitchFamily="18" charset="0"/>
            </a:rPr>
            <a:t>No Memory</a:t>
          </a:r>
          <a:r>
            <a:rPr lang="en-US" sz="2500" kern="1200">
              <a:latin typeface="Rockwell" panose="02060603020205020403" pitchFamily="18" charset="0"/>
            </a:rPr>
            <a:t>: Systems forget previous work and repeat everything</a:t>
          </a:r>
        </a:p>
      </dsp:txBody>
      <dsp:txXfrm>
        <a:off x="1435590" y="1554201"/>
        <a:ext cx="9080009" cy="1242935"/>
      </dsp:txXfrm>
    </dsp:sp>
    <dsp:sp modelId="{030E5CEE-2D6C-40A9-B737-D06AC4A2C4F2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C46F9-835E-41F4-A83B-447070F76345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537FD-6C32-4153-A449-12D4A9823109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Rockwell" panose="02060603020205020403" pitchFamily="18" charset="0"/>
            </a:rPr>
            <a:t>Trust Issues</a:t>
          </a:r>
          <a:r>
            <a:rPr lang="en-US" sz="2500" kern="1200">
              <a:latin typeface="Rockwell" panose="02060603020205020403" pitchFamily="18" charset="0"/>
            </a:rPr>
            <a:t>: Users don't know if AI answers are correct</a:t>
          </a:r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4B6BDE-2376-41AA-8712-69DC677B605C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4A86079-F478-4378-B185-34128451310D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Rockwell" panose="02060603020205020403" pitchFamily="18" charset="0"/>
            </a:rPr>
            <a:t>What's Wrong Now:</a:t>
          </a:r>
          <a:br>
            <a:rPr lang="en-US" sz="2000" b="1" kern="1200">
              <a:latin typeface="Rockwell" panose="02060603020205020403" pitchFamily="18" charset="0"/>
            </a:rPr>
          </a:br>
          <a:r>
            <a:rPr lang="en-US" sz="2000" kern="1200">
              <a:latin typeface="Rockwell" panose="02060603020205020403" pitchFamily="18" charset="0"/>
            </a:rPr>
            <a:t>Systems waste time reprocessing same documents</a:t>
          </a:r>
          <a:br>
            <a:rPr lang="en-US" sz="2000" kern="1200">
              <a:latin typeface="Rockwell" panose="02060603020205020403" pitchFamily="18" charset="0"/>
            </a:rPr>
          </a:br>
          <a:r>
            <a:rPr lang="en-US" sz="2000" kern="1200">
              <a:latin typeface="Rockwell" panose="02060603020205020403" pitchFamily="18" charset="0"/>
            </a:rPr>
            <a:t>Can't combine different types of data properly</a:t>
          </a:r>
          <a:br>
            <a:rPr lang="en-US" sz="2000" kern="1200">
              <a:latin typeface="Rockwell" panose="02060603020205020403" pitchFamily="18" charset="0"/>
            </a:rPr>
          </a:br>
          <a:r>
            <a:rPr lang="en-US" sz="2000" kern="1200">
              <a:latin typeface="Rockwell" panose="02060603020205020403" pitchFamily="18" charset="0"/>
            </a:rPr>
            <a:t>Poor at detecting wrong answers</a:t>
          </a:r>
          <a:br>
            <a:rPr lang="en-US" sz="2000" kern="1200">
              <a:latin typeface="Rockwell" panose="02060603020205020403" pitchFamily="18" charset="0"/>
            </a:rPr>
          </a:br>
          <a:r>
            <a:rPr lang="en-US" sz="2000" kern="1200">
              <a:latin typeface="Rockwell" panose="02060603020205020403" pitchFamily="18" charset="0"/>
            </a:rPr>
            <a:t>No way for humans to improve the system</a:t>
          </a:r>
          <a:br>
            <a:rPr lang="en-US" sz="2000" kern="1200">
              <a:latin typeface="Rockwell" panose="02060603020205020403" pitchFamily="18" charset="0"/>
            </a:rPr>
          </a:br>
          <a:endParaRPr lang="en-US" sz="2000" kern="1200">
            <a:latin typeface="Rockwell" panose="02060603020205020403" pitchFamily="18" charset="0"/>
          </a:endParaRPr>
        </a:p>
      </dsp:txBody>
      <dsp:txXfrm>
        <a:off x="585701" y="1066737"/>
        <a:ext cx="4337991" cy="2693452"/>
      </dsp:txXfrm>
    </dsp:sp>
    <dsp:sp modelId="{E4047B73-A39F-4330-8B70-B6A633C23C02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A53594-00D8-4661-922A-3BCC842AEF36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Rockwell" panose="02060603020205020403" pitchFamily="18" charset="0"/>
            </a:rPr>
            <a:t>Our Solution:</a:t>
          </a:r>
          <a:br>
            <a:rPr lang="en-US" sz="2000" b="1" kern="1200">
              <a:latin typeface="Rockwell" panose="02060603020205020403" pitchFamily="18" charset="0"/>
            </a:rPr>
          </a:br>
          <a:r>
            <a:rPr lang="en-US" sz="2000" kern="1200">
              <a:latin typeface="Rockwell" panose="02060603020205020403" pitchFamily="18" charset="0"/>
            </a:rPr>
            <a:t>Smart memory that remembers important information</a:t>
          </a:r>
          <a:br>
            <a:rPr lang="en-US" sz="2000" kern="1200">
              <a:latin typeface="Rockwell" panose="02060603020205020403" pitchFamily="18" charset="0"/>
            </a:rPr>
          </a:br>
          <a:r>
            <a:rPr lang="en-US" sz="2000" kern="1200">
              <a:latin typeface="Rockwell" panose="02060603020205020403" pitchFamily="18" charset="0"/>
            </a:rPr>
            <a:t>Multiple AI agents working together</a:t>
          </a:r>
          <a:br>
            <a:rPr lang="en-US" sz="2000" kern="1200">
              <a:latin typeface="Rockwell" panose="02060603020205020403" pitchFamily="18" charset="0"/>
            </a:rPr>
          </a:br>
          <a:r>
            <a:rPr lang="en-US" sz="2000" kern="1200">
              <a:latin typeface="Rockwell" panose="02060603020205020403" pitchFamily="18" charset="0"/>
            </a:rPr>
            <a:t>Better error detection and safety checks</a:t>
          </a:r>
          <a:br>
            <a:rPr lang="en-US" sz="2000" kern="1200">
              <a:latin typeface="Rockwell" panose="02060603020205020403" pitchFamily="18" charset="0"/>
            </a:rPr>
          </a:br>
          <a:r>
            <a:rPr lang="en-US" sz="2000" kern="1200">
              <a:latin typeface="Rockwell" panose="02060603020205020403" pitchFamily="18" charset="0"/>
            </a:rPr>
            <a:t>Human feedback makes system smarter over time</a:t>
          </a:r>
        </a:p>
      </dsp:txBody>
      <dsp:txXfrm>
        <a:off x="6092527" y="1066737"/>
        <a:ext cx="4337991" cy="2693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26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107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82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8A44-ACDE-3647-98F1-EA7659BB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87E34-F870-44B4-B0D0-9D88F348B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DE26F-7FF5-CC58-C3D2-1047FA7DA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5EFA-D25B-416B-9B71-AD4A53C15E4E}" type="datetimeFigureOut">
              <a:rPr lang="en-AS" smtClean="0"/>
              <a:t>9/19/2025</a:t>
            </a:fld>
            <a:endParaRPr lang="en-A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9F562-16D3-62C7-6AA6-DBD7869A8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AD2E1-9D20-89EC-7876-02C71B13F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27AD-5AD4-4816-A5BB-940555DBDC1A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744624787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A01F2-6300-72FB-A845-728A2C1C0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78F75-78BA-3654-94CD-067D85838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12E3F-DBB6-FB9C-FD22-71485D2D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5EFA-D25B-416B-9B71-AD4A53C15E4E}" type="datetimeFigureOut">
              <a:rPr lang="en-AS" smtClean="0"/>
              <a:t>9/19/2025</a:t>
            </a:fld>
            <a:endParaRPr lang="en-A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18EA5-1CCF-8903-EACC-FC8F6DE75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A31F9-442D-1F27-5303-19390A348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27AD-5AD4-4816-A5BB-940555DBDC1A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1155316628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4D59A-2B70-C207-99B3-0AC07CB33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17E9F-AF1C-95E9-2CD6-882A0CB8E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F363B-5F6E-159F-3055-69A5AC0E3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5EFA-D25B-416B-9B71-AD4A53C15E4E}" type="datetimeFigureOut">
              <a:rPr lang="en-AS" smtClean="0"/>
              <a:t>9/19/2025</a:t>
            </a:fld>
            <a:endParaRPr lang="en-A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F6B19-57A4-11FC-5A50-4607B6D67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50084-827D-83AE-7E9E-3FE18EC2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27AD-5AD4-4816-A5BB-940555DBDC1A}" type="slidenum">
              <a:rPr lang="en-AS" smtClean="0"/>
              <a:t>‹#›</a:t>
            </a:fld>
            <a:endParaRPr lang="en-A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53D96A-FEA5-576F-194F-519A8006D3E5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4215799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EB8E3-A7F5-133C-D8E1-86AC3A268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ECF8F-35FF-70ED-13F6-FC2A7D08A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56D0C-D46D-65CE-1386-C169CB8A3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1F62C-309E-F54E-23BF-2A94B890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5EFA-D25B-416B-9B71-AD4A53C15E4E}" type="datetimeFigureOut">
              <a:rPr lang="en-AS" smtClean="0"/>
              <a:t>9/19/2025</a:t>
            </a:fld>
            <a:endParaRPr lang="en-A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DF192-F485-E21D-CD3F-9117712D2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A8775-30ED-A65B-C814-C205C0D8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27AD-5AD4-4816-A5BB-940555DBDC1A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4118099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0F0CE-29C9-E9B8-89C1-4C6773A4C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12B2F-A40C-BC98-5841-224B3AF3E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4A3D17-B72B-73AB-1F90-1C6F72D4E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526C69-42A0-31CC-2FBE-26C5B73D6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23E36B-C7E4-8961-5F30-F0DCF1788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71281A-C879-DD79-C467-116AFD40C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5EFA-D25B-416B-9B71-AD4A53C15E4E}" type="datetimeFigureOut">
              <a:rPr lang="en-AS" smtClean="0"/>
              <a:t>9/19/2025</a:t>
            </a:fld>
            <a:endParaRPr lang="en-A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B3A0D-F166-3D6D-CC98-38986ED8D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C92F0-AC8A-4CFB-C9C5-8D99E779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27AD-5AD4-4816-A5BB-940555DBDC1A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3012180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44651-D188-EB6B-BF2E-AA025960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A1957B-4044-69B3-7776-732146FCB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5EFA-D25B-416B-9B71-AD4A53C15E4E}" type="datetimeFigureOut">
              <a:rPr lang="en-AS" smtClean="0"/>
              <a:t>9/19/2025</a:t>
            </a:fld>
            <a:endParaRPr lang="en-A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DAB706-C5DD-9E20-3FAA-91DB7CC67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8F809-0AAD-2026-EB2F-AAA073BF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27AD-5AD4-4816-A5BB-940555DBDC1A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1257346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D4EB2B-6E7B-BD85-1015-335413DE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5EFA-D25B-416B-9B71-AD4A53C15E4E}" type="datetimeFigureOut">
              <a:rPr lang="en-AS" smtClean="0"/>
              <a:t>9/19/2025</a:t>
            </a:fld>
            <a:endParaRPr lang="en-A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5A7DF-0230-9FD1-EC0F-4669DD300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1F1E8-1645-7852-375E-6EB01DB4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27AD-5AD4-4816-A5BB-940555DBDC1A}" type="slidenum">
              <a:rPr lang="en-AS" smtClean="0"/>
              <a:t>‹#›</a:t>
            </a:fld>
            <a:endParaRPr lang="en-AS"/>
          </a:p>
        </p:txBody>
      </p:sp>
      <p:sp>
        <p:nvSpPr>
          <p:cNvPr id="5" name="二等辺三角形 9">
            <a:extLst>
              <a:ext uri="{FF2B5EF4-FFF2-40B4-BE49-F238E27FC236}">
                <a16:creationId xmlns:a16="http://schemas.microsoft.com/office/drawing/2014/main" id="{3C9CC668-A7AF-AF5C-1FA5-5E767FCC761C}"/>
              </a:ext>
            </a:extLst>
          </p:cNvPr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6" name="二等辺三角形 10">
            <a:extLst>
              <a:ext uri="{FF2B5EF4-FFF2-40B4-BE49-F238E27FC236}">
                <a16:creationId xmlns:a16="http://schemas.microsoft.com/office/drawing/2014/main" id="{8FDDFFE9-2775-A3DF-FC67-C34C1353EACD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317172A-3771-8179-FD69-BDFA52F9808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045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846F8-2F99-01F9-7CF0-D74A12CC0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3FE28-4A8D-FB79-CB94-912274F20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2A2F00-107C-C8FF-4C95-6903CADBD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86885-2595-60B4-1F84-B904E8FCD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5EFA-D25B-416B-9B71-AD4A53C15E4E}" type="datetimeFigureOut">
              <a:rPr lang="en-AS" smtClean="0"/>
              <a:t>9/19/2025</a:t>
            </a:fld>
            <a:endParaRPr lang="en-A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FEE56-5B0B-8ACC-993D-EC9F4B19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54D19-D095-2A87-5B30-F78AC00A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27AD-5AD4-4816-A5BB-940555DBDC1A}" type="slidenum">
              <a:rPr lang="en-AS" smtClean="0"/>
              <a:t>‹#›</a:t>
            </a:fld>
            <a:endParaRPr lang="en-AS"/>
          </a:p>
        </p:txBody>
      </p:sp>
      <p:sp>
        <p:nvSpPr>
          <p:cNvPr id="8" name="二等辺三角形 11">
            <a:extLst>
              <a:ext uri="{FF2B5EF4-FFF2-40B4-BE49-F238E27FC236}">
                <a16:creationId xmlns:a16="http://schemas.microsoft.com/office/drawing/2014/main" id="{BAD27F44-330E-31F9-B6CC-52EAD444521C}"/>
              </a:ext>
            </a:extLst>
          </p:cNvPr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9" name="二等辺三角形 9">
            <a:extLst>
              <a:ext uri="{FF2B5EF4-FFF2-40B4-BE49-F238E27FC236}">
                <a16:creationId xmlns:a16="http://schemas.microsoft.com/office/drawing/2014/main" id="{E1FE4774-06E8-9966-8BE9-2E814B9A1BA6}"/>
              </a:ext>
            </a:extLst>
          </p:cNvPr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0" name="二等辺三角形 10">
            <a:extLst>
              <a:ext uri="{FF2B5EF4-FFF2-40B4-BE49-F238E27FC236}">
                <a16:creationId xmlns:a16="http://schemas.microsoft.com/office/drawing/2014/main" id="{83738C5F-ACCC-8781-7802-219EF432ED94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406410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6F8AB-EA34-2658-4253-DDAC97BD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B10A26-7DAE-D628-E5D0-98E64401A7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D234D-BFCD-1191-8450-345E44670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49B4B-E53B-4149-F082-93DBB79BC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5EFA-D25B-416B-9B71-AD4A53C15E4E}" type="datetimeFigureOut">
              <a:rPr lang="en-AS" smtClean="0"/>
              <a:t>9/19/2025</a:t>
            </a:fld>
            <a:endParaRPr lang="en-A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E2130-733E-CD4F-94A9-28830C645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7612A-FFBC-83F7-DA96-D865E93BF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27AD-5AD4-4816-A5BB-940555DBDC1A}" type="slidenum">
              <a:rPr lang="en-AS" smtClean="0"/>
              <a:t>‹#›</a:t>
            </a:fld>
            <a:endParaRPr lang="en-AS"/>
          </a:p>
        </p:txBody>
      </p:sp>
      <p:sp>
        <p:nvSpPr>
          <p:cNvPr id="8" name="二等辺三角形 10">
            <a:extLst>
              <a:ext uri="{FF2B5EF4-FFF2-40B4-BE49-F238E27FC236}">
                <a16:creationId xmlns:a16="http://schemas.microsoft.com/office/drawing/2014/main" id="{AA036AF6-6D6F-DA63-F271-A0E42D1D54AC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19538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01978-D016-61C2-6F60-C0D13C85D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A63BB9-F7F6-FBCE-1DDC-765D70DEE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924A9-1FEF-9390-F829-A3E94CC8E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5EFA-D25B-416B-9B71-AD4A53C15E4E}" type="datetimeFigureOut">
              <a:rPr lang="en-AS" smtClean="0"/>
              <a:t>9/19/2025</a:t>
            </a:fld>
            <a:endParaRPr lang="en-A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AC259-97FA-A345-A7C5-CEAE182A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5629A-5FD2-6BC4-B84A-7BA422C4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27AD-5AD4-4816-A5BB-940555DBDC1A}" type="slidenum">
              <a:rPr lang="en-AS" smtClean="0"/>
              <a:t>‹#›</a:t>
            </a:fld>
            <a:endParaRPr lang="en-AS"/>
          </a:p>
        </p:txBody>
      </p:sp>
      <p:sp>
        <p:nvSpPr>
          <p:cNvPr id="7" name="二等辺三角形 10">
            <a:extLst>
              <a:ext uri="{FF2B5EF4-FFF2-40B4-BE49-F238E27FC236}">
                <a16:creationId xmlns:a16="http://schemas.microsoft.com/office/drawing/2014/main" id="{20E7F89C-76A9-B6CD-2F59-B998DCA15F28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4129840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C82220-FA97-219C-E17A-0EF95B80C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B8F8E6-FBB0-5FCC-5ABA-C8FBA2C0C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2EC4F-67EF-BDC8-7A3F-DC7FAEAD4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5EFA-D25B-416B-9B71-AD4A53C15E4E}" type="datetimeFigureOut">
              <a:rPr lang="en-AS" smtClean="0"/>
              <a:t>9/19/2025</a:t>
            </a:fld>
            <a:endParaRPr lang="en-A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592F8-E1A1-EE00-A4D9-8B3490EBD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02598-0EED-7167-7EF2-D7A4BA6E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27AD-5AD4-4816-A5BB-940555DBDC1A}" type="slidenum">
              <a:rPr lang="en-AS" smtClean="0"/>
              <a:t>‹#›</a:t>
            </a:fld>
            <a:endParaRPr lang="en-AS"/>
          </a:p>
        </p:txBody>
      </p:sp>
      <p:sp>
        <p:nvSpPr>
          <p:cNvPr id="7" name="二等辺三角形 9">
            <a:extLst>
              <a:ext uri="{FF2B5EF4-FFF2-40B4-BE49-F238E27FC236}">
                <a16:creationId xmlns:a16="http://schemas.microsoft.com/office/drawing/2014/main" id="{E074FED5-C825-27F5-BCD6-A97B32D25E16}"/>
              </a:ext>
            </a:extLst>
          </p:cNvPr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8" name="二等辺三角形 10">
            <a:extLst>
              <a:ext uri="{FF2B5EF4-FFF2-40B4-BE49-F238E27FC236}">
                <a16:creationId xmlns:a16="http://schemas.microsoft.com/office/drawing/2014/main" id="{65C42DF7-D29E-6064-B9A6-9E86BA1E878A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4228177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994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D5A68D-B246-2FB3-EBB6-37C58565B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F2FE5-1642-0D5A-4C52-BD62F39AD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B1509-9B1C-C885-CC16-81E7FD7A8C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65EFA-D25B-416B-9B71-AD4A53C15E4E}" type="datetimeFigureOut">
              <a:rPr lang="en-AS" smtClean="0"/>
              <a:t>9/19/2025</a:t>
            </a:fld>
            <a:endParaRPr lang="en-A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80AA6-BD57-ACEF-93E2-879FF8DB8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84935-28D2-5BA2-8E2E-498FC8AED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327AD-5AD4-4816-A5BB-940555DBDC1A}" type="slidenum">
              <a:rPr lang="en-AS" smtClean="0"/>
              <a:t>‹#›</a:t>
            </a:fld>
            <a:endParaRPr lang="en-A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F1D78D-38C1-EC90-F320-4803A27D88D8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9D499AE0-7CAB-EEE0-F98D-364A704019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4DE9EE-D657-4629-7C64-4C62CD81618E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9/19/2025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363234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33694512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778-024-00864-x" TargetMode="External"/><Relationship Id="rId2" Type="http://schemas.openxmlformats.org/officeDocument/2006/relationships/hyperlink" Target="https://www.sciencedirect.com/science/article/pii/S1389041724000093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document/10849561" TargetMode="External"/><Relationship Id="rId4" Type="http://schemas.openxmlformats.org/officeDocument/2006/relationships/hyperlink" Target="https://python.langchain.com/docs/introduction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506.08726v1" TargetMode="External"/><Relationship Id="rId3" Type="http://schemas.openxmlformats.org/officeDocument/2006/relationships/hyperlink" Target="https://python.langchain.com/docs/introduction/" TargetMode="External"/><Relationship Id="rId7" Type="http://schemas.openxmlformats.org/officeDocument/2006/relationships/hyperlink" Target="https://doi.org/10.1145/3677052.3698686" TargetMode="External"/><Relationship Id="rId2" Type="http://schemas.openxmlformats.org/officeDocument/2006/relationships/hyperlink" Target="https://arxiv.org/abs/2502.1211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10849561" TargetMode="External"/><Relationship Id="rId5" Type="http://schemas.openxmlformats.org/officeDocument/2006/relationships/hyperlink" Target="https://link.springer.com/article/10.1007/s00778-024-00864-x" TargetMode="External"/><Relationship Id="rId10" Type="http://schemas.openxmlformats.org/officeDocument/2006/relationships/hyperlink" Target="https://link.springer.com/journal/10458/updates/25215240" TargetMode="External"/><Relationship Id="rId4" Type="http://schemas.openxmlformats.org/officeDocument/2006/relationships/hyperlink" Target="https://doi.org/10.1177/10547738241227699" TargetMode="External"/><Relationship Id="rId9" Type="http://schemas.openxmlformats.org/officeDocument/2006/relationships/hyperlink" Target="https://www.researchgate.net/publication/388835453_Explainable_AI_in_Multi-%20Agent_Systems_Advancing_Transparency_with_Layered_Prompting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75E098-F3D0-453C-BBF5-A7C840F21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397" y="769938"/>
            <a:ext cx="5256212" cy="1600200"/>
          </a:xfrm>
        </p:spPr>
        <p:txBody>
          <a:bodyPr anchor="b">
            <a:noAutofit/>
          </a:bodyPr>
          <a:lstStyle/>
          <a:p>
            <a:r>
              <a:rPr lang="en-US" sz="4200" dirty="0">
                <a:latin typeface="Rockwell" panose="02060603020205020403" pitchFamily="18" charset="0"/>
              </a:rPr>
              <a:t>Modular Multi Agent Document AI</a:t>
            </a:r>
          </a:p>
        </p:txBody>
      </p:sp>
      <p:pic>
        <p:nvPicPr>
          <p:cNvPr id="3" name="Picture 2" descr="A group of robots with laptops&#10;&#10;AI-generated content may be incorrect.">
            <a:extLst>
              <a:ext uri="{FF2B5EF4-FFF2-40B4-BE49-F238E27FC236}">
                <a16:creationId xmlns:a16="http://schemas.microsoft.com/office/drawing/2014/main" id="{0BAAF9B3-F856-55CF-9980-A5AB3822C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3" r="12668" b="-2"/>
          <a:stretch>
            <a:fillRect/>
          </a:stretch>
        </p:blipFill>
        <p:spPr>
          <a:xfrm>
            <a:off x="5617363" y="992187"/>
            <a:ext cx="6172200" cy="4873625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71000"/>
              </a:srgbClr>
            </a:outerShdw>
            <a:softEdge rad="228600"/>
          </a:effectLst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288F3F03-40A0-499D-BDCC-A8E886D9D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1397" y="2370138"/>
            <a:ext cx="3870359" cy="652908"/>
          </a:xfrm>
        </p:spPr>
        <p:txBody>
          <a:bodyPr>
            <a:normAutofit lnSpcReduction="10000"/>
          </a:bodyPr>
          <a:lstStyle/>
          <a:p>
            <a:r>
              <a:rPr lang="en-US" sz="4200">
                <a:latin typeface="Rockwell" panose="02060603020205020403" pitchFamily="18" charset="0"/>
              </a:rPr>
              <a:t>25-26J-129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11848BD8-711D-0D58-8219-77076E6F19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FC7C200-02D7-462C-9528-278B94152724}" type="datetime1">
              <a:rPr lang="en-US"/>
              <a:pPr>
                <a:spcAft>
                  <a:spcPts val="600"/>
                </a:spcAft>
              </a:pPr>
              <a:t>9/19/2025</a:t>
            </a:fld>
            <a:endParaRPr lang="en-A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628C9A5-1483-3B82-DE8C-06C73B2F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DB327AD-5AD4-4816-A5BB-940555DBDC1A}" type="slidenum">
              <a:rPr lang="en-AS" smtClean="0"/>
              <a:pPr>
                <a:spcAft>
                  <a:spcPts val="600"/>
                </a:spcAft>
              </a:pPr>
              <a:t>1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381388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FCB7-EC63-495B-9ED3-9E3A0892B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latin typeface="Rockwell" panose="02060603020205020403" pitchFamily="18" charset="0"/>
              </a:rPr>
              <a:t>Introduction to the Problem</a:t>
            </a:r>
          </a:p>
        </p:txBody>
      </p:sp>
      <p:sp>
        <p:nvSpPr>
          <p:cNvPr id="12" name="Date Placeholder 4" hidden="1">
            <a:extLst>
              <a:ext uri="{FF2B5EF4-FFF2-40B4-BE49-F238E27FC236}">
                <a16:creationId xmlns:a16="http://schemas.microsoft.com/office/drawing/2014/main" id="{095F7C8D-DE77-F1A8-5B56-0CEDA217F52C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3F0144C-9F36-44A3-B0A5-6F622361B526}" type="datetime1">
              <a:rPr lang="en-US" smtClean="0"/>
              <a:pPr>
                <a:spcAft>
                  <a:spcPts val="600"/>
                </a:spcAft>
              </a:pPr>
              <a:t>9/19/2025</a:t>
            </a:fld>
            <a:endParaRPr lang="en-AS"/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392D08E3-1CE0-5013-BC44-1EC2D4FB7B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DB327AD-5AD4-4816-A5BB-940555DBDC1A}" type="slidenum">
              <a:rPr lang="en-AS" smtClean="0"/>
              <a:pPr>
                <a:spcAft>
                  <a:spcPts val="600"/>
                </a:spcAft>
              </a:pPr>
              <a:t>2</a:t>
            </a:fld>
            <a:endParaRPr lang="en-AS"/>
          </a:p>
        </p:txBody>
      </p:sp>
      <p:graphicFrame>
        <p:nvGraphicFramePr>
          <p:cNvPr id="16" name="TextBox 6">
            <a:extLst>
              <a:ext uri="{FF2B5EF4-FFF2-40B4-BE49-F238E27FC236}">
                <a16:creationId xmlns:a16="http://schemas.microsoft.com/office/drawing/2014/main" id="{378C114E-FBDD-6C60-DDE6-8ABBD7EE8D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587637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095530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B66FF-C5AA-B576-C1C4-AD694EB0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3997DB1C-8FF6-7DED-13F1-8BD5F638BD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3F0144C-9F36-44A3-B0A5-6F622361B526}" type="datetime1">
              <a:rPr lang="en-US"/>
              <a:pPr>
                <a:spcAft>
                  <a:spcPts val="600"/>
                </a:spcAft>
              </a:pPr>
              <a:t>9/19/2025</a:t>
            </a:fld>
            <a:endParaRPr lang="en-A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4738277-2AFB-D59A-D130-201869D63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DB327AD-5AD4-4816-A5BB-940555DBDC1A}" type="slidenum">
              <a:rPr lang="en-AS" smtClean="0"/>
              <a:pPr>
                <a:spcAft>
                  <a:spcPts val="600"/>
                </a:spcAft>
              </a:pPr>
              <a:t>3</a:t>
            </a:fld>
            <a:endParaRPr lang="en-A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F1B68-52DF-BDEC-46D7-0268D16F1EE1}"/>
              </a:ext>
            </a:extLst>
          </p:cNvPr>
          <p:cNvSpPr txBox="1"/>
          <p:nvPr/>
        </p:nvSpPr>
        <p:spPr>
          <a:xfrm>
            <a:off x="838199" y="1825625"/>
            <a:ext cx="5366173" cy="2597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>
              <a:latin typeface="Rockwell" panose="02060603020205020403" pitchFamily="18" charset="0"/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093C4BE7-BE2A-5E37-F706-D651FC0694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300639"/>
              </p:ext>
            </p:extLst>
          </p:nvPr>
        </p:nvGraphicFramePr>
        <p:xfrm>
          <a:off x="838199" y="145986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274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5ABA39-3DC5-BD3B-BCDE-0D9C7C5AD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4108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>
                <a:latin typeface="Rockwell" panose="02060603020205020403" pitchFamily="18" charset="0"/>
              </a:rPr>
              <a:t>System Diagram</a:t>
            </a:r>
            <a:endParaRPr lang="en-AS">
              <a:latin typeface="Rockwell" panose="02060603020205020403" pitchFamily="18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0429AEB-8CC1-5CE5-041C-FFEC516E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A09ABBA-C813-440E-9B98-73655A0A9875}" type="datetime1">
              <a:rPr lang="en-US"/>
              <a:pPr>
                <a:spcAft>
                  <a:spcPts val="600"/>
                </a:spcAft>
              </a:pPr>
              <a:t>9/19/2025</a:t>
            </a:fld>
            <a:endParaRPr lang="en-AS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737A0066-1F82-0068-5511-F5BFE931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DB327AD-5AD4-4816-A5BB-940555DBDC1A}" type="slidenum">
              <a:rPr lang="en-AS" smtClean="0"/>
              <a:pPr>
                <a:spcAft>
                  <a:spcPts val="600"/>
                </a:spcAft>
              </a:pPr>
              <a:t>4</a:t>
            </a:fld>
            <a:endParaRPr lang="en-AS"/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54DC689C-5CE6-3352-AF63-622F6FF377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86" y="1785305"/>
            <a:ext cx="11575627" cy="289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10260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Devanagari"/>
              </a:rPr>
              <a:t>IT22892058 |  S A T </a:t>
            </a:r>
            <a:r>
              <a:rPr lang="en-US" dirty="0" err="1">
                <a:latin typeface="Adobe Devanagari"/>
              </a:rPr>
              <a:t>Nayanapriya</a:t>
            </a:r>
            <a:endParaRPr lang="en-US" b="0" dirty="0">
              <a:latin typeface="Adobe Devanagari"/>
            </a:endParaRP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BSc (Hons) in Information Technology Specializing in Data Science</a:t>
            </a:r>
          </a:p>
          <a:p>
            <a:endParaRPr lang="en-US" dirty="0"/>
          </a:p>
        </p:txBody>
      </p:sp>
      <p:pic>
        <p:nvPicPr>
          <p:cNvPr id="2" name="Picture 1" descr="A person in a suit&#10;&#10;AI-generated content may be incorrect.">
            <a:extLst>
              <a:ext uri="{FF2B5EF4-FFF2-40B4-BE49-F238E27FC236}">
                <a16:creationId xmlns:a16="http://schemas.microsoft.com/office/drawing/2014/main" id="{88EDD79C-F470-92DD-FC75-5868161FB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2382" y="138792"/>
            <a:ext cx="2404381" cy="231321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D937DB4-DC53-F420-7550-62140EC3E936}"/>
              </a:ext>
            </a:extLst>
          </p:cNvPr>
          <p:cNvSpPr/>
          <p:nvPr/>
        </p:nvSpPr>
        <p:spPr>
          <a:xfrm>
            <a:off x="2667000" y="6477000"/>
            <a:ext cx="5465583" cy="304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BAACE6-3A32-4B05-86B9-0627EA641BA0}"/>
              </a:ext>
            </a:extLst>
          </p:cNvPr>
          <p:cNvSpPr/>
          <p:nvPr/>
        </p:nvSpPr>
        <p:spPr>
          <a:xfrm>
            <a:off x="2819400" y="6446837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IT22982058</a:t>
            </a:r>
            <a:r>
              <a:rPr lang="en-US" sz="1800" dirty="0">
                <a:solidFill>
                  <a:schemeClr val="tx1"/>
                </a:solidFill>
              </a:rPr>
              <a:t>  |   S A T </a:t>
            </a:r>
            <a:r>
              <a:rPr lang="en-US" sz="1800">
                <a:solidFill>
                  <a:schemeClr val="tx1"/>
                </a:solidFill>
              </a:rPr>
              <a:t>NAYANAPRIYA</a:t>
            </a:r>
            <a:r>
              <a:rPr lang="en-US" sz="1800" dirty="0">
                <a:solidFill>
                  <a:schemeClr val="tx1"/>
                </a:solidFill>
              </a:rPr>
              <a:t> | </a:t>
            </a:r>
            <a:r>
              <a:rPr lang="en-US" dirty="0">
                <a:solidFill>
                  <a:schemeClr val="tx1"/>
                </a:solidFill>
                <a:latin typeface="Rockwell" panose="02060603020205020403" pitchFamily="18" charset="0"/>
              </a:rPr>
              <a:t>25-26J-129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68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6FBBB-4C77-4A4B-BE54-96D3B0DF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684000" cy="868362"/>
          </a:xfrm>
        </p:spPr>
        <p:txBody>
          <a:bodyPr>
            <a:normAutofit/>
          </a:bodyPr>
          <a:lstStyle/>
          <a:p>
            <a:r>
              <a:rPr lang="en-US"/>
              <a:t>Intelligent Document Processing Orchestration 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461F4-E6D8-4801-94AA-9B72FC99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018" y="1186774"/>
            <a:ext cx="10739335" cy="520429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Research Gap?</a:t>
            </a:r>
            <a:endParaRPr lang="en-US"/>
          </a:p>
          <a:p>
            <a:r>
              <a:rPr lang="en-US" sz="2200"/>
              <a:t>Current document AI pipelines use </a:t>
            </a:r>
            <a:r>
              <a:rPr lang="en-US" sz="2200" b="1"/>
              <a:t>static preprocessing flows</a:t>
            </a:r>
            <a:r>
              <a:rPr lang="en-US" sz="2200"/>
              <a:t> that do not adapt to document quality, layout, or complexity.</a:t>
            </a:r>
          </a:p>
          <a:p>
            <a:r>
              <a:rPr lang="en-US" sz="2200"/>
              <a:t>Existing fallback mechanisms are </a:t>
            </a:r>
            <a:r>
              <a:rPr lang="en-US" sz="2200" b="1"/>
              <a:t>document-level</a:t>
            </a:r>
            <a:r>
              <a:rPr lang="en-US" sz="2200"/>
              <a:t>, wasting compute and hiding which </a:t>
            </a:r>
            <a:r>
              <a:rPr lang="en-US" sz="2200" b="1"/>
              <a:t>fields</a:t>
            </a:r>
            <a:r>
              <a:rPr lang="en-US" sz="2200"/>
              <a:t> actually fail.</a:t>
            </a:r>
          </a:p>
          <a:p>
            <a:r>
              <a:rPr lang="en-US" sz="2200"/>
              <a:t>Lack of </a:t>
            </a:r>
            <a:r>
              <a:rPr lang="en-US" sz="2200" b="1"/>
              <a:t>counterfactual evaluation</a:t>
            </a:r>
            <a:r>
              <a:rPr lang="en-US" sz="2200"/>
              <a:t> means new preprocessing strategies can only be tested live, slowing research and risking instability.</a:t>
            </a:r>
          </a:p>
          <a:p>
            <a:pPr marL="0" indent="0">
              <a:buNone/>
            </a:pPr>
            <a:r>
              <a:rPr lang="en-US" b="1"/>
              <a:t>Solution?</a:t>
            </a:r>
            <a:endParaRPr lang="en-US"/>
          </a:p>
          <a:p>
            <a:r>
              <a:rPr lang="en-US" sz="2200"/>
              <a:t>IDPO reframes preprocessing and routing as </a:t>
            </a:r>
            <a:r>
              <a:rPr lang="en-US" sz="2200" b="1"/>
              <a:t>learnable policies</a:t>
            </a:r>
            <a:r>
              <a:rPr lang="en-US" sz="2200"/>
              <a:t>, selecting optimal pipelines based on document context.</a:t>
            </a:r>
          </a:p>
          <a:p>
            <a:r>
              <a:rPr lang="en-US" sz="2200" b="1"/>
              <a:t>Field-level recovery and escalation</a:t>
            </a:r>
            <a:r>
              <a:rPr lang="en-US" sz="2200"/>
              <a:t> ensures only uncertain fields are retried or escalated, not entire documents.</a:t>
            </a:r>
          </a:p>
          <a:p>
            <a:r>
              <a:rPr lang="en-US" sz="2200" b="1"/>
              <a:t>Offline evaluation with IPS/DR estimators</a:t>
            </a:r>
            <a:r>
              <a:rPr lang="en-US" sz="2200"/>
              <a:t> enables safe comparison of new preprocessing policies before deployment.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DBF228-4B29-4775-AE86-C4CEA3B1156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IT22982058</a:t>
            </a:r>
            <a:r>
              <a:rPr lang="en-US" sz="1800" dirty="0">
                <a:solidFill>
                  <a:schemeClr val="tx1"/>
                </a:solidFill>
              </a:rPr>
              <a:t>  |   S A T </a:t>
            </a:r>
            <a:r>
              <a:rPr lang="en-US">
                <a:solidFill>
                  <a:schemeClr val="tx1"/>
                </a:solidFill>
              </a:rPr>
              <a:t>NAYANAPRIYA</a:t>
            </a:r>
            <a:r>
              <a:rPr lang="en-US" sz="1800" dirty="0">
                <a:solidFill>
                  <a:schemeClr val="tx1"/>
                </a:solidFill>
              </a:rPr>
              <a:t> | </a:t>
            </a:r>
            <a:r>
              <a:rPr lang="en-US" dirty="0">
                <a:solidFill>
                  <a:schemeClr val="tx1"/>
                </a:solidFill>
                <a:latin typeface="Rockwell" panose="02060603020205020403" pitchFamily="18" charset="0"/>
              </a:rPr>
              <a:t>25-26J-129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61296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A7DEA-0B7B-4251-C9B4-BA6F3FCD4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F68A03-39A0-D7B4-B2F8-70C9EC55C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684000" cy="868362"/>
          </a:xfrm>
        </p:spPr>
        <p:txBody>
          <a:bodyPr>
            <a:normAutofit/>
          </a:bodyPr>
          <a:lstStyle/>
          <a:p>
            <a:r>
              <a:rPr lang="en-US"/>
              <a:t>Intelligent Document Processing Orchestration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E9AEC7-3534-96F2-DB08-C64EF6082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6962"/>
            <a:ext cx="10515600" cy="50800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Main Objective</a:t>
            </a:r>
            <a:endParaRPr lang="en-US"/>
          </a:p>
          <a:p>
            <a:r>
              <a:rPr lang="en-US" sz="2400"/>
              <a:t>Build an intelligent orchestration and preprocessing framework for scalable document intelligence</a:t>
            </a:r>
          </a:p>
          <a:p>
            <a:pPr marL="0" indent="0">
              <a:buNone/>
            </a:pPr>
            <a:r>
              <a:rPr lang="en-US" b="1"/>
              <a:t>Sub-Objectives</a:t>
            </a:r>
            <a:endParaRPr lang="en-US"/>
          </a:p>
          <a:p>
            <a:r>
              <a:rPr lang="en-US" sz="2400"/>
              <a:t>Design workflows that adapt to document complexity</a:t>
            </a:r>
          </a:p>
          <a:p>
            <a:r>
              <a:rPr lang="en-US" sz="2400"/>
              <a:t>Create specialized preprocessing paths for different document types</a:t>
            </a:r>
          </a:p>
          <a:p>
            <a:r>
              <a:rPr lang="en-US" sz="2400"/>
              <a:t>Enable cost–accuracy–speed trade-offs through smart orchestration</a:t>
            </a:r>
          </a:p>
          <a:p>
            <a:r>
              <a:rPr lang="en-US" sz="2400"/>
              <a:t>Introduce feedback-driven mechanisms for resilience and improvement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B21260-63BA-3732-4B5D-1E8EFFE5021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IT22982058</a:t>
            </a:r>
            <a:r>
              <a:rPr lang="en-US" sz="1800" dirty="0">
                <a:solidFill>
                  <a:schemeClr val="tx1"/>
                </a:solidFill>
              </a:rPr>
              <a:t>  |   S A T </a:t>
            </a:r>
            <a:r>
              <a:rPr lang="en-US">
                <a:solidFill>
                  <a:schemeClr val="tx1"/>
                </a:solidFill>
              </a:rPr>
              <a:t>NAYANAPRIYA</a:t>
            </a:r>
            <a:r>
              <a:rPr lang="en-US" sz="1800" dirty="0">
                <a:solidFill>
                  <a:schemeClr val="tx1"/>
                </a:solidFill>
              </a:rPr>
              <a:t> | </a:t>
            </a:r>
            <a:r>
              <a:rPr lang="en-US" dirty="0">
                <a:solidFill>
                  <a:schemeClr val="tx1"/>
                </a:solidFill>
                <a:latin typeface="Rockwell" panose="02060603020205020403" pitchFamily="18" charset="0"/>
              </a:rPr>
              <a:t>25-26J-129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9" name="Picture 8" descr="A close-up of a diagram&#10;&#10;AI-generated content may be incorrect.">
            <a:extLst>
              <a:ext uri="{FF2B5EF4-FFF2-40B4-BE49-F238E27FC236}">
                <a16:creationId xmlns:a16="http://schemas.microsoft.com/office/drawing/2014/main" id="{7F2B0883-D4DB-EFFD-E36D-1FB74E286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12" y="4917509"/>
            <a:ext cx="11684000" cy="14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082676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6FBBB-4C77-4A4B-BE54-96D3B0DF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937" y="-233463"/>
            <a:ext cx="11177080" cy="1924152"/>
          </a:xfrm>
        </p:spPr>
        <p:txBody>
          <a:bodyPr>
            <a:normAutofit/>
          </a:bodyPr>
          <a:lstStyle/>
          <a:p>
            <a:r>
              <a:rPr lang="en-US" sz="3200" b="1"/>
              <a:t>Intelligent Document Processing Orchestration - Methodology</a:t>
            </a:r>
            <a:endParaRPr lang="en-US" sz="6600" b="1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461F4-E6D8-4801-94AA-9B72FC99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36" y="1177046"/>
            <a:ext cx="10933890" cy="4999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/>
              <a:t>Ingest &amp; Analyze</a:t>
            </a:r>
            <a:r>
              <a:rPr lang="en-US" sz="2400"/>
              <a:t> – DAE classifies docs by type, vendor/layout cluster, and quality bin.</a:t>
            </a:r>
          </a:p>
          <a:p>
            <a:r>
              <a:rPr lang="en-US" sz="2400" b="1"/>
              <a:t>Policy Selection</a:t>
            </a:r>
            <a:r>
              <a:rPr lang="en-US" sz="2400"/>
              <a:t> – Requests advice from AHMN; picks preprocessing policy ranked by Recency × Lift × Similarity.</a:t>
            </a:r>
          </a:p>
          <a:p>
            <a:r>
              <a:rPr lang="en-US" sz="2400" b="1"/>
              <a:t>Local Extraction</a:t>
            </a:r>
            <a:r>
              <a:rPr lang="en-US" sz="2400"/>
              <a:t> – Runs calibrated local extractor; applies thresholds for acceptance.</a:t>
            </a:r>
          </a:p>
          <a:p>
            <a:r>
              <a:rPr lang="en-US" sz="2400" b="1"/>
              <a:t>Field-Level Recovery &amp; Escalation</a:t>
            </a:r>
            <a:r>
              <a:rPr lang="en-US" sz="2400"/>
              <a:t> – Low-confidence fields retried with AHMN hints; unresolved ones escalated to stronger models.</a:t>
            </a:r>
          </a:p>
          <a:p>
            <a:r>
              <a:rPr lang="en-US" sz="2400" b="1"/>
              <a:t>Validation</a:t>
            </a:r>
            <a:r>
              <a:rPr lang="en-US" sz="2400"/>
              <a:t> – Rules, codebooks, consistency checks ensure quality.</a:t>
            </a:r>
          </a:p>
          <a:p>
            <a:r>
              <a:rPr lang="en-US" sz="2400" b="1"/>
              <a:t>Learning &amp; Optimization</a:t>
            </a:r>
            <a:r>
              <a:rPr lang="en-US" sz="2400"/>
              <a:t> – Logs outcomes; contextual bandits optimize policy; offline IPS/DR estimators safely evaluate new strategies; policies updated with drift signals.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A60EF3-4090-4DCA-9E5C-9FBCC317B9A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IT22982058</a:t>
            </a:r>
            <a:r>
              <a:rPr lang="en-US" sz="1800" dirty="0">
                <a:solidFill>
                  <a:schemeClr val="tx1"/>
                </a:solidFill>
              </a:rPr>
              <a:t>  |   S A T </a:t>
            </a:r>
            <a:r>
              <a:rPr lang="en-US" sz="1800" dirty="0" err="1">
                <a:solidFill>
                  <a:schemeClr val="tx1"/>
                </a:solidFill>
              </a:rPr>
              <a:t>Nayanapriya</a:t>
            </a:r>
            <a:r>
              <a:rPr lang="en-US" sz="1800" dirty="0">
                <a:solidFill>
                  <a:schemeClr val="tx1"/>
                </a:solidFill>
              </a:rPr>
              <a:t> | </a:t>
            </a:r>
            <a:r>
              <a:rPr lang="en-US" dirty="0">
                <a:solidFill>
                  <a:schemeClr val="tx1"/>
                </a:solidFill>
                <a:latin typeface="Rockwell" panose="02060603020205020403" pitchFamily="18" charset="0"/>
              </a:rPr>
              <a:t>25-26J-129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686696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6FBBB-4C77-4A4B-BE54-96D3B0DF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643" y="342106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/>
              <a:t>IDPO: Success Evaluation/Validation:</a:t>
            </a:r>
            <a:endParaRPr lang="en-US" sz="24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461F4-E6D8-4801-94AA-9B72FC99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664" y="1488332"/>
            <a:ext cx="10663136" cy="4688631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b="1"/>
              <a:t>Main Goal:</a:t>
            </a:r>
            <a:r>
              <a:rPr lang="en-US"/>
              <a:t> Reliable extraction of structured entities from unstructured documents</a:t>
            </a:r>
          </a:p>
          <a:p>
            <a:pPr lvl="1"/>
            <a:r>
              <a:rPr lang="en-US" b="1"/>
              <a:t>Extraction Accuracy:</a:t>
            </a:r>
            <a:r>
              <a:rPr lang="en-US"/>
              <a:t> Significant improvement in per-field F1 and Doc </a:t>
            </a:r>
            <a:r>
              <a:rPr lang="en-US" err="1"/>
              <a:t>Accept@Thresholds</a:t>
            </a:r>
            <a:endParaRPr lang="en-US"/>
          </a:p>
          <a:p>
            <a:pPr lvl="1"/>
            <a:r>
              <a:rPr lang="en-US" b="1"/>
              <a:t>Field-Level Escalation Efficiency:</a:t>
            </a:r>
            <a:r>
              <a:rPr lang="en-US"/>
              <a:t> Higher accuracy with reduced overhead vs. document-level fallback</a:t>
            </a:r>
          </a:p>
          <a:p>
            <a:pPr lvl="1"/>
            <a:r>
              <a:rPr lang="en-US" b="1"/>
              <a:t>Policy Optimization Success:</a:t>
            </a:r>
            <a:r>
              <a:rPr lang="en-US"/>
              <a:t> Contextual bandits improve preprocessing policy selection over static baselines</a:t>
            </a:r>
          </a:p>
          <a:p>
            <a:pPr lvl="1"/>
            <a:r>
              <a:rPr lang="en-US" b="1"/>
              <a:t>Offline Evaluation Validity:</a:t>
            </a:r>
            <a:r>
              <a:rPr lang="en-US"/>
              <a:t> IPS/DR estimates match outcomes from online A/B testing</a:t>
            </a:r>
          </a:p>
          <a:p>
            <a:pPr lvl="1"/>
            <a:r>
              <a:rPr lang="en-US" b="1"/>
              <a:t>Robustness:</a:t>
            </a:r>
            <a:r>
              <a:rPr lang="en-US"/>
              <a:t> Stable performance under noise, skew, and vendor/layout drift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Data Availability &amp; Ethical Clearance:</a:t>
            </a:r>
            <a:endParaRPr lang="en-US"/>
          </a:p>
          <a:p>
            <a:r>
              <a:rPr lang="en-US" b="1"/>
              <a:t>Dataset:</a:t>
            </a:r>
            <a:r>
              <a:rPr lang="en-US"/>
              <a:t> Healthcare RCM (Revenue Cycle Management) dataset with vendor-stratified and quality-binned splits</a:t>
            </a:r>
          </a:p>
          <a:p>
            <a:r>
              <a:rPr lang="en-US" b="1"/>
              <a:t>Ethical Protocols:</a:t>
            </a:r>
            <a:r>
              <a:rPr lang="en-US"/>
              <a:t> Anonymized logging, no PII stored in policy/memory modules</a:t>
            </a:r>
            <a:endParaRPr lang="en-US" dirty="0"/>
          </a:p>
          <a:p>
            <a:r>
              <a:rPr lang="en-US" b="1"/>
              <a:t>Compliance:</a:t>
            </a:r>
            <a:r>
              <a:rPr lang="en-US"/>
              <a:t> GDPR-compliant data handling, versioned policies, and auditable provenance</a:t>
            </a:r>
            <a:endParaRPr lang="en-US" dirty="0"/>
          </a:p>
          <a:p>
            <a:endParaRPr lang="en-US" b="1" dirty="0">
              <a:ea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25414B-AA6C-4871-B3DA-40C7A66D018F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IT22982058</a:t>
            </a:r>
            <a:r>
              <a:rPr lang="en-US" sz="1800" dirty="0">
                <a:solidFill>
                  <a:schemeClr val="tx1"/>
                </a:solidFill>
              </a:rPr>
              <a:t>  |   S A T </a:t>
            </a:r>
            <a:r>
              <a:rPr lang="en-US">
                <a:solidFill>
                  <a:schemeClr val="tx1"/>
                </a:solidFill>
              </a:rPr>
              <a:t>NAYANAPRIYA</a:t>
            </a:r>
            <a:r>
              <a:rPr lang="en-US" sz="1800" dirty="0">
                <a:solidFill>
                  <a:schemeClr val="tx1"/>
                </a:solidFill>
              </a:rPr>
              <a:t> | </a:t>
            </a:r>
            <a:r>
              <a:rPr lang="en-US" dirty="0">
                <a:solidFill>
                  <a:schemeClr val="tx1"/>
                </a:solidFill>
                <a:latin typeface="Rockwell" panose="02060603020205020403" pitchFamily="18" charset="0"/>
              </a:rPr>
              <a:t>25-26J-129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795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63B4F-3D00-6479-D8F9-CACE64293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3098424-EC8D-8AF6-8266-FEDBBBF19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643" y="342106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Intelligent Document Processing Orchestration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8339FC-4542-CEA6-75AA-D6EA9EC80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/>
              <a:t>[1] H. Xu, Y. Li, and K. Zhang, “Adaptive Preprocessing Pipelines for Document AI Systems,” </a:t>
            </a:r>
            <a:r>
              <a:rPr lang="en-US" i="1" err="1"/>
              <a:t>arXiv</a:t>
            </a:r>
            <a:r>
              <a:rPr lang="en-US"/>
              <a:t>, 2025. [Online]. Available: https://arxiv.org/abs/2501.07894</a:t>
            </a:r>
          </a:p>
          <a:p>
            <a:r>
              <a:rPr lang="en-US"/>
              <a:t>[2] P. Patel and A. Kumar, “Field-Level Error Recovery in Document Information Extraction,” </a:t>
            </a:r>
            <a:r>
              <a:rPr lang="en-US" i="1"/>
              <a:t>IEEE Access</a:t>
            </a:r>
            <a:r>
              <a:rPr lang="en-US"/>
              <a:t>, 2024. [Online]. Available: https://ieeexplore.ieee.org/document/10487215</a:t>
            </a:r>
          </a:p>
          <a:p>
            <a:r>
              <a:rPr lang="en-US"/>
              <a:t>[3] J. Torres et al., “Counterfactual Evaluation of Preprocessing Strategies in NLP,” </a:t>
            </a:r>
            <a:r>
              <a:rPr lang="en-US" i="1"/>
              <a:t>Proceedings of ACL</a:t>
            </a:r>
            <a:r>
              <a:rPr lang="en-US"/>
              <a:t>, 2023, pp. 2145–2157. </a:t>
            </a:r>
            <a:r>
              <a:rPr lang="en-US" err="1"/>
              <a:t>doi</a:t>
            </a:r>
            <a:r>
              <a:rPr lang="en-US"/>
              <a:t>: https://doi.org/10.18653/v1/2023.acl-main.165</a:t>
            </a:r>
          </a:p>
          <a:p>
            <a:r>
              <a:rPr lang="en-US"/>
              <a:t>[4] K. Raman and D. Wang, “Contextual Bandits for Adaptive Pipeline Optimization,” </a:t>
            </a:r>
            <a:r>
              <a:rPr lang="en-US" i="1"/>
              <a:t>Journal of Machine Learning Research (JMLR)</a:t>
            </a:r>
            <a:r>
              <a:rPr lang="en-US"/>
              <a:t>, vol. 24, no. 188, pp. 1–28, 2023.</a:t>
            </a:r>
          </a:p>
          <a:p>
            <a:r>
              <a:rPr lang="en-US"/>
              <a:t>[5] L. Chen, R. Kapoor, and F. Muller, “Document Layout Analysis and Vendor Clustering for Scalable Extraction,” </a:t>
            </a:r>
            <a:r>
              <a:rPr lang="en-US" i="1"/>
              <a:t>The VLDB Journal</a:t>
            </a:r>
            <a:r>
              <a:rPr lang="en-US"/>
              <a:t>, 2024. [Online]. Available: https://link.springer.com/article/10.1007/s00778-024-00884-5</a:t>
            </a:r>
          </a:p>
          <a:p>
            <a:r>
              <a:rPr lang="en-US"/>
              <a:t>[6] S. Fatemi and Y. Hu, “Evaluating Robustness of Document AI under Noise and Drift,” </a:t>
            </a:r>
            <a:r>
              <a:rPr lang="en-US" i="1" err="1"/>
              <a:t>arXiv</a:t>
            </a:r>
            <a:r>
              <a:rPr lang="en-US"/>
              <a:t>, 2025. Available: https://arxiv.org/abs/2502.06312</a:t>
            </a:r>
          </a:p>
          <a:p>
            <a:r>
              <a:rPr lang="en-US"/>
              <a:t>[7] J. Wang, M. Kim, and R. Thomas, “Selective Prediction and Abstention in Document Extraction,” </a:t>
            </a:r>
            <a:r>
              <a:rPr lang="en-US" i="1" err="1"/>
              <a:t>NeurIPS</a:t>
            </a:r>
            <a:r>
              <a:rPr lang="en-US"/>
              <a:t>, 2024.</a:t>
            </a:r>
          </a:p>
          <a:p>
            <a:r>
              <a:rPr lang="en-US"/>
              <a:t>[8] D. Yang and P. Ren, “Learning to Route Tasks Across Multi-Agent Extraction Systems,” </a:t>
            </a:r>
            <a:r>
              <a:rPr lang="en-US" i="1"/>
              <a:t>ICLR Workshops</a:t>
            </a:r>
            <a:r>
              <a:rPr lang="en-US"/>
              <a:t>, 2025.</a:t>
            </a:r>
          </a:p>
          <a:p>
            <a:r>
              <a:rPr lang="en-US"/>
              <a:t>[9] Z. Chen and L. Zhao, “Bandit-Based Policy Optimization in Adaptive Document Workflows,” </a:t>
            </a:r>
            <a:r>
              <a:rPr lang="en-US" i="1"/>
              <a:t>KDD Applied Data Science Track</a:t>
            </a:r>
            <a:r>
              <a:rPr lang="en-US"/>
              <a:t>, 2024.</a:t>
            </a:r>
          </a:p>
          <a:p>
            <a:r>
              <a:rPr lang="en-US"/>
              <a:t>[10] (PDF) “A Survey on Multi-Agent Orchestration for Large-Scale Document Processing,” </a:t>
            </a:r>
            <a:r>
              <a:rPr lang="en-US" i="1"/>
              <a:t>ResearchGate</a:t>
            </a:r>
            <a:r>
              <a:rPr lang="en-US"/>
              <a:t>. Available: </a:t>
            </a:r>
            <a:r>
              <a:rPr lang="en-US">
                <a:hlinkClick r:id="rId2"/>
              </a:rPr>
              <a:t>https://www.researchgate.net/publication/33694512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B77A7A-BBD8-6CDE-FB2D-C1C1AFD8E95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IT22982058</a:t>
            </a:r>
            <a:r>
              <a:rPr lang="en-US" sz="1800">
                <a:solidFill>
                  <a:schemeClr val="tx1"/>
                </a:solidFill>
              </a:rPr>
              <a:t>  |   S A T </a:t>
            </a:r>
            <a:r>
              <a:rPr lang="en-US" sz="1800" err="1">
                <a:solidFill>
                  <a:schemeClr val="tx1"/>
                </a:solidFill>
              </a:rPr>
              <a:t>Nayanapriya</a:t>
            </a:r>
            <a:r>
              <a:rPr lang="en-US" sz="1800">
                <a:solidFill>
                  <a:schemeClr val="tx1"/>
                </a:solidFill>
              </a:rPr>
              <a:t> | </a:t>
            </a:r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25-26J-129</a:t>
            </a:r>
            <a:endParaRPr lang="en-US" sz="18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423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FBC04D-5849-0392-6D6A-7A4368D6D376}"/>
              </a:ext>
            </a:extLst>
          </p:cNvPr>
          <p:cNvSpPr/>
          <p:nvPr/>
        </p:nvSpPr>
        <p:spPr>
          <a:xfrm>
            <a:off x="2632434" y="6546849"/>
            <a:ext cx="5511800" cy="247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3267075"/>
            <a:ext cx="11341100" cy="882650"/>
          </a:xfrm>
        </p:spPr>
        <p:txBody>
          <a:bodyPr>
            <a:noAutofit/>
          </a:bodyPr>
          <a:lstStyle/>
          <a:p>
            <a:pPr algn="ctr"/>
            <a:r>
              <a:rPr lang="en-US" sz="4400">
                <a:latin typeface="Rockwell Nova" panose="02060503020205020403" pitchFamily="18" charset="0"/>
                <a:cs typeface="Times New Roman" panose="02020603050405020304" pitchFamily="18" charset="0"/>
              </a:rPr>
              <a:t>Adaptive </a:t>
            </a:r>
            <a:r>
              <a:rPr lang="en-US" sz="4400" err="1">
                <a:latin typeface="Rockwell Nova" panose="02060503020205020403" pitchFamily="18" charset="0"/>
                <a:cs typeface="Times New Roman" panose="02020603050405020304" pitchFamily="18" charset="0"/>
              </a:rPr>
              <a:t>Hierarchial</a:t>
            </a:r>
            <a:r>
              <a:rPr lang="en-US" sz="4400">
                <a:latin typeface="Rockwell Nova" panose="02060503020205020403" pitchFamily="18" charset="0"/>
                <a:cs typeface="Times New Roman" panose="02020603050405020304" pitchFamily="18" charset="0"/>
              </a:rPr>
              <a:t> Memory Network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208462"/>
            <a:ext cx="10515600" cy="1500187"/>
          </a:xfrm>
        </p:spPr>
        <p:txBody>
          <a:bodyPr/>
          <a:lstStyle/>
          <a:p>
            <a:pPr algn="ctr"/>
            <a:r>
              <a:rPr lang="en-US">
                <a:latin typeface="Rockwell" panose="02060603020205020403" pitchFamily="18" charset="0"/>
              </a:rPr>
              <a:t>BSc (Hons) in Information Technology Specializing in Data Science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4" y="6488111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  <a:latin typeface="Rockwell" panose="02060603020205020403" pitchFamily="18" charset="0"/>
              </a:rPr>
              <a:t>IT22350800   | </a:t>
            </a:r>
            <a:r>
              <a:rPr lang="en-US" sz="1800" err="1">
                <a:solidFill>
                  <a:schemeClr val="tx1"/>
                </a:solidFill>
                <a:latin typeface="Rockwell" panose="02060603020205020403" pitchFamily="18" charset="0"/>
              </a:rPr>
              <a:t>Dasanayake</a:t>
            </a:r>
            <a:r>
              <a:rPr lang="en-US" sz="1800" dirty="0">
                <a:solidFill>
                  <a:schemeClr val="tx1"/>
                </a:solidFill>
                <a:latin typeface="Rockwell" panose="02060603020205020403" pitchFamily="18" charset="0"/>
              </a:rPr>
              <a:t> D. R. L.</a:t>
            </a:r>
            <a:r>
              <a:rPr lang="en-US" dirty="0">
                <a:solidFill>
                  <a:schemeClr val="tx1"/>
                </a:solidFill>
                <a:latin typeface="Rockwell" panose="02060603020205020403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Rockwell" panose="02060603020205020403" pitchFamily="18" charset="0"/>
              </a:rPr>
              <a:t>|   </a:t>
            </a:r>
            <a:r>
              <a:rPr lang="en-US" sz="1800" b="0" dirty="0">
                <a:solidFill>
                  <a:schemeClr val="tx1"/>
                </a:solidFill>
                <a:latin typeface="Rockwell" panose="02060603020205020403" pitchFamily="18" charset="0"/>
              </a:rPr>
              <a:t>25-26J-129</a:t>
            </a:r>
          </a:p>
        </p:txBody>
      </p:sp>
      <p:pic>
        <p:nvPicPr>
          <p:cNvPr id="9" name="Picture 8" descr="A person in a suit&#10;&#10;AI-generated content may be incorrect.">
            <a:extLst>
              <a:ext uri="{FF2B5EF4-FFF2-40B4-BE49-F238E27FC236}">
                <a16:creationId xmlns:a16="http://schemas.microsoft.com/office/drawing/2014/main" id="{6593D0F4-C485-05BE-8CE8-6F308B98CA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67"/>
          <a:stretch>
            <a:fillRect/>
          </a:stretch>
        </p:blipFill>
        <p:spPr>
          <a:xfrm>
            <a:off x="10102850" y="137263"/>
            <a:ext cx="2022759" cy="230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6FBBB-4C77-4A4B-BE54-96D3B0DF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684000" cy="868362"/>
          </a:xfrm>
        </p:spPr>
        <p:txBody>
          <a:bodyPr>
            <a:normAutofit/>
          </a:bodyPr>
          <a:lstStyle/>
          <a:p>
            <a:r>
              <a:rPr lang="en-US">
                <a:latin typeface="Rockwell Nova" panose="02060503020205020403" pitchFamily="18" charset="0"/>
                <a:cs typeface="Times New Roman" panose="02020603050405020304" pitchFamily="18" charset="0"/>
              </a:rPr>
              <a:t>Adaptive Hierarchial Memory Network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461F4-E6D8-4801-94AA-9B72FC99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04912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>
                <a:latin typeface="Rockwell" panose="02060603020205020403" pitchFamily="18" charset="0"/>
              </a:rPr>
              <a:t>The Problem?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100" b="1">
                <a:latin typeface="Rockwell" panose="02060603020205020403" pitchFamily="18" charset="0"/>
              </a:rPr>
              <a:t>No Memory</a:t>
            </a:r>
            <a:r>
              <a:rPr lang="en-US" sz="2100">
                <a:latin typeface="Rockwell" panose="02060603020205020403" pitchFamily="18" charset="0"/>
              </a:rPr>
              <a:t>: Current document AI systems start from zero with every new document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100" b="1">
                <a:latin typeface="Rockwell" panose="02060603020205020403" pitchFamily="18" charset="0"/>
              </a:rPr>
              <a:t>No Sharing</a:t>
            </a:r>
            <a:r>
              <a:rPr lang="en-US" sz="2100">
                <a:latin typeface="Rockwell" panose="02060603020205020403" pitchFamily="18" charset="0"/>
              </a:rPr>
              <a:t>: Systems can't apply lessons learned from one domain (healthcare) to another (finance)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100" b="1">
                <a:latin typeface="Rockwell" panose="02060603020205020403" pitchFamily="18" charset="0"/>
              </a:rPr>
              <a:t>Wasted Effort</a:t>
            </a:r>
            <a:r>
              <a:rPr lang="en-US" sz="2100">
                <a:latin typeface="Rockwell" panose="02060603020205020403" pitchFamily="18" charset="0"/>
              </a:rPr>
              <a:t>: Same preprocessing mistakes happen repeatedly across different document types</a:t>
            </a:r>
          </a:p>
          <a:p>
            <a:pPr marL="0" indent="0">
              <a:buNone/>
            </a:pPr>
            <a:endParaRPr lang="en-US" sz="2400" b="1">
              <a:latin typeface="Rockwell" panose="02060603020205020403" pitchFamily="18" charset="0"/>
            </a:endParaRPr>
          </a:p>
          <a:p>
            <a:pPr marL="0" indent="0">
              <a:buNone/>
            </a:pPr>
            <a:r>
              <a:rPr lang="en-US" sz="2400" b="1">
                <a:latin typeface="Rockwell" panose="02060603020205020403" pitchFamily="18" charset="0"/>
              </a:rPr>
              <a:t>Our Solution: AHMN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100" b="1">
                <a:latin typeface="Rockwell" panose="02060603020205020403" pitchFamily="18" charset="0"/>
              </a:rPr>
              <a:t>Smart Memory</a:t>
            </a:r>
            <a:r>
              <a:rPr lang="en-US" sz="2100">
                <a:latin typeface="Rockwell" panose="02060603020205020403" pitchFamily="18" charset="0"/>
              </a:rPr>
              <a:t>: Remembers successful processing patterns and reuses them automatically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100" b="1">
                <a:latin typeface="Rockwell" panose="02060603020205020403" pitchFamily="18" charset="0"/>
              </a:rPr>
              <a:t>Cross-Domain Intelligence</a:t>
            </a:r>
            <a:r>
              <a:rPr lang="en-US" sz="2100">
                <a:latin typeface="Rockwell" panose="02060603020205020403" pitchFamily="18" charset="0"/>
              </a:rPr>
              <a:t>: Transfers knowledge between different document types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100" b="1">
                <a:latin typeface="Rockwell" panose="02060603020205020403" pitchFamily="18" charset="0"/>
              </a:rPr>
              <a:t>Continuous Learning</a:t>
            </a:r>
            <a:r>
              <a:rPr lang="en-US" sz="2100">
                <a:latin typeface="Rockwell" panose="02060603020205020403" pitchFamily="18" charset="0"/>
              </a:rPr>
              <a:t>: Gets smarter and faster with every document processed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D9F080-0780-4554-8055-A289E0D4EDA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IT22350800   |   Dasanayake D. R. L. |   25-26J-129</a:t>
            </a:r>
          </a:p>
        </p:txBody>
      </p:sp>
    </p:spTree>
    <p:extLst>
      <p:ext uri="{BB962C8B-B14F-4D97-AF65-F5344CB8AC3E}">
        <p14:creationId xmlns:p14="http://schemas.microsoft.com/office/powerpoint/2010/main" val="3658498589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CF57F-62E1-FBC3-C33D-9C64089DA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9F1F68E-16FF-90A3-1507-5620DA7D5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450" y="251618"/>
            <a:ext cx="10515600" cy="840582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ckwell Nova" panose="02060503020205020403" pitchFamily="18" charset="0"/>
                <a:cs typeface="Times New Roman" panose="02020603050405020304" pitchFamily="18" charset="0"/>
              </a:rPr>
              <a:t>Adaptive </a:t>
            </a:r>
            <a:r>
              <a:rPr lang="en-US" err="1">
                <a:latin typeface="Rockwell Nova" panose="02060503020205020403" pitchFamily="18" charset="0"/>
                <a:cs typeface="Times New Roman" panose="02020603050405020304" pitchFamily="18" charset="0"/>
              </a:rPr>
              <a:t>Hierarchial</a:t>
            </a:r>
            <a:r>
              <a:rPr lang="en-US">
                <a:latin typeface="Rockwell Nova" panose="02060503020205020403" pitchFamily="18" charset="0"/>
                <a:cs typeface="Times New Roman" panose="02020603050405020304" pitchFamily="18" charset="0"/>
              </a:rPr>
              <a:t> Memory Network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FB0E5A4-220F-02DD-B4F4-73FE79C1F76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06400" y="1393735"/>
            <a:ext cx="5689600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200" b="1">
                <a:latin typeface="Rockwell" panose="02060603020205020403" pitchFamily="18" charset="0"/>
              </a:rPr>
              <a:t>Data Science Specialization Applied</a:t>
            </a:r>
          </a:p>
          <a:p>
            <a:r>
              <a:rPr lang="en-US" sz="1800" b="1">
                <a:latin typeface="Rockwell" panose="02060603020205020403" pitchFamily="18" charset="0"/>
              </a:rPr>
              <a:t>Deep Learning Models</a:t>
            </a:r>
            <a:r>
              <a:rPr lang="en-US" sz="1800">
                <a:latin typeface="Rockwell" panose="02060603020205020403" pitchFamily="18" charset="0"/>
              </a:rPr>
              <a:t> - Neural networks and embeddings for cross-domain pattern recognition</a:t>
            </a:r>
          </a:p>
          <a:p>
            <a:r>
              <a:rPr lang="en-US" sz="1800" b="1">
                <a:latin typeface="Rockwell" panose="02060603020205020403" pitchFamily="18" charset="0"/>
              </a:rPr>
              <a:t>Statistical Learning</a:t>
            </a:r>
            <a:r>
              <a:rPr lang="en-US" sz="1800">
                <a:latin typeface="Rockwell" panose="02060603020205020403" pitchFamily="18" charset="0"/>
              </a:rPr>
              <a:t> - Machine learning algorithms for knowledge transfer and adaptation</a:t>
            </a:r>
          </a:p>
          <a:p>
            <a:r>
              <a:rPr lang="en-US" sz="1800" b="1">
                <a:latin typeface="Rockwell" panose="02060603020205020403" pitchFamily="18" charset="0"/>
              </a:rPr>
              <a:t>Big Data Analytics</a:t>
            </a:r>
            <a:r>
              <a:rPr lang="en-US" sz="1800">
                <a:latin typeface="Rockwell" panose="02060603020205020403" pitchFamily="18" charset="0"/>
              </a:rPr>
              <a:t> - Large-scale data processing and pattern mining across document types</a:t>
            </a:r>
          </a:p>
          <a:p>
            <a:r>
              <a:rPr lang="en-US" sz="1800" b="1">
                <a:latin typeface="Rockwell" panose="02060603020205020403" pitchFamily="18" charset="0"/>
              </a:rPr>
              <a:t>Predictive Modeling</a:t>
            </a:r>
            <a:r>
              <a:rPr lang="en-US" sz="1800">
                <a:latin typeface="Rockwell" panose="02060603020205020403" pitchFamily="18" charset="0"/>
              </a:rPr>
              <a:t> - Algorithms that learn and predict optimal preprocessing strategies</a:t>
            </a:r>
          </a:p>
          <a:p>
            <a:r>
              <a:rPr lang="en-US" sz="1800" b="1">
                <a:latin typeface="Rockwell" panose="02060603020205020403" pitchFamily="18" charset="0"/>
              </a:rPr>
              <a:t>Experimental Design</a:t>
            </a:r>
            <a:r>
              <a:rPr lang="en-US" sz="1800">
                <a:latin typeface="Rockwell" panose="02060603020205020403" pitchFamily="18" charset="0"/>
              </a:rPr>
              <a:t> - A/B testing and validation frameworks for continuous improvement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960405-9763-0373-2B67-37A58007F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1393735"/>
            <a:ext cx="5181600" cy="435133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>
                <a:latin typeface="Rockwell" panose="02060603020205020403" pitchFamily="18" charset="0"/>
              </a:rPr>
              <a:t>How These Domains Fabricate the Solution?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Rockwell" panose="02060603020205020403" pitchFamily="18" charset="0"/>
              </a:rPr>
              <a:t>Memory Storage &amp; Retrieval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Rockwell" panose="02060603020205020403" pitchFamily="18" charset="0"/>
              </a:rPr>
              <a:t>Cross-Domain Learning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Rockwell" panose="02060603020205020403" pitchFamily="18" charset="0"/>
              </a:rPr>
              <a:t>Intelligent Decision Making</a:t>
            </a:r>
          </a:p>
          <a:p>
            <a:pPr>
              <a:lnSpc>
                <a:spcPct val="100000"/>
              </a:lnSpc>
            </a:pPr>
            <a:r>
              <a:rPr lang="en-US" sz="1800">
                <a:latin typeface="Rockwell" panose="02060603020205020403" pitchFamily="18" charset="0"/>
              </a:rPr>
              <a:t>Scalable Architecture</a:t>
            </a:r>
            <a:endParaRPr lang="en-US" altLang="en-AS" sz="1800">
              <a:latin typeface="Rockwell" panose="02060603020205020403" pitchFamily="18" charset="0"/>
            </a:endParaRPr>
          </a:p>
          <a:p>
            <a:endParaRPr lang="en-A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C4A49A-072A-8EBB-791B-93F5169FCCC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IT22350800   |   Dasanayake D. R. L. |   25-26J-129</a:t>
            </a:r>
          </a:p>
        </p:txBody>
      </p:sp>
    </p:spTree>
    <p:extLst>
      <p:ext uri="{BB962C8B-B14F-4D97-AF65-F5344CB8AC3E}">
        <p14:creationId xmlns:p14="http://schemas.microsoft.com/office/powerpoint/2010/main" val="3067443134"/>
      </p:ext>
    </p:extLst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39318-DB09-9A89-E2CA-7A42E1A3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9DFC9D-D186-774C-F30B-6242C97F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684000" cy="868362"/>
          </a:xfrm>
        </p:spPr>
        <p:txBody>
          <a:bodyPr>
            <a:normAutofit/>
          </a:bodyPr>
          <a:lstStyle/>
          <a:p>
            <a:r>
              <a:rPr lang="en-US">
                <a:latin typeface="Rockwell Nova" panose="02060503020205020403" pitchFamily="18" charset="0"/>
                <a:cs typeface="Times New Roman" panose="02020603050405020304" pitchFamily="18" charset="0"/>
              </a:rPr>
              <a:t>Adaptive </a:t>
            </a:r>
            <a:r>
              <a:rPr lang="en-US" err="1">
                <a:latin typeface="Rockwell Nova" panose="02060503020205020403" pitchFamily="18" charset="0"/>
                <a:cs typeface="Times New Roman" panose="02020603050405020304" pitchFamily="18" charset="0"/>
              </a:rPr>
              <a:t>Hierarchial</a:t>
            </a:r>
            <a:r>
              <a:rPr lang="en-US">
                <a:latin typeface="Rockwell Nova" panose="02060503020205020403" pitchFamily="18" charset="0"/>
                <a:cs typeface="Times New Roman" panose="02020603050405020304" pitchFamily="18" charset="0"/>
              </a:rPr>
              <a:t> Memory Network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6CEF33-2997-E710-4448-DB37E6A15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475" y="1096962"/>
            <a:ext cx="11500525" cy="4851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Rockwell" panose="02060603020205020403" pitchFamily="18" charset="0"/>
              </a:rPr>
              <a:t>Success </a:t>
            </a:r>
            <a:r>
              <a:rPr lang="en-US" sz="2200" b="1">
                <a:latin typeface="Rockwell" panose="02060603020205020403" pitchFamily="18" charset="0"/>
              </a:rPr>
              <a:t>Evaluation/Validation:</a:t>
            </a:r>
          </a:p>
          <a:p>
            <a:r>
              <a:rPr lang="en-US" sz="1800" b="1">
                <a:latin typeface="Rockwell" panose="02060603020205020403" pitchFamily="18" charset="0"/>
              </a:rPr>
              <a:t>Preprocessing Accuracy:</a:t>
            </a:r>
            <a:r>
              <a:rPr lang="en-US" sz="1800">
                <a:latin typeface="Rockwell" panose="02060603020205020403" pitchFamily="18" charset="0"/>
              </a:rPr>
              <a:t> Significant across different document domains</a:t>
            </a:r>
          </a:p>
          <a:p>
            <a:r>
              <a:rPr lang="en-US" sz="1800" b="1" dirty="0">
                <a:latin typeface="Rockwell" panose="02060603020205020403" pitchFamily="18" charset="0"/>
              </a:rPr>
              <a:t>Memory </a:t>
            </a:r>
            <a:r>
              <a:rPr lang="en-US" sz="1800" b="1">
                <a:latin typeface="Rockwell" panose="02060603020205020403" pitchFamily="18" charset="0"/>
              </a:rPr>
              <a:t>Retrieval Speed:</a:t>
            </a:r>
            <a:r>
              <a:rPr lang="en-US" sz="1800" dirty="0">
                <a:latin typeface="Rockwell" panose="02060603020205020403" pitchFamily="18" charset="0"/>
              </a:rPr>
              <a:t> </a:t>
            </a:r>
            <a:r>
              <a:rPr lang="en-US" sz="1800">
                <a:latin typeface="Rockwell" panose="02060603020205020403" pitchFamily="18" charset="0"/>
              </a:rPr>
              <a:t>Low response </a:t>
            </a:r>
            <a:r>
              <a:rPr lang="en-US" sz="1800" dirty="0">
                <a:latin typeface="Rockwell" panose="02060603020205020403" pitchFamily="18" charset="0"/>
              </a:rPr>
              <a:t>time </a:t>
            </a:r>
            <a:r>
              <a:rPr lang="en-US" sz="1800">
                <a:latin typeface="Rockwell" panose="02060603020205020403" pitchFamily="18" charset="0"/>
              </a:rPr>
              <a:t>for pattern matching</a:t>
            </a:r>
          </a:p>
          <a:p>
            <a:r>
              <a:rPr lang="en-US" sz="1800" b="1">
                <a:latin typeface="Rockwell" panose="02060603020205020403" pitchFamily="18" charset="0"/>
              </a:rPr>
              <a:t>Cross-Domain Transfer Success:</a:t>
            </a:r>
            <a:r>
              <a:rPr lang="en-US" sz="1800" dirty="0">
                <a:latin typeface="Rockwell" panose="02060603020205020403" pitchFamily="18" charset="0"/>
              </a:rPr>
              <a:t> </a:t>
            </a:r>
            <a:r>
              <a:rPr lang="en-US" sz="1800">
                <a:latin typeface="Rockwell" panose="02060603020205020403" pitchFamily="18" charset="0"/>
              </a:rPr>
              <a:t>High accuracy in applying learned patterns to new domains</a:t>
            </a:r>
          </a:p>
          <a:p>
            <a:r>
              <a:rPr lang="en-US" sz="1800" b="1">
                <a:latin typeface="Rockwell" panose="02060603020205020403" pitchFamily="18" charset="0"/>
              </a:rPr>
              <a:t>Learning Efficiency:</a:t>
            </a:r>
            <a:r>
              <a:rPr lang="en-US" sz="1800" dirty="0">
                <a:latin typeface="Rockwell" panose="02060603020205020403" pitchFamily="18" charset="0"/>
              </a:rPr>
              <a:t> </a:t>
            </a:r>
            <a:r>
              <a:rPr lang="en-US" sz="1800">
                <a:latin typeface="Rockwell" panose="02060603020205020403" pitchFamily="18" charset="0"/>
              </a:rPr>
              <a:t>Reduction in preprocessing optimization time</a:t>
            </a:r>
          </a:p>
          <a:p>
            <a:endParaRPr lang="en-US" sz="1800" dirty="0">
              <a:latin typeface="Rockwell" panose="02060603020205020403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Rockwell" panose="02060603020205020403" pitchFamily="18" charset="0"/>
              </a:rPr>
              <a:t>Data Availability &amp; Ethical Clearance</a:t>
            </a:r>
            <a:r>
              <a:rPr lang="en-US" sz="2200" b="1">
                <a:latin typeface="Rockwell" panose="02060603020205020403" pitchFamily="18" charset="0"/>
              </a:rPr>
              <a:t>:</a:t>
            </a:r>
            <a:endParaRPr lang="en-US" sz="2200" b="1" dirty="0">
              <a:latin typeface="Rockwell" panose="02060603020205020403" pitchFamily="18" charset="0"/>
            </a:endParaRPr>
          </a:p>
          <a:p>
            <a:r>
              <a:rPr lang="en-US" sz="1800" b="1">
                <a:latin typeface="Rockwell" panose="02060603020205020403" pitchFamily="18" charset="0"/>
              </a:rPr>
              <a:t>Dataset:</a:t>
            </a:r>
            <a:r>
              <a:rPr lang="en-US" sz="1800" dirty="0">
                <a:latin typeface="Rockwell" panose="02060603020205020403" pitchFamily="18" charset="0"/>
              </a:rPr>
              <a:t> </a:t>
            </a:r>
            <a:r>
              <a:rPr lang="en-US" sz="1800">
                <a:latin typeface="Rockwell" panose="02060603020205020403" pitchFamily="18" charset="0"/>
              </a:rPr>
              <a:t>Healthcare RCM (Revenue Cycle Management) company dataset as the primary validation source</a:t>
            </a:r>
          </a:p>
          <a:p>
            <a:r>
              <a:rPr lang="en-US" sz="1800" b="1">
                <a:latin typeface="Rockwell" panose="02060603020205020403" pitchFamily="18" charset="0"/>
              </a:rPr>
              <a:t>Ethical Protocols:</a:t>
            </a:r>
            <a:r>
              <a:rPr lang="en-US" sz="1800">
                <a:latin typeface="Rockwell" panose="02060603020205020403" pitchFamily="18" charset="0"/>
              </a:rPr>
              <a:t> Privacy-compliant memory storage with data anonymization</a:t>
            </a:r>
          </a:p>
          <a:p>
            <a:r>
              <a:rPr lang="en-US" sz="1800" b="1">
                <a:latin typeface="Rockwell" panose="02060603020205020403" pitchFamily="18" charset="0"/>
              </a:rPr>
              <a:t>Compliance:</a:t>
            </a:r>
            <a:r>
              <a:rPr lang="en-US" sz="1800">
                <a:latin typeface="Rockwell" panose="02060603020205020403" pitchFamily="18" charset="0"/>
              </a:rPr>
              <a:t> GDPR-compliant data processing with explicit consent mechanisms</a:t>
            </a:r>
            <a:endParaRPr lang="en-US" sz="1800" dirty="0">
              <a:latin typeface="Rockwell" panose="020606030202050204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CED1D1-EE81-2B8C-3A20-530D9CED5FD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IT22350800   |   Dasanayake D. R. L. |   25-26J-129</a:t>
            </a:r>
          </a:p>
        </p:txBody>
      </p:sp>
    </p:spTree>
    <p:extLst>
      <p:ext uri="{BB962C8B-B14F-4D97-AF65-F5344CB8AC3E}">
        <p14:creationId xmlns:p14="http://schemas.microsoft.com/office/powerpoint/2010/main" val="1269538839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77DB9-ACB4-FBC0-2FDC-8DA1CCF4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6AB170-1432-9D8D-3C89-A79292F7D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87573"/>
            <a:ext cx="10515600" cy="1089820"/>
          </a:xfrm>
        </p:spPr>
        <p:txBody>
          <a:bodyPr>
            <a:normAutofit/>
          </a:bodyPr>
          <a:lstStyle/>
          <a:p>
            <a:r>
              <a:rPr lang="en-US" err="1">
                <a:latin typeface="Rockwell" panose="02060603020205020403" pitchFamily="18" charset="0"/>
                <a:cs typeface="Times New Roman" panose="02020603050405020304" pitchFamily="18" charset="0"/>
              </a:rPr>
              <a:t>Hierarchial</a:t>
            </a:r>
            <a:r>
              <a:rPr lang="en-US">
                <a:latin typeface="Rockwell" panose="02060603020205020403" pitchFamily="18" charset="0"/>
                <a:cs typeface="Times New Roman" panose="02020603050405020304" pitchFamily="18" charset="0"/>
              </a:rPr>
              <a:t> Memory Framework</a:t>
            </a:r>
            <a:endParaRPr lang="en-US">
              <a:latin typeface="Rockwell" panose="020606030202050204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6F8358-B96E-E677-828C-D9F0DE04D0D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IT22350800   |   Dasanayake D. R. L. |   25-26J-129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0DA8C3-5DAD-B3F0-4CFF-46D2EEA4C0B0}"/>
              </a:ext>
            </a:extLst>
          </p:cNvPr>
          <p:cNvSpPr txBox="1"/>
          <p:nvPr/>
        </p:nvSpPr>
        <p:spPr>
          <a:xfrm>
            <a:off x="361950" y="1059120"/>
            <a:ext cx="668655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latin typeface="Rockwell" panose="02060603020205020403" pitchFamily="18" charset="0"/>
              </a:rPr>
              <a:t>Real-World Application Scenario:</a:t>
            </a:r>
          </a:p>
          <a:p>
            <a:endParaRPr lang="en-US" b="1">
              <a:latin typeface="Rockwell" panose="02060603020205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Rockwell" panose="02060603020205020403" pitchFamily="18" charset="0"/>
              </a:rPr>
              <a:t>Healthcare Implementation:</a:t>
            </a:r>
            <a:r>
              <a:rPr lang="en-US">
                <a:latin typeface="Rockwell" panose="02060603020205020403" pitchFamily="18" charset="0"/>
              </a:rPr>
              <a:t> System learns optimal OCR settings for medical forms across different hospital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Rockwell" panose="02060603020205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Rockwell" panose="02060603020205020403" pitchFamily="18" charset="0"/>
              </a:rPr>
              <a:t>Usage Process:</a:t>
            </a:r>
            <a:r>
              <a:rPr lang="en-US">
                <a:latin typeface="Rockwell" panose="02060603020205020403" pitchFamily="18" charset="0"/>
              </a:rPr>
              <a:t> Analyze document → Retrieve similar patterns from memory → Apply learned preprocessing → Update memory with results</a:t>
            </a:r>
          </a:p>
        </p:txBody>
      </p:sp>
      <p:pic>
        <p:nvPicPr>
          <p:cNvPr id="7" name="Content Placeholder 6" descr="A diagram of a computer&#10;&#10;AI-generated content may be incorrect.">
            <a:extLst>
              <a:ext uri="{FF2B5EF4-FFF2-40B4-BE49-F238E27FC236}">
                <a16:creationId xmlns:a16="http://schemas.microsoft.com/office/drawing/2014/main" id="{E93B0C10-18A9-1DBA-DB4D-2CD665D8B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17" y="3630037"/>
            <a:ext cx="10515600" cy="1974413"/>
          </a:xfrm>
        </p:spPr>
      </p:pic>
    </p:spTree>
    <p:extLst>
      <p:ext uri="{BB962C8B-B14F-4D97-AF65-F5344CB8AC3E}">
        <p14:creationId xmlns:p14="http://schemas.microsoft.com/office/powerpoint/2010/main" val="390495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23D6-8A6F-D70F-6E10-92C374CA5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F7B1C0-9B85-B93B-4C71-ACA769FED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87573"/>
            <a:ext cx="10515600" cy="1089820"/>
          </a:xfrm>
        </p:spPr>
        <p:txBody>
          <a:bodyPr>
            <a:normAutofit/>
          </a:bodyPr>
          <a:lstStyle/>
          <a:p>
            <a:r>
              <a:rPr lang="en-US" err="1">
                <a:latin typeface="Rockwell" panose="02060603020205020403" pitchFamily="18" charset="0"/>
                <a:cs typeface="Times New Roman" panose="02020603050405020304" pitchFamily="18" charset="0"/>
              </a:rPr>
              <a:t>Hierarchial</a:t>
            </a:r>
            <a:r>
              <a:rPr lang="en-US">
                <a:latin typeface="Rockwell" panose="02060603020205020403" pitchFamily="18" charset="0"/>
                <a:cs typeface="Times New Roman" panose="02020603050405020304" pitchFamily="18" charset="0"/>
              </a:rPr>
              <a:t> Memory Framework</a:t>
            </a:r>
            <a:endParaRPr lang="en-US">
              <a:latin typeface="Rockwell" panose="020606030202050204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F20EF9-C9F8-CC1D-1C55-5BAF379387E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IT22350800   |   Dasanayake D. R. L. |   25-26J-129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641B7-2D55-E779-3B53-5C713FA0B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253331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>
                <a:latin typeface="Rockwell" panose="02060603020205020403" pitchFamily="18" charset="0"/>
              </a:rPr>
              <a:t>[1] X. Kang et al., "</a:t>
            </a:r>
            <a:r>
              <a:rPr lang="en-US" err="1">
                <a:latin typeface="Rockwell" panose="02060603020205020403" pitchFamily="18" charset="0"/>
              </a:rPr>
              <a:t>MemoryOS</a:t>
            </a:r>
            <a:r>
              <a:rPr lang="en-US">
                <a:latin typeface="Rockwell" panose="02060603020205020403" pitchFamily="18" charset="0"/>
              </a:rPr>
              <a:t>: Hierarchical Memory Structures for Contextual LLM Agents," </a:t>
            </a:r>
            <a:r>
              <a:rPr lang="en-US" i="1" err="1">
                <a:latin typeface="Rockwell" panose="02060603020205020403" pitchFamily="18" charset="0"/>
              </a:rPr>
              <a:t>arXiv</a:t>
            </a:r>
            <a:r>
              <a:rPr lang="en-US" i="1">
                <a:latin typeface="Rockwell" panose="02060603020205020403" pitchFamily="18" charset="0"/>
              </a:rPr>
              <a:t> preprint arXiv:2401.00368</a:t>
            </a:r>
            <a:r>
              <a:rPr lang="en-US">
                <a:latin typeface="Rockwell" panose="02060603020205020403" pitchFamily="18" charset="0"/>
              </a:rPr>
              <a:t>, 2025.</a:t>
            </a:r>
          </a:p>
          <a:p>
            <a:pPr marL="0" indent="0">
              <a:buNone/>
            </a:pPr>
            <a:r>
              <a:rPr lang="en-US">
                <a:latin typeface="Rockwell" panose="02060603020205020403" pitchFamily="18" charset="0"/>
              </a:rPr>
              <a:t>[2] T. Yuen, R. Kumar, and S. Li, "Intrinsic Memory Agents for Multi-Agent Systems," </a:t>
            </a:r>
            <a:r>
              <a:rPr lang="en-US" i="1" err="1">
                <a:latin typeface="Rockwell" panose="02060603020205020403" pitchFamily="18" charset="0"/>
              </a:rPr>
              <a:t>arXiv</a:t>
            </a:r>
            <a:r>
              <a:rPr lang="en-US" i="1">
                <a:latin typeface="Rockwell" panose="02060603020205020403" pitchFamily="18" charset="0"/>
              </a:rPr>
              <a:t> preprint arXiv:2502.12110</a:t>
            </a:r>
            <a:r>
              <a:rPr lang="en-US">
                <a:latin typeface="Rockwell" panose="02060603020205020403" pitchFamily="18" charset="0"/>
              </a:rPr>
              <a:t>, 2025.</a:t>
            </a:r>
          </a:p>
          <a:p>
            <a:pPr marL="0" indent="0">
              <a:buNone/>
            </a:pPr>
            <a:r>
              <a:rPr lang="en-US">
                <a:latin typeface="Rockwell" panose="02060603020205020403" pitchFamily="18" charset="0"/>
              </a:rPr>
              <a:t>[3] J. Gao et al., "Retrieval-Augmented Generation: Enhancing Factual Accuracy in LLMs," </a:t>
            </a:r>
            <a:r>
              <a:rPr lang="en-US" i="1">
                <a:latin typeface="Rockwell" panose="02060603020205020403" pitchFamily="18" charset="0"/>
              </a:rPr>
              <a:t>Information Processing &amp; Management</a:t>
            </a:r>
            <a:r>
              <a:rPr lang="en-US">
                <a:latin typeface="Rockwell" panose="02060603020205020403" pitchFamily="18" charset="0"/>
              </a:rPr>
              <a:t>, 2023. [Online]. Available: </a:t>
            </a:r>
            <a:r>
              <a:rPr lang="en-US">
                <a:latin typeface="Rockwell" panose="02060603020205020403" pitchFamily="18" charset="0"/>
                <a:hlinkClick r:id="rId2"/>
              </a:rPr>
              <a:t>https://www.sciencedirect.com/science/article/pii/S1389041724000093</a:t>
            </a:r>
            <a:endParaRPr lang="en-US">
              <a:latin typeface="Rockwell" panose="02060603020205020403" pitchFamily="18" charset="0"/>
            </a:endParaRPr>
          </a:p>
          <a:p>
            <a:pPr marL="0" indent="0">
              <a:buNone/>
            </a:pPr>
            <a:r>
              <a:rPr lang="en-US">
                <a:latin typeface="Rockwell" panose="02060603020205020403" pitchFamily="18" charset="0"/>
              </a:rPr>
              <a:t>[4] L. Wang et al., "Memory Techniques for Large Language Model Agents," </a:t>
            </a:r>
            <a:r>
              <a:rPr lang="en-US" i="1">
                <a:latin typeface="Rockwell" panose="02060603020205020403" pitchFamily="18" charset="0"/>
              </a:rPr>
              <a:t>The VLDB Journal</a:t>
            </a:r>
            <a:r>
              <a:rPr lang="en-US">
                <a:latin typeface="Rockwell" panose="02060603020205020403" pitchFamily="18" charset="0"/>
              </a:rPr>
              <a:t>, 2024. [Online]. Available: </a:t>
            </a:r>
            <a:r>
              <a:rPr lang="en-US">
                <a:latin typeface="Rockwell" panose="02060603020205020403" pitchFamily="18" charset="0"/>
                <a:hlinkClick r:id="rId3"/>
              </a:rPr>
              <a:t>https://link.springer.com/article/10.1007/s00778-024-00864-x</a:t>
            </a:r>
            <a:endParaRPr lang="en-US">
              <a:latin typeface="Rockwell" panose="02060603020205020403" pitchFamily="18" charset="0"/>
            </a:endParaRPr>
          </a:p>
          <a:p>
            <a:pPr marL="0" indent="0">
              <a:buNone/>
            </a:pPr>
            <a:r>
              <a:rPr lang="en-US">
                <a:latin typeface="Rockwell" panose="02060603020205020403" pitchFamily="18" charset="0"/>
              </a:rPr>
              <a:t>[5] "</a:t>
            </a:r>
            <a:r>
              <a:rPr lang="en-US" err="1">
                <a:latin typeface="Rockwell" panose="02060603020205020403" pitchFamily="18" charset="0"/>
              </a:rPr>
              <a:t>LangChain</a:t>
            </a:r>
            <a:r>
              <a:rPr lang="en-US">
                <a:latin typeface="Rockwell" panose="02060603020205020403" pitchFamily="18" charset="0"/>
              </a:rPr>
              <a:t> Documentation," </a:t>
            </a:r>
            <a:r>
              <a:rPr lang="en-US" err="1">
                <a:latin typeface="Rockwell" panose="02060603020205020403" pitchFamily="18" charset="0"/>
              </a:rPr>
              <a:t>LangChain</a:t>
            </a:r>
            <a:r>
              <a:rPr lang="en-US">
                <a:latin typeface="Rockwell" panose="02060603020205020403" pitchFamily="18" charset="0"/>
              </a:rPr>
              <a:t>, 2025. [Online]. Available: </a:t>
            </a:r>
            <a:r>
              <a:rPr lang="en-US">
                <a:latin typeface="Rockwell" panose="02060603020205020403" pitchFamily="18" charset="0"/>
                <a:hlinkClick r:id="rId4"/>
              </a:rPr>
              <a:t>https://python.langchain.com/docs/introduction/</a:t>
            </a:r>
            <a:r>
              <a:rPr lang="en-US">
                <a:latin typeface="Rockwell" panose="02060603020205020403" pitchFamily="18" charset="0"/>
              </a:rPr>
              <a:t> (accessed Aug. 24, 2025).</a:t>
            </a:r>
          </a:p>
          <a:p>
            <a:pPr marL="0" indent="0">
              <a:buNone/>
            </a:pPr>
            <a:r>
              <a:rPr lang="en-US">
                <a:latin typeface="Rockwell" panose="02060603020205020403" pitchFamily="18" charset="0"/>
              </a:rPr>
              <a:t>[6] A. Frome et al., "</a:t>
            </a:r>
            <a:r>
              <a:rPr lang="en-US" err="1">
                <a:latin typeface="Rockwell" panose="02060603020205020403" pitchFamily="18" charset="0"/>
              </a:rPr>
              <a:t>DeViSE</a:t>
            </a:r>
            <a:r>
              <a:rPr lang="en-US">
                <a:latin typeface="Rockwell" panose="02060603020205020403" pitchFamily="18" charset="0"/>
              </a:rPr>
              <a:t>: A Deep Visual-Semantic Embedding Model," </a:t>
            </a:r>
            <a:r>
              <a:rPr lang="en-US" i="1" err="1">
                <a:latin typeface="Rockwell" panose="02060603020205020403" pitchFamily="18" charset="0"/>
              </a:rPr>
              <a:t>arXiv</a:t>
            </a:r>
            <a:r>
              <a:rPr lang="en-US" i="1">
                <a:latin typeface="Rockwell" panose="02060603020205020403" pitchFamily="18" charset="0"/>
              </a:rPr>
              <a:t> preprint arXiv:1411.2539</a:t>
            </a:r>
            <a:r>
              <a:rPr lang="en-US">
                <a:latin typeface="Rockwell" panose="02060603020205020403" pitchFamily="18" charset="0"/>
              </a:rPr>
              <a:t>, 2014.</a:t>
            </a:r>
          </a:p>
          <a:p>
            <a:pPr marL="0" indent="0">
              <a:buNone/>
            </a:pPr>
            <a:r>
              <a:rPr lang="en-US">
                <a:latin typeface="Rockwell" panose="02060603020205020403" pitchFamily="18" charset="0"/>
              </a:rPr>
              <a:t>[7] J. M. Jackson and M. D. Pinto, "Human Near the Loop: Implications for Artificial Intelligence in Healthcare," </a:t>
            </a:r>
            <a:r>
              <a:rPr lang="en-US" i="1">
                <a:latin typeface="Rockwell" panose="02060603020205020403" pitchFamily="18" charset="0"/>
              </a:rPr>
              <a:t>Clinical Nursing Research</a:t>
            </a:r>
            <a:r>
              <a:rPr lang="en-US">
                <a:latin typeface="Rockwell" panose="02060603020205020403" pitchFamily="18" charset="0"/>
              </a:rPr>
              <a:t>, vol. 33, no. 2–3, pp. 135–137, Jan. 2024.</a:t>
            </a:r>
          </a:p>
          <a:p>
            <a:pPr marL="0" indent="0">
              <a:buNone/>
            </a:pPr>
            <a:r>
              <a:rPr lang="en-US">
                <a:latin typeface="Rockwell" panose="02060603020205020403" pitchFamily="18" charset="0"/>
              </a:rPr>
              <a:t>[8] R. Karpas et al., "Agentic AI: Multi-Agent Planning and Reasoning for Large Language Models," </a:t>
            </a:r>
            <a:r>
              <a:rPr lang="en-US" i="1">
                <a:latin typeface="Rockwell" panose="02060603020205020403" pitchFamily="18" charset="0"/>
              </a:rPr>
              <a:t>IEEE Access</a:t>
            </a:r>
            <a:r>
              <a:rPr lang="en-US">
                <a:latin typeface="Rockwell" panose="02060603020205020403" pitchFamily="18" charset="0"/>
              </a:rPr>
              <a:t>, 2025. [Online]. Available: </a:t>
            </a:r>
            <a:r>
              <a:rPr lang="en-US">
                <a:latin typeface="Rockwell" panose="02060603020205020403" pitchFamily="18" charset="0"/>
                <a:hlinkClick r:id="rId5"/>
              </a:rPr>
              <a:t>https://ieeexplore.ieee.org/document/10849561</a:t>
            </a:r>
            <a:endParaRPr lang="en-US">
              <a:latin typeface="Rockwell" panose="02060603020205020403" pitchFamily="18" charset="0"/>
            </a:endParaRPr>
          </a:p>
          <a:p>
            <a:pPr marL="0" indent="0">
              <a:buNone/>
            </a:pPr>
            <a:r>
              <a:rPr lang="en-US">
                <a:latin typeface="Rockwell" panose="02060603020205020403" pitchFamily="18" charset="0"/>
              </a:rPr>
              <a:t>[9] D. Reynolds and S. McDonell, "Retrieval-Augmented Generation for Knowledge Intensive Tasks," </a:t>
            </a:r>
            <a:r>
              <a:rPr lang="en-US" i="1" err="1">
                <a:latin typeface="Rockwell" panose="02060603020205020403" pitchFamily="18" charset="0"/>
              </a:rPr>
              <a:t>arXiv</a:t>
            </a:r>
            <a:r>
              <a:rPr lang="en-US" i="1">
                <a:latin typeface="Rockwell" panose="02060603020205020403" pitchFamily="18" charset="0"/>
              </a:rPr>
              <a:t> preprint arXiv:2305.10450</a:t>
            </a:r>
            <a:r>
              <a:rPr lang="en-US">
                <a:latin typeface="Rockwell" panose="02060603020205020403" pitchFamily="18" charset="0"/>
              </a:rPr>
              <a:t>, 2023.</a:t>
            </a:r>
          </a:p>
          <a:p>
            <a:pPr marL="0" indent="0">
              <a:buNone/>
            </a:pPr>
            <a:r>
              <a:rPr lang="en-US">
                <a:latin typeface="Rockwell" panose="02060603020205020403" pitchFamily="18" charset="0"/>
              </a:rPr>
              <a:t>[10] M. Kang, H. Lee, and J. Park, "Hierarchical Memory and Role-Based Knowledge in LLM Agents," </a:t>
            </a:r>
            <a:r>
              <a:rPr lang="en-US" i="1" err="1">
                <a:latin typeface="Rockwell" panose="02060603020205020403" pitchFamily="18" charset="0"/>
              </a:rPr>
              <a:t>arXiv</a:t>
            </a:r>
            <a:r>
              <a:rPr lang="en-US" i="1">
                <a:latin typeface="Rockwell" panose="02060603020205020403" pitchFamily="18" charset="0"/>
              </a:rPr>
              <a:t> preprint arXiv:2407.05678</a:t>
            </a:r>
            <a:r>
              <a:rPr lang="en-US">
                <a:latin typeface="Rockwell" panose="02060603020205020403" pitchFamily="18" charset="0"/>
              </a:rPr>
              <a:t>, 2024.</a:t>
            </a:r>
          </a:p>
          <a:p>
            <a:endParaRPr lang="en-AS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59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13E6B-41F8-9B96-B111-76AC1D3EB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DDD5C7-CC47-940C-6185-91AE35ED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Human-Guided Explainable AI</a:t>
            </a:r>
            <a:endParaRPr lang="en-US" dirty="0">
              <a:latin typeface="Rockwell" panose="02060603020205020403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2D68EA-53B8-E760-B7E0-F240053A2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>
                <a:latin typeface="Rockwell" panose="02060603020205020403" pitchFamily="18" charset="0"/>
              </a:rPr>
              <a:t>BSc (Hons) in Information Technology Specializing in Data Science</a:t>
            </a:r>
          </a:p>
          <a:p>
            <a:endParaRPr lang="en-US" dirty="0"/>
          </a:p>
        </p:txBody>
      </p:sp>
      <p:pic>
        <p:nvPicPr>
          <p:cNvPr id="3" name="Picture 2" descr="A person with curly hair&#10;&#10;Description automatically generated">
            <a:extLst>
              <a:ext uri="{FF2B5EF4-FFF2-40B4-BE49-F238E27FC236}">
                <a16:creationId xmlns:a16="http://schemas.microsoft.com/office/drawing/2014/main" id="{27526FCA-423F-EABD-FC27-9B44BA806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5800" y="0"/>
            <a:ext cx="2616200" cy="2616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16FE85C-41E6-C3EC-8230-73C7FA28329B}"/>
              </a:ext>
            </a:extLst>
          </p:cNvPr>
          <p:cNvSpPr/>
          <p:nvPr/>
        </p:nvSpPr>
        <p:spPr>
          <a:xfrm>
            <a:off x="2743200" y="6425872"/>
            <a:ext cx="5548133" cy="43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59FFDC-DB59-FE8C-3A80-248209020FCC}"/>
              </a:ext>
            </a:extLst>
          </p:cNvPr>
          <p:cNvSpPr/>
          <p:nvPr/>
        </p:nvSpPr>
        <p:spPr>
          <a:xfrm>
            <a:off x="2971800" y="6459373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  <a:latin typeface="Rockwell" panose="02060603020205020403" pitchFamily="18" charset="0"/>
              </a:rPr>
              <a:t>IT22335050</a:t>
            </a:r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   |   Pathirana M </a:t>
            </a:r>
            <a:r>
              <a:rPr lang="en-US" sz="1800" err="1">
                <a:solidFill>
                  <a:schemeClr val="tx1"/>
                </a:solidFill>
                <a:latin typeface="Rockwell" panose="02060603020205020403" pitchFamily="18" charset="0"/>
              </a:rPr>
              <a:t>M</a:t>
            </a:r>
            <a:r>
              <a:rPr lang="en-US" sz="1800" b="1">
                <a:solidFill>
                  <a:schemeClr val="tx1"/>
                </a:solidFill>
                <a:latin typeface="Rockwell" panose="02060603020205020403" pitchFamily="18" charset="0"/>
              </a:rPr>
              <a:t>   </a:t>
            </a:r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|   </a:t>
            </a:r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25-26J-129</a:t>
            </a:r>
            <a:endParaRPr lang="en-US" sz="1800" b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81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6FBBB-4C77-4A4B-BE54-96D3B0DF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684000" cy="86836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Human-Guided Explainable AI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461F4-E6D8-4801-94AA-9B72FC99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89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200" b="1" dirty="0">
                <a:latin typeface="Rockwell" panose="02060603020205020403" pitchFamily="18" charset="77"/>
              </a:rPr>
              <a:t>Knowledge Gap/Problem Definition</a:t>
            </a:r>
          </a:p>
          <a:p>
            <a:r>
              <a:rPr lang="en-US" sz="1800" b="1" dirty="0">
                <a:latin typeface="Rockwell" panose="02060603020205020403" pitchFamily="18" charset="77"/>
              </a:rPr>
              <a:t>AI Opacity Crisis</a:t>
            </a:r>
            <a:r>
              <a:rPr lang="en-US" sz="1800" dirty="0">
                <a:latin typeface="Rockwell" panose="02060603020205020403" pitchFamily="18" charset="77"/>
              </a:rPr>
              <a:t>: Current document AI systems provide outputs without explaining reasoning, leaving users unable to trust, validate, or audit decisions. This reduces adoption in high-stakes environments.</a:t>
            </a:r>
            <a:br>
              <a:rPr lang="en-US" sz="1100" dirty="0">
                <a:latin typeface="Rockwell" panose="02060603020205020403" pitchFamily="18" charset="77"/>
              </a:rPr>
            </a:br>
            <a:endParaRPr lang="en-US" sz="1800" dirty="0">
              <a:latin typeface="Rockwell" panose="02060603020205020403" pitchFamily="18" charset="77"/>
            </a:endParaRPr>
          </a:p>
          <a:p>
            <a:r>
              <a:rPr lang="en-US" sz="1800" b="1" dirty="0">
                <a:latin typeface="Rockwell" panose="02060603020205020403" pitchFamily="18" charset="77"/>
              </a:rPr>
              <a:t>Human Feedback Bottleneck:</a:t>
            </a:r>
            <a:r>
              <a:rPr lang="en-US" sz="1800" dirty="0">
                <a:latin typeface="Rockwell" panose="02060603020205020403" pitchFamily="18" charset="77"/>
              </a:rPr>
              <a:t> Existing platforms rarely integrate human-in-the-loop corrections efficiently, causing delayed error correction and persistent model bias.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2200" b="1" dirty="0">
                <a:latin typeface="Rockwell" panose="02060603020205020403" pitchFamily="18" charset="77"/>
              </a:rPr>
              <a:t>Current System Failures:</a:t>
            </a:r>
            <a:endParaRPr lang="en-US" sz="2200" dirty="0">
              <a:latin typeface="Rockwell" panose="02060603020205020403" pitchFamily="18" charset="77"/>
            </a:endParaRPr>
          </a:p>
          <a:p>
            <a:r>
              <a:rPr lang="en-US" sz="1800" dirty="0">
                <a:latin typeface="Rockwell" panose="02060603020205020403" pitchFamily="18" charset="77"/>
              </a:rPr>
              <a:t>Outputs are opaque, lacking traceable evidence or interpretable rationale</a:t>
            </a:r>
          </a:p>
          <a:p>
            <a:r>
              <a:rPr lang="en-US" sz="1800" dirty="0">
                <a:latin typeface="Rockwell" panose="02060603020205020403" pitchFamily="18" charset="77"/>
              </a:rPr>
              <a:t>Human corrections are ad hoc, unstructured, and not systematically used for learning</a:t>
            </a:r>
          </a:p>
          <a:p>
            <a:r>
              <a:rPr lang="en-US" sz="1800" dirty="0">
                <a:latin typeface="Rockwell" panose="02060603020205020403" pitchFamily="18" charset="77"/>
              </a:rPr>
              <a:t>Structured data and embeddings exist in silos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200" b="1" dirty="0">
                <a:latin typeface="Rockwell" panose="02060603020205020403" pitchFamily="18" charset="77"/>
              </a:rPr>
              <a:t>Our Solution Addresses:</a:t>
            </a:r>
            <a:endParaRPr lang="en-US" sz="2200" dirty="0">
              <a:latin typeface="Rockwell" panose="02060603020205020403" pitchFamily="18" charset="77"/>
            </a:endParaRPr>
          </a:p>
          <a:p>
            <a:r>
              <a:rPr lang="en-US" sz="1800" b="1" dirty="0">
                <a:latin typeface="Rockwell" panose="02060603020205020403" pitchFamily="18" charset="77"/>
              </a:rPr>
              <a:t>Explainable AI (XAI) Layer:</a:t>
            </a:r>
            <a:r>
              <a:rPr lang="en-US" sz="1800" dirty="0">
                <a:latin typeface="Rockwell" panose="02060603020205020403" pitchFamily="18" charset="77"/>
              </a:rPr>
              <a:t> Transparent, evidence-backed explanations for every output</a:t>
            </a:r>
          </a:p>
          <a:p>
            <a:r>
              <a:rPr lang="en-US" sz="1800" b="1" dirty="0">
                <a:latin typeface="Rockwell" panose="02060603020205020403" pitchFamily="18" charset="77"/>
              </a:rPr>
              <a:t>Human-in-the-Loop (HITL) Integration:</a:t>
            </a:r>
            <a:r>
              <a:rPr lang="en-US" sz="1800" dirty="0">
                <a:latin typeface="Rockwell" panose="02060603020205020403" pitchFamily="18" charset="77"/>
              </a:rPr>
              <a:t> Structured points for human review and feedback, dynamically influencing model decisions and improving trust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D9F080-0780-4554-8055-A289E0D4EDA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  <a:latin typeface="Rockwell" panose="02060603020205020403" pitchFamily="18" charset="0"/>
              </a:rPr>
              <a:t>IT22335050</a:t>
            </a:r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   |   Pathirana M </a:t>
            </a:r>
            <a:r>
              <a:rPr lang="en-US" sz="1800" err="1">
                <a:solidFill>
                  <a:schemeClr val="tx1"/>
                </a:solidFill>
                <a:latin typeface="Rockwell" panose="02060603020205020403" pitchFamily="18" charset="0"/>
              </a:rPr>
              <a:t>M</a:t>
            </a:r>
            <a:r>
              <a:rPr lang="en-US" sz="1800" b="1">
                <a:solidFill>
                  <a:schemeClr val="tx1"/>
                </a:solidFill>
                <a:latin typeface="Rockwell" panose="02060603020205020403" pitchFamily="18" charset="0"/>
              </a:rPr>
              <a:t>   </a:t>
            </a:r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|   </a:t>
            </a:r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25-26J-129</a:t>
            </a:r>
            <a:endParaRPr lang="en-US" sz="1800" b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154405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CF57F-62E1-FBC3-C33D-9C64089DA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9F1F68E-16FF-90A3-1507-5620DA7D5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684000" cy="86836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Human-Guided Explainable AI</a:t>
            </a:r>
            <a:endParaRPr lang="en-US" dirty="0">
              <a:latin typeface="Rockwell Nova" panose="020605030202050204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DC1D0-15C1-B73A-2D44-F7E681AA3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0" y="1470025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200" b="1" dirty="0">
                <a:latin typeface="Rockwell" panose="02060603020205020403" pitchFamily="18" charset="0"/>
              </a:rPr>
              <a:t>Machine Learning &amp; NLP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>
                <a:latin typeface="Rockwell" panose="02060603020205020403" pitchFamily="18" charset="77"/>
              </a:rPr>
              <a:t>Explainable Transformers:</a:t>
            </a:r>
            <a:r>
              <a:rPr lang="en-US" sz="1800" dirty="0">
                <a:latin typeface="Rockwell" panose="02060603020205020403" pitchFamily="18" charset="77"/>
              </a:rPr>
              <a:t> Attention-based and attribution-aware models for interpretable document reasoning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>
                <a:latin typeface="Rockwell" panose="02060603020205020403" pitchFamily="18" charset="77"/>
              </a:rPr>
              <a:t>Counterfactual &amp; Feature Attribution Models:</a:t>
            </a:r>
            <a:r>
              <a:rPr lang="en-US" sz="1800" dirty="0">
                <a:latin typeface="Rockwell" panose="02060603020205020403" pitchFamily="18" charset="77"/>
              </a:rPr>
              <a:t> SHAP, LIME, and Integrated Gradients for transparent predictions</a:t>
            </a:r>
          </a:p>
          <a:p>
            <a:pPr marL="0" indent="0">
              <a:buNone/>
            </a:pPr>
            <a:endParaRPr lang="en-US" sz="1800" dirty="0">
              <a:latin typeface="Rockwell" panose="02060603020205020403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Rockwell" panose="02060603020205020403" pitchFamily="18" charset="0"/>
              </a:rPr>
              <a:t>Human-In-The-Loop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>
                <a:latin typeface="Rockwell" panose="02060603020205020403" pitchFamily="18" charset="77"/>
              </a:rPr>
              <a:t>Active Feedback Loops:</a:t>
            </a:r>
            <a:r>
              <a:rPr lang="en-US" sz="1800" dirty="0">
                <a:latin typeface="Rockwell" panose="02060603020205020403" pitchFamily="18" charset="77"/>
              </a:rPr>
              <a:t> Structured annotation pipelines for human correction and reinforcement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>
                <a:latin typeface="Rockwell" panose="02060603020205020403" pitchFamily="18" charset="77"/>
              </a:rPr>
              <a:t>Uncertainty-aware Sampling:</a:t>
            </a:r>
            <a:r>
              <a:rPr lang="en-US" sz="1800" dirty="0">
                <a:latin typeface="Rockwell" panose="02060603020205020403" pitchFamily="18" charset="77"/>
              </a:rPr>
              <a:t> Prioritize instances with low confidence for human validation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>
                <a:latin typeface="Rockwell" panose="02060603020205020403" pitchFamily="18" charset="77"/>
              </a:rPr>
              <a:t>Error Correction Models:</a:t>
            </a:r>
            <a:r>
              <a:rPr lang="en-US" sz="1800" dirty="0">
                <a:latin typeface="Rockwell" panose="02060603020205020403" pitchFamily="18" charset="77"/>
              </a:rPr>
              <a:t> Incorporate human interventions into model fine-tuning dynamically</a:t>
            </a:r>
          </a:p>
          <a:p>
            <a:endParaRPr lang="en-US" sz="1800" dirty="0">
              <a:latin typeface="Rockwell" panose="02060603020205020403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Rockwell" panose="02060603020205020403" pitchFamily="18" charset="0"/>
              </a:rPr>
              <a:t>Technologies in Data Science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>
                <a:latin typeface="Rockwell" panose="02060603020205020403" pitchFamily="18" charset="77"/>
              </a:rPr>
              <a:t>Explainable ML Libraries:</a:t>
            </a:r>
            <a:r>
              <a:rPr lang="en-US" sz="1800" dirty="0">
                <a:latin typeface="Rockwell" panose="02060603020205020403" pitchFamily="18" charset="77"/>
              </a:rPr>
              <a:t> SHAP, LIME, </a:t>
            </a:r>
            <a:r>
              <a:rPr lang="en-US" sz="1800" dirty="0" err="1">
                <a:latin typeface="Rockwell" panose="02060603020205020403" pitchFamily="18" charset="77"/>
              </a:rPr>
              <a:t>Captum</a:t>
            </a:r>
            <a:r>
              <a:rPr lang="en-US" sz="1800" dirty="0">
                <a:latin typeface="Rockwell" panose="02060603020205020403" pitchFamily="18" charset="77"/>
              </a:rPr>
              <a:t> for real-time interpretability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>
                <a:latin typeface="Rockwell" panose="02060603020205020403" pitchFamily="18" charset="77"/>
              </a:rPr>
              <a:t>Interactive Annotation Tools:</a:t>
            </a:r>
            <a:r>
              <a:rPr lang="en-US" sz="1800" dirty="0">
                <a:latin typeface="Rockwell" panose="02060603020205020403" pitchFamily="18" charset="77"/>
              </a:rPr>
              <a:t> Label-studio, Prodigy for efficient HITL workflows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>
                <a:latin typeface="Rockwell" panose="02060603020205020403" pitchFamily="18" charset="77"/>
              </a:rPr>
              <a:t>Streaming Analytics &amp; Feedback Integration:</a:t>
            </a:r>
            <a:r>
              <a:rPr lang="en-US" sz="1800" dirty="0">
                <a:latin typeface="Rockwell" panose="02060603020205020403" pitchFamily="18" charset="77"/>
              </a:rPr>
              <a:t> Kafka or Pulsar pipelines for live monitoring and adaptive system updates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C4A49A-072A-8EBB-791B-93F5169FCCC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  <a:latin typeface="Rockwell" panose="02060603020205020403" pitchFamily="18" charset="0"/>
              </a:rPr>
              <a:t>IT22335050</a:t>
            </a:r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   |   Pathirana M </a:t>
            </a:r>
            <a:r>
              <a:rPr lang="en-US" sz="1800" err="1">
                <a:solidFill>
                  <a:schemeClr val="tx1"/>
                </a:solidFill>
                <a:latin typeface="Rockwell" panose="02060603020205020403" pitchFamily="18" charset="0"/>
              </a:rPr>
              <a:t>M</a:t>
            </a:r>
            <a:r>
              <a:rPr lang="en-US" sz="1800" b="1">
                <a:solidFill>
                  <a:schemeClr val="tx1"/>
                </a:solidFill>
                <a:latin typeface="Rockwell" panose="02060603020205020403" pitchFamily="18" charset="0"/>
              </a:rPr>
              <a:t>   </a:t>
            </a:r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|   </a:t>
            </a:r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25-26J-129</a:t>
            </a:r>
            <a:endParaRPr lang="en-US" sz="1800" b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778437"/>
      </p:ext>
    </p:extLst>
  </p:cSld>
  <p:clrMapOvr>
    <a:masterClrMapping/>
  </p:clrMapOvr>
  <p:transition spd="slow">
    <p:randomBar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39318-DB09-9A89-E2CA-7A42E1A3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9DFC9D-D186-774C-F30B-6242C97F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684000" cy="86836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Human-Guided Explainable AI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6CEF33-2997-E710-4448-DB37E6A15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Rockwell" panose="02060603020205020403" pitchFamily="18" charset="0"/>
              </a:rPr>
              <a:t>How to Evaluate/Prove Success ?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 err="1">
                <a:latin typeface="Rockwell" panose="02060603020205020403" pitchFamily="18" charset="77"/>
              </a:rPr>
              <a:t>Explainability</a:t>
            </a:r>
            <a:r>
              <a:rPr lang="en-US" sz="1800" b="1" dirty="0">
                <a:latin typeface="Rockwell" panose="02060603020205020403" pitchFamily="18" charset="77"/>
              </a:rPr>
              <a:t> Metrics:</a:t>
            </a:r>
            <a:r>
              <a:rPr lang="en-US" sz="1800" dirty="0">
                <a:latin typeface="Rockwell" panose="02060603020205020403" pitchFamily="18" charset="77"/>
              </a:rPr>
              <a:t> Quantify transparency and interpretability using fidelity, comprehensibility, and user trust scores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>
                <a:latin typeface="Rockwell" panose="02060603020205020403" pitchFamily="18" charset="77"/>
              </a:rPr>
              <a:t>Human Feedback Effectiveness:</a:t>
            </a:r>
            <a:r>
              <a:rPr lang="en-US" sz="1800" dirty="0">
                <a:latin typeface="Rockwell" panose="02060603020205020403" pitchFamily="18" charset="77"/>
              </a:rPr>
              <a:t> Measure improvement in model accuracy and error reduction from HITL interventions</a:t>
            </a:r>
          </a:p>
          <a:p>
            <a:pPr marL="0" indent="0">
              <a:buNone/>
            </a:pPr>
            <a:endParaRPr lang="en-US" sz="1800" b="1" dirty="0">
              <a:latin typeface="Rockwell" panose="02060603020205020403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Rockwell" panose="02060603020205020403" pitchFamily="18" charset="0"/>
              </a:rPr>
              <a:t>Data Availability &amp; Ethical Clearance 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>
                <a:latin typeface="Rockwell" panose="02060603020205020403" pitchFamily="18" charset="77"/>
              </a:rPr>
              <a:t>Ethical Oversight:</a:t>
            </a:r>
            <a:r>
              <a:rPr lang="en-US" sz="1800" dirty="0">
                <a:latin typeface="Rockwell" panose="02060603020205020403" pitchFamily="18" charset="77"/>
              </a:rPr>
              <a:t> Ensure human feedback processes and AI explanations comply with privacy, bias, and transparency guidelines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CED1D1-EE81-2B8C-3A20-530D9CED5FD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  <a:latin typeface="Rockwell" panose="02060603020205020403" pitchFamily="18" charset="0"/>
              </a:rPr>
              <a:t>IT22335050</a:t>
            </a:r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   |   Pathirana M </a:t>
            </a:r>
            <a:r>
              <a:rPr lang="en-US" sz="1800" err="1">
                <a:solidFill>
                  <a:schemeClr val="tx1"/>
                </a:solidFill>
                <a:latin typeface="Rockwell" panose="02060603020205020403" pitchFamily="18" charset="0"/>
              </a:rPr>
              <a:t>M</a:t>
            </a:r>
            <a:r>
              <a:rPr lang="en-US" sz="1800" b="1">
                <a:solidFill>
                  <a:schemeClr val="tx1"/>
                </a:solidFill>
                <a:latin typeface="Rockwell" panose="02060603020205020403" pitchFamily="18" charset="0"/>
              </a:rPr>
              <a:t>   </a:t>
            </a:r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|   </a:t>
            </a:r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25-26J-129</a:t>
            </a:r>
            <a:endParaRPr lang="en-US" sz="1800" b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537005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77DB9-ACB4-FBC0-2FDC-8DA1CCF4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6AB170-1432-9D8D-3C89-A79292F7D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Human-Guided Explainable AI</a:t>
            </a:r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18A5E43-76B4-2E3E-72C2-92ED20D6C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76" y="1981200"/>
            <a:ext cx="11684000" cy="2057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F6F8358-B96E-E677-828C-D9F0DE04D0D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IT22335050</a:t>
            </a:r>
            <a:r>
              <a:rPr lang="en-US" sz="1800" dirty="0">
                <a:solidFill>
                  <a:schemeClr val="tx1"/>
                </a:solidFill>
              </a:rPr>
              <a:t>   |   Pathirana M M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25-26J-129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77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23D6-8A6F-D70F-6E10-92C374CA5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F7B1C0-9B85-B93B-4C71-ACA769FED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87573"/>
            <a:ext cx="10515600" cy="108982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Human-Guided Explainable AI</a:t>
            </a:r>
            <a:endParaRPr lang="en-US" dirty="0">
              <a:latin typeface="Rockwell" panose="020606030202050204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F20EF9-C9F8-CC1D-1C55-5BAF379387E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IT22350800   |   Dasanayake D. R. L. |   25-26J-129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641B7-2D55-E779-3B53-5C713FA0B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253330"/>
            <a:ext cx="10515600" cy="499507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700" dirty="0">
                <a:latin typeface="Rockwell" panose="02060603020205020403" pitchFamily="18" charset="0"/>
              </a:rPr>
              <a:t>[1] </a:t>
            </a:r>
            <a:r>
              <a:rPr lang="en-US" sz="2700" dirty="0">
                <a:effectLst/>
                <a:latin typeface="Rockwell" panose="02060603020205020403" pitchFamily="18" charset="77"/>
              </a:rPr>
              <a:t>T. Yuen, R. Kumar, and S. Li, “Intrinsic Memory Agents for Multi-Agent Systems,” </a:t>
            </a:r>
            <a:r>
              <a:rPr lang="en-US" sz="2700" dirty="0" err="1">
                <a:effectLst/>
                <a:latin typeface="Rockwell" panose="02060603020205020403" pitchFamily="18" charset="77"/>
              </a:rPr>
              <a:t>arXiv</a:t>
            </a:r>
            <a:r>
              <a:rPr lang="en-US" sz="2700" dirty="0">
                <a:effectLst/>
                <a:latin typeface="Rockwell" panose="02060603020205020403" pitchFamily="18" charset="77"/>
              </a:rPr>
              <a:t>, 2025. [Online]. Available: </a:t>
            </a:r>
            <a:r>
              <a:rPr lang="en-US" sz="2700" dirty="0">
                <a:effectLst/>
                <a:latin typeface="Rockwell" panose="02060603020205020403" pitchFamily="18" charset="77"/>
                <a:hlinkClick r:id="rId2"/>
              </a:rPr>
              <a:t>https://</a:t>
            </a:r>
            <a:r>
              <a:rPr lang="en-US" sz="2700" dirty="0" err="1">
                <a:effectLst/>
                <a:latin typeface="Rockwell" panose="02060603020205020403" pitchFamily="18" charset="77"/>
                <a:hlinkClick r:id="rId2"/>
              </a:rPr>
              <a:t>arxiv.org</a:t>
            </a:r>
            <a:r>
              <a:rPr lang="en-US" sz="2700" dirty="0">
                <a:effectLst/>
                <a:latin typeface="Rockwell" panose="02060603020205020403" pitchFamily="18" charset="77"/>
                <a:hlinkClick r:id="rId2"/>
              </a:rPr>
              <a:t>/abs/2502.12110.</a:t>
            </a:r>
            <a:r>
              <a:rPr lang="en-US" sz="2700" dirty="0">
                <a:effectLst/>
                <a:latin typeface="Rockwell" panose="02060603020205020403" pitchFamily="18" charset="77"/>
              </a:rPr>
              <a:t> </a:t>
            </a:r>
            <a:endParaRPr lang="en-US" sz="2700" dirty="0">
              <a:latin typeface="Rockwell" panose="02060603020205020403" pitchFamily="18" charset="77"/>
            </a:endParaRPr>
          </a:p>
          <a:p>
            <a:pPr marL="0" indent="0">
              <a:buNone/>
            </a:pPr>
            <a:r>
              <a:rPr lang="en-US" sz="2700" dirty="0">
                <a:latin typeface="Rockwell" panose="02060603020205020403" pitchFamily="18" charset="0"/>
              </a:rPr>
              <a:t>[2] </a:t>
            </a:r>
            <a:r>
              <a:rPr lang="en-US" sz="2700" dirty="0">
                <a:effectLst/>
                <a:latin typeface="Rockwell" panose="02060603020205020403" pitchFamily="18" charset="77"/>
              </a:rPr>
              <a:t>“</a:t>
            </a:r>
            <a:r>
              <a:rPr lang="en-US" sz="2700" dirty="0" err="1">
                <a:effectLst/>
                <a:latin typeface="Rockwell" panose="02060603020205020403" pitchFamily="18" charset="77"/>
              </a:rPr>
              <a:t>LangChain</a:t>
            </a:r>
            <a:r>
              <a:rPr lang="en-US" sz="2700" dirty="0">
                <a:effectLst/>
                <a:latin typeface="Rockwell" panose="02060603020205020403" pitchFamily="18" charset="77"/>
              </a:rPr>
              <a:t> Documentation,” </a:t>
            </a:r>
            <a:r>
              <a:rPr lang="en-US" sz="2700" dirty="0" err="1">
                <a:effectLst/>
                <a:latin typeface="Rockwell" panose="02060603020205020403" pitchFamily="18" charset="77"/>
              </a:rPr>
              <a:t>LangChain</a:t>
            </a:r>
            <a:r>
              <a:rPr lang="en-US" sz="2700" dirty="0">
                <a:effectLst/>
                <a:latin typeface="Rockwell" panose="02060603020205020403" pitchFamily="18" charset="77"/>
              </a:rPr>
              <a:t>, 2025. [Online]. Available: </a:t>
            </a:r>
            <a:r>
              <a:rPr lang="en-US" sz="2700" dirty="0">
                <a:effectLst/>
                <a:latin typeface="Rockwell" panose="02060603020205020403" pitchFamily="18" charset="77"/>
                <a:hlinkClick r:id="rId3"/>
              </a:rPr>
              <a:t>https://</a:t>
            </a:r>
            <a:r>
              <a:rPr lang="en-US" sz="2700" dirty="0" err="1">
                <a:effectLst/>
                <a:latin typeface="Rockwell" panose="02060603020205020403" pitchFamily="18" charset="77"/>
                <a:hlinkClick r:id="rId3"/>
              </a:rPr>
              <a:t>python.langchain.com</a:t>
            </a:r>
            <a:r>
              <a:rPr lang="en-US" sz="2700" dirty="0">
                <a:effectLst/>
                <a:latin typeface="Rockwell" panose="02060603020205020403" pitchFamily="18" charset="77"/>
                <a:hlinkClick r:id="rId3"/>
              </a:rPr>
              <a:t>/docs/introduction/ </a:t>
            </a:r>
            <a:r>
              <a:rPr lang="en-US" sz="2700" dirty="0">
                <a:effectLst/>
                <a:latin typeface="Rockwell" panose="02060603020205020403" pitchFamily="18" charset="77"/>
              </a:rPr>
              <a:t>(accessed Aug. 24, 2025). </a:t>
            </a:r>
            <a:endParaRPr lang="en-US" sz="2700" dirty="0">
              <a:latin typeface="Rockwell" panose="02060603020205020403" pitchFamily="18" charset="77"/>
            </a:endParaRPr>
          </a:p>
          <a:p>
            <a:pPr marL="0" indent="0">
              <a:buNone/>
            </a:pPr>
            <a:r>
              <a:rPr lang="en-US" sz="2700" dirty="0">
                <a:latin typeface="Rockwell" panose="02060603020205020403" pitchFamily="18" charset="0"/>
              </a:rPr>
              <a:t>[3]</a:t>
            </a:r>
            <a:r>
              <a:rPr lang="en-US" sz="2700" dirty="0">
                <a:effectLst/>
                <a:latin typeface="TimesNewRomanPSMT"/>
              </a:rPr>
              <a:t> </a:t>
            </a:r>
            <a:r>
              <a:rPr lang="en-US" sz="2700" dirty="0">
                <a:effectLst/>
                <a:latin typeface="Rockwell" panose="02060603020205020403" pitchFamily="18" charset="77"/>
              </a:rPr>
              <a:t>J. M. Jackson and M. D. Pinto, “Human Near the Loop: Implications for Artificial Intelligence in Healthcare,” Clinical Nursing Research, vol. 33, no. 2–3, pp. 135–137, Jan. 2024, </a:t>
            </a:r>
            <a:r>
              <a:rPr lang="en-US" sz="2700" dirty="0" err="1">
                <a:effectLst/>
                <a:latin typeface="Rockwell" panose="02060603020205020403" pitchFamily="18" charset="77"/>
              </a:rPr>
              <a:t>doi</a:t>
            </a:r>
            <a:r>
              <a:rPr lang="en-US" sz="2700" dirty="0">
                <a:effectLst/>
                <a:latin typeface="Rockwell" panose="02060603020205020403" pitchFamily="18" charset="77"/>
              </a:rPr>
              <a:t>: </a:t>
            </a:r>
            <a:r>
              <a:rPr lang="en-US" sz="2700" dirty="0">
                <a:effectLst/>
                <a:latin typeface="Rockwell" panose="02060603020205020403" pitchFamily="18" charset="77"/>
                <a:hlinkClick r:id="rId4"/>
              </a:rPr>
              <a:t>https://</a:t>
            </a:r>
            <a:r>
              <a:rPr lang="en-US" sz="2700" dirty="0" err="1">
                <a:effectLst/>
                <a:latin typeface="Rockwell" panose="02060603020205020403" pitchFamily="18" charset="77"/>
                <a:hlinkClick r:id="rId4"/>
              </a:rPr>
              <a:t>doi.org</a:t>
            </a:r>
            <a:r>
              <a:rPr lang="en-US" sz="2700" dirty="0">
                <a:effectLst/>
                <a:latin typeface="Rockwell" panose="02060603020205020403" pitchFamily="18" charset="77"/>
                <a:hlinkClick r:id="rId4"/>
              </a:rPr>
              <a:t>/10.1177/10547738241227699 </a:t>
            </a:r>
            <a:endParaRPr lang="en-US" sz="2700" dirty="0">
              <a:latin typeface="Rockwell" panose="02060603020205020403" pitchFamily="18" charset="77"/>
            </a:endParaRPr>
          </a:p>
          <a:p>
            <a:pPr marL="0" indent="0">
              <a:buNone/>
            </a:pPr>
            <a:r>
              <a:rPr lang="en-US" sz="2700" dirty="0">
                <a:latin typeface="Rockwell" panose="02060603020205020403" pitchFamily="18" charset="0"/>
              </a:rPr>
              <a:t>[4] L. Wang et al., "Memory Techniques for Large Language Model Agents," </a:t>
            </a:r>
            <a:r>
              <a:rPr lang="en-US" sz="2700" i="1" dirty="0">
                <a:latin typeface="Rockwell" panose="02060603020205020403" pitchFamily="18" charset="0"/>
              </a:rPr>
              <a:t>The VLDB Journal</a:t>
            </a:r>
            <a:r>
              <a:rPr lang="en-US" sz="2700" dirty="0">
                <a:latin typeface="Rockwell" panose="02060603020205020403" pitchFamily="18" charset="0"/>
              </a:rPr>
              <a:t>, 2024. [Online]. Available: </a:t>
            </a:r>
            <a:r>
              <a:rPr lang="en-US" sz="2700" dirty="0">
                <a:latin typeface="Rockwell" panose="02060603020205020403" pitchFamily="18" charset="0"/>
                <a:hlinkClick r:id="rId5"/>
              </a:rPr>
              <a:t>https://link.springer.com/article/10.1007/s00778-024-00864-x</a:t>
            </a:r>
            <a:endParaRPr lang="en-US" sz="2700" dirty="0">
              <a:latin typeface="Rockwell" panose="02060603020205020403" pitchFamily="18" charset="0"/>
            </a:endParaRPr>
          </a:p>
          <a:p>
            <a:pPr marL="0" indent="0">
              <a:buNone/>
            </a:pPr>
            <a:r>
              <a:rPr lang="en-US" sz="2700" dirty="0">
                <a:latin typeface="Rockwell" panose="02060603020205020403" pitchFamily="18" charset="0"/>
              </a:rPr>
              <a:t>[5] </a:t>
            </a:r>
            <a:r>
              <a:rPr lang="en-US" sz="2700" dirty="0">
                <a:effectLst/>
                <a:latin typeface="Rockwell" panose="02060603020205020403" pitchFamily="18" charset="77"/>
              </a:rPr>
              <a:t>R. Karpas et al., “Agentic AI: Multi-Agent Planning and Reasoning for Large Language Models,” IEEE Access, 2025. [Online]. Available: </a:t>
            </a:r>
            <a:r>
              <a:rPr lang="en-US" sz="2700" dirty="0">
                <a:effectLst/>
                <a:latin typeface="Rockwell" panose="02060603020205020403" pitchFamily="18" charset="77"/>
                <a:hlinkClick r:id="rId6"/>
              </a:rPr>
              <a:t>https://</a:t>
            </a:r>
            <a:r>
              <a:rPr lang="en-US" sz="2700" dirty="0" err="1">
                <a:effectLst/>
                <a:latin typeface="Rockwell" panose="02060603020205020403" pitchFamily="18" charset="77"/>
                <a:hlinkClick r:id="rId6"/>
              </a:rPr>
              <a:t>ieeexplore.ieee.org</a:t>
            </a:r>
            <a:r>
              <a:rPr lang="en-US" sz="2700" dirty="0">
                <a:effectLst/>
                <a:latin typeface="Rockwell" panose="02060603020205020403" pitchFamily="18" charset="77"/>
                <a:hlinkClick r:id="rId6"/>
              </a:rPr>
              <a:t>/document/10849561</a:t>
            </a:r>
            <a:r>
              <a:rPr lang="en-US" sz="2700" dirty="0">
                <a:effectLst/>
                <a:latin typeface="Rockwell" panose="02060603020205020403" pitchFamily="18" charset="77"/>
              </a:rPr>
              <a:t>. </a:t>
            </a:r>
            <a:endParaRPr lang="en-US" sz="2700" dirty="0">
              <a:latin typeface="Rockwell" panose="02060603020205020403" pitchFamily="18" charset="77"/>
            </a:endParaRPr>
          </a:p>
          <a:p>
            <a:pPr marL="0" indent="0">
              <a:buNone/>
            </a:pPr>
            <a:r>
              <a:rPr lang="en-US" sz="2700" dirty="0">
                <a:latin typeface="Rockwell" panose="02060603020205020403" pitchFamily="18" charset="0"/>
              </a:rPr>
              <a:t>[6] </a:t>
            </a:r>
            <a:r>
              <a:rPr lang="en-US" sz="2700" dirty="0">
                <a:effectLst/>
                <a:latin typeface="Rockwell" panose="02060603020205020403" pitchFamily="18" charset="77"/>
              </a:rPr>
              <a:t>S. Fatemi and Y. Hu, “Enhancing Financial Question Answering with a Multi-Agent Reflection Framework,” </a:t>
            </a:r>
            <a:r>
              <a:rPr lang="en-US" sz="2700" dirty="0" err="1">
                <a:effectLst/>
                <a:latin typeface="Rockwell" panose="02060603020205020403" pitchFamily="18" charset="77"/>
              </a:rPr>
              <a:t>arXiv</a:t>
            </a:r>
            <a:r>
              <a:rPr lang="en-US" sz="2700" dirty="0">
                <a:effectLst/>
                <a:latin typeface="Rockwell" panose="02060603020205020403" pitchFamily="18" charset="77"/>
              </a:rPr>
              <a:t> (Cornell University), pp. 530–537, Nov. 2024, </a:t>
            </a:r>
            <a:r>
              <a:rPr lang="en-US" sz="2700" dirty="0" err="1">
                <a:effectLst/>
                <a:latin typeface="Rockwell" panose="02060603020205020403" pitchFamily="18" charset="77"/>
              </a:rPr>
              <a:t>doi</a:t>
            </a:r>
            <a:r>
              <a:rPr lang="en-US" sz="2700" dirty="0">
                <a:effectLst/>
                <a:latin typeface="Rockwell" panose="02060603020205020403" pitchFamily="18" charset="77"/>
              </a:rPr>
              <a:t>: </a:t>
            </a:r>
            <a:r>
              <a:rPr lang="en-US" sz="2700" dirty="0">
                <a:effectLst/>
                <a:latin typeface="Rockwell" panose="02060603020205020403" pitchFamily="18" charset="77"/>
                <a:hlinkClick r:id="rId7"/>
              </a:rPr>
              <a:t>https://</a:t>
            </a:r>
            <a:r>
              <a:rPr lang="en-US" sz="2700" dirty="0" err="1">
                <a:effectLst/>
                <a:latin typeface="Rockwell" panose="02060603020205020403" pitchFamily="18" charset="77"/>
                <a:hlinkClick r:id="rId7"/>
              </a:rPr>
              <a:t>doi.org</a:t>
            </a:r>
            <a:r>
              <a:rPr lang="en-US" sz="2700" dirty="0">
                <a:effectLst/>
                <a:latin typeface="Rockwell" panose="02060603020205020403" pitchFamily="18" charset="77"/>
                <a:hlinkClick r:id="rId7"/>
              </a:rPr>
              <a:t>/10.1145/3677052.3698686</a:t>
            </a:r>
            <a:r>
              <a:rPr lang="en-US" sz="2700" dirty="0">
                <a:effectLst/>
                <a:latin typeface="Rockwell" panose="02060603020205020403" pitchFamily="18" charset="77"/>
              </a:rPr>
              <a:t>. </a:t>
            </a:r>
            <a:endParaRPr lang="en-US" sz="2700" dirty="0">
              <a:latin typeface="Rockwell" panose="02060603020205020403" pitchFamily="18" charset="0"/>
            </a:endParaRPr>
          </a:p>
          <a:p>
            <a:pPr marL="0" indent="0">
              <a:buNone/>
            </a:pPr>
            <a:r>
              <a:rPr lang="en-US" sz="2700" dirty="0">
                <a:latin typeface="Rockwell" panose="02060603020205020403" pitchFamily="18" charset="0"/>
              </a:rPr>
              <a:t>[7</a:t>
            </a:r>
            <a:r>
              <a:rPr lang="en-US" sz="2700" dirty="0">
                <a:latin typeface="Rockwell" panose="02060603020205020403" pitchFamily="18" charset="77"/>
              </a:rPr>
              <a:t>] </a:t>
            </a:r>
            <a:r>
              <a:rPr lang="en-US" sz="2700" dirty="0">
                <a:effectLst/>
                <a:latin typeface="Rockwell" panose="02060603020205020403" pitchFamily="18" charset="77"/>
              </a:rPr>
              <a:t>N. Tan, Z. Seng, L. Zhang, Y.-C. Shih, D. Yang, and A. </a:t>
            </a:r>
            <a:r>
              <a:rPr lang="en-US" sz="2700" dirty="0" err="1">
                <a:effectLst/>
                <a:latin typeface="Rockwell" panose="02060603020205020403" pitchFamily="18" charset="77"/>
              </a:rPr>
              <a:t>Salunkhe</a:t>
            </a:r>
            <a:r>
              <a:rPr lang="en-US" sz="2700" dirty="0">
                <a:effectLst/>
                <a:latin typeface="Rockwell" panose="02060603020205020403" pitchFamily="18" charset="77"/>
              </a:rPr>
              <a:t>, “Improved LLM Agents for Financial Document Question Answering,” </a:t>
            </a:r>
            <a:r>
              <a:rPr lang="en-US" sz="2700" dirty="0" err="1">
                <a:effectLst/>
                <a:latin typeface="Rockwell" panose="02060603020205020403" pitchFamily="18" charset="77"/>
              </a:rPr>
              <a:t>arXiv.org</a:t>
            </a:r>
            <a:r>
              <a:rPr lang="en-US" sz="2700" dirty="0">
                <a:effectLst/>
                <a:latin typeface="Rockwell" panose="02060603020205020403" pitchFamily="18" charset="77"/>
              </a:rPr>
              <a:t>, 2025. </a:t>
            </a:r>
            <a:r>
              <a:rPr lang="en-US" sz="2700" dirty="0">
                <a:effectLst/>
                <a:latin typeface="Rockwell" panose="02060603020205020403" pitchFamily="18" charset="77"/>
                <a:hlinkClick r:id="rId8"/>
              </a:rPr>
              <a:t>https://</a:t>
            </a:r>
            <a:r>
              <a:rPr lang="en-US" sz="2700" dirty="0" err="1">
                <a:effectLst/>
                <a:latin typeface="Rockwell" panose="02060603020205020403" pitchFamily="18" charset="77"/>
                <a:hlinkClick r:id="rId8"/>
              </a:rPr>
              <a:t>arxiv.org</a:t>
            </a:r>
            <a:r>
              <a:rPr lang="en-US" sz="2700" dirty="0">
                <a:effectLst/>
                <a:latin typeface="Rockwell" panose="02060603020205020403" pitchFamily="18" charset="77"/>
                <a:hlinkClick r:id="rId8"/>
              </a:rPr>
              <a:t>/abs/2506.08726v1</a:t>
            </a:r>
            <a:endParaRPr lang="en-US" sz="2700" dirty="0">
              <a:latin typeface="Rockwell" panose="02060603020205020403" pitchFamily="18" charset="77"/>
            </a:endParaRPr>
          </a:p>
          <a:p>
            <a:pPr marL="0" indent="0">
              <a:buNone/>
            </a:pPr>
            <a:r>
              <a:rPr lang="en-US" sz="2700" dirty="0">
                <a:latin typeface="Rockwell" panose="02060603020205020403" pitchFamily="18" charset="0"/>
              </a:rPr>
              <a:t>[8</a:t>
            </a:r>
            <a:r>
              <a:rPr lang="en-US" sz="2700" dirty="0">
                <a:latin typeface="Rockwell" panose="02060603020205020403" pitchFamily="18" charset="77"/>
              </a:rPr>
              <a:t>] </a:t>
            </a:r>
            <a:r>
              <a:rPr lang="en-US" sz="2700" dirty="0">
                <a:effectLst/>
                <a:latin typeface="Rockwell" panose="02060603020205020403" pitchFamily="18" charset="77"/>
              </a:rPr>
              <a:t>B. Faisal and D. </a:t>
            </a:r>
            <a:r>
              <a:rPr lang="en-US" sz="2700" dirty="0" err="1">
                <a:effectLst/>
                <a:latin typeface="Rockwell" panose="02060603020205020403" pitchFamily="18" charset="77"/>
              </a:rPr>
              <a:t>Tunkel</a:t>
            </a:r>
            <a:r>
              <a:rPr lang="en-US" sz="2700" dirty="0">
                <a:effectLst/>
                <a:latin typeface="Rockwell" panose="02060603020205020403" pitchFamily="18" charset="77"/>
              </a:rPr>
              <a:t>, “Explainable AI in Multi-Agent Systems: Advancing Transparency with Layered Prompting,” Feb. 01, 2025. </a:t>
            </a:r>
            <a:r>
              <a:rPr lang="en-US" sz="2700" dirty="0">
                <a:effectLst/>
                <a:latin typeface="Rockwell" panose="02060603020205020403" pitchFamily="18" charset="77"/>
                <a:hlinkClick r:id="rId9"/>
              </a:rPr>
              <a:t>https://</a:t>
            </a:r>
            <a:r>
              <a:rPr lang="en-US" sz="2700" dirty="0" err="1">
                <a:effectLst/>
                <a:latin typeface="Rockwell" panose="02060603020205020403" pitchFamily="18" charset="77"/>
                <a:hlinkClick r:id="rId9"/>
              </a:rPr>
              <a:t>www.researchgate.net</a:t>
            </a:r>
            <a:r>
              <a:rPr lang="en-US" sz="2700" dirty="0">
                <a:effectLst/>
                <a:latin typeface="Rockwell" panose="02060603020205020403" pitchFamily="18" charset="77"/>
                <a:hlinkClick r:id="rId9"/>
              </a:rPr>
              <a:t>/publication/388835453_Explainable_AI_in_Multi- </a:t>
            </a:r>
            <a:r>
              <a:rPr lang="en-US" sz="2700" dirty="0" err="1">
                <a:effectLst/>
                <a:latin typeface="Rockwell" panose="02060603020205020403" pitchFamily="18" charset="77"/>
                <a:hlinkClick r:id="rId9"/>
              </a:rPr>
              <a:t>Agent_Systems_Advancing_Transparency_with_Layered_Prompting</a:t>
            </a:r>
            <a:r>
              <a:rPr lang="en-US" sz="2700" dirty="0">
                <a:effectLst/>
                <a:latin typeface="Rockwell" panose="02060603020205020403" pitchFamily="18" charset="77"/>
                <a:hlinkClick r:id="rId9"/>
              </a:rPr>
              <a:t> </a:t>
            </a:r>
            <a:endParaRPr lang="en-US" sz="2700" dirty="0">
              <a:latin typeface="Rockwell" panose="02060603020205020403" pitchFamily="18" charset="77"/>
            </a:endParaRPr>
          </a:p>
          <a:p>
            <a:pPr marL="0" indent="0">
              <a:buNone/>
            </a:pPr>
            <a:r>
              <a:rPr lang="en-US" sz="2700" dirty="0">
                <a:latin typeface="Rockwell" panose="02060603020205020403" pitchFamily="18" charset="0"/>
              </a:rPr>
              <a:t>[9] </a:t>
            </a:r>
            <a:r>
              <a:rPr lang="en-US" sz="2700" dirty="0">
                <a:effectLst/>
                <a:latin typeface="Rockwell" panose="02060603020205020403" pitchFamily="18" charset="77"/>
              </a:rPr>
              <a:t>“Autonomous Agents and Multi-Agent Systems,” SpringerLink, 2023. </a:t>
            </a:r>
            <a:r>
              <a:rPr lang="en-US" sz="2700" dirty="0">
                <a:effectLst/>
                <a:latin typeface="Rockwell" panose="02060603020205020403" pitchFamily="18" charset="77"/>
                <a:hlinkClick r:id="rId10"/>
              </a:rPr>
              <a:t>https://</a:t>
            </a:r>
            <a:r>
              <a:rPr lang="en-US" sz="2700" dirty="0" err="1">
                <a:effectLst/>
                <a:latin typeface="Rockwell" panose="02060603020205020403" pitchFamily="18" charset="77"/>
                <a:hlinkClick r:id="rId10"/>
              </a:rPr>
              <a:t>link.springer.com</a:t>
            </a:r>
            <a:r>
              <a:rPr lang="en-US" sz="2700" dirty="0">
                <a:effectLst/>
                <a:latin typeface="Rockwell" panose="02060603020205020403" pitchFamily="18" charset="77"/>
                <a:hlinkClick r:id="rId10"/>
              </a:rPr>
              <a:t>/journal/10458/updates/25215240 </a:t>
            </a:r>
            <a:endParaRPr lang="en-US" sz="2700" dirty="0">
              <a:latin typeface="Rockwell" panose="02060603020205020403" pitchFamily="18" charset="77"/>
            </a:endParaRPr>
          </a:p>
          <a:p>
            <a:pPr marL="0" indent="0">
              <a:buNone/>
            </a:pPr>
            <a:r>
              <a:rPr lang="en-US" sz="2700" dirty="0">
                <a:latin typeface="Rockwell" panose="02060603020205020403" pitchFamily="18" charset="0"/>
              </a:rPr>
              <a:t>[10] </a:t>
            </a:r>
            <a:r>
              <a:rPr lang="en-US" sz="2700" dirty="0">
                <a:effectLst/>
                <a:latin typeface="Rockwell" panose="02060603020205020403" pitchFamily="18" charset="77"/>
              </a:rPr>
              <a:t>“(PDF) Explainable AI: A Brief Survey on History, Research Areas, Approaches and Challenges,” ResearchGate. https://</a:t>
            </a:r>
            <a:r>
              <a:rPr lang="en-US" sz="2700" dirty="0" err="1">
                <a:effectLst/>
                <a:latin typeface="Rockwell" panose="02060603020205020403" pitchFamily="18" charset="77"/>
              </a:rPr>
              <a:t>www.researchgate.net</a:t>
            </a:r>
            <a:r>
              <a:rPr lang="en-US" sz="2700" dirty="0">
                <a:effectLst/>
                <a:latin typeface="Rockwell" panose="02060603020205020403" pitchFamily="18" charset="77"/>
              </a:rPr>
              <a:t>/publication/336131051_Explainable_AI_A_Brief_Survey_ </a:t>
            </a:r>
            <a:r>
              <a:rPr lang="en-US" sz="2700" dirty="0" err="1">
                <a:effectLst/>
                <a:latin typeface="Rockwell" panose="02060603020205020403" pitchFamily="18" charset="77"/>
              </a:rPr>
              <a:t>on_History_Research_Areas_Approaches_and_Challenges</a:t>
            </a:r>
            <a:r>
              <a:rPr lang="en-US" sz="2700" dirty="0">
                <a:effectLst/>
                <a:latin typeface="Rockwell" panose="02060603020205020403" pitchFamily="18" charset="77"/>
              </a:rPr>
              <a:t> </a:t>
            </a:r>
            <a:endParaRPr lang="en-US" sz="2700" dirty="0">
              <a:latin typeface="Rockwell" panose="02060603020205020403" pitchFamily="18" charset="77"/>
            </a:endParaRPr>
          </a:p>
          <a:p>
            <a:endParaRPr lang="en-AS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767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CD4FD-BD8A-4618-2385-A81287D4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03CE7C-2E7A-BA66-A219-3BFE1C684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935" y="83124"/>
            <a:ext cx="11235447" cy="451898"/>
          </a:xfrm>
        </p:spPr>
        <p:txBody>
          <a:bodyPr>
            <a:normAutofit/>
          </a:bodyPr>
          <a:lstStyle/>
          <a:p>
            <a:r>
              <a:rPr lang="en-US" sz="1800"/>
              <a:t>Interaction Between </a:t>
            </a:r>
            <a:r>
              <a:rPr lang="en-US" sz="1800" b="1"/>
              <a:t>AHMN</a:t>
            </a:r>
            <a:r>
              <a:rPr lang="en-US" sz="1800"/>
              <a:t> &amp; </a:t>
            </a:r>
            <a:r>
              <a:rPr lang="en-US" sz="1800" b="1"/>
              <a:t>IDPO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989F2B-0B1D-0CC2-CE78-960409ACA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030" y="535022"/>
            <a:ext cx="11442970" cy="58755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/>
              <a:t>How IDPO Uses AHMN’s Memory</a:t>
            </a:r>
          </a:p>
          <a:p>
            <a:r>
              <a:rPr lang="en-US" sz="1600" b="1"/>
              <a:t>Policy Advice (Preprocessing)</a:t>
            </a:r>
            <a:endParaRPr lang="en-US" sz="1600"/>
          </a:p>
          <a:p>
            <a:pPr lvl="1"/>
            <a:r>
              <a:rPr lang="en-US" sz="1400"/>
              <a:t>Q: </a:t>
            </a:r>
            <a:r>
              <a:rPr lang="en-US" sz="1400" i="1"/>
              <a:t>“For this doc type, vendor/layout, quality bin → which policy works best?” </a:t>
            </a:r>
            <a:r>
              <a:rPr lang="en-US" sz="1400"/>
              <a:t>A: AHMN returns </a:t>
            </a:r>
            <a:r>
              <a:rPr lang="en-US" sz="1400" b="1"/>
              <a:t>ranked policy IDs</a:t>
            </a:r>
            <a:r>
              <a:rPr lang="en-US" sz="1400"/>
              <a:t> (scored by </a:t>
            </a:r>
            <a:r>
              <a:rPr lang="en-US" sz="1400" b="1"/>
              <a:t>Recency × Lift × Similarity</a:t>
            </a:r>
            <a:r>
              <a:rPr lang="en-US" sz="1400"/>
              <a:t>).</a:t>
            </a:r>
          </a:p>
          <a:p>
            <a:r>
              <a:rPr lang="en-US" sz="1600" b="1"/>
              <a:t>Context Bundle for Extraction (RAG)</a:t>
            </a:r>
            <a:endParaRPr lang="en-US" sz="1600"/>
          </a:p>
          <a:p>
            <a:pPr lvl="1"/>
            <a:r>
              <a:rPr lang="en-US" sz="1400"/>
              <a:t>Templates (fields, aliases, rules) Validators (regex, codebooks) Fix snippets (vendor-specific tips) → Guides IDPO’s extractor + retries</a:t>
            </a:r>
          </a:p>
          <a:p>
            <a:r>
              <a:rPr lang="en-US" sz="1600" b="1"/>
              <a:t>Field-Level Recovery</a:t>
            </a:r>
            <a:endParaRPr lang="en-US" sz="1600"/>
          </a:p>
          <a:p>
            <a:pPr lvl="1"/>
            <a:r>
              <a:rPr lang="en-US" sz="1400"/>
              <a:t>For low-confidence fields → IDPO requests </a:t>
            </a:r>
            <a:r>
              <a:rPr lang="en-US" sz="1400" b="1"/>
              <a:t>hints/examples</a:t>
            </a:r>
            <a:endParaRPr lang="en-US" sz="1400"/>
          </a:p>
          <a:p>
            <a:pPr lvl="1"/>
            <a:r>
              <a:rPr lang="en-US" sz="1400"/>
              <a:t>AHMN provides </a:t>
            </a:r>
            <a:r>
              <a:rPr lang="en-US" sz="1400" b="1"/>
              <a:t>fix snippets</a:t>
            </a:r>
            <a:r>
              <a:rPr lang="en-US" sz="1400"/>
              <a:t> to sharpen recovery</a:t>
            </a:r>
          </a:p>
          <a:p>
            <a:pPr marL="0" indent="0">
              <a:buNone/>
            </a:pPr>
            <a:r>
              <a:rPr lang="en-US" sz="1600" b="1"/>
              <a:t>How IDPO Feeds Back Into AHMN</a:t>
            </a:r>
          </a:p>
          <a:p>
            <a:r>
              <a:rPr lang="en-US" sz="1600" b="1"/>
              <a:t>Outcome Logging</a:t>
            </a:r>
            <a:endParaRPr lang="en-US" sz="1600"/>
          </a:p>
          <a:p>
            <a:pPr lvl="1"/>
            <a:r>
              <a:rPr lang="en-US" sz="1600"/>
              <a:t>Chosen preprocessing policy, </a:t>
            </a:r>
            <a:r>
              <a:rPr lang="en-US" sz="1600" err="1"/>
              <a:t>PolicyOutcome</a:t>
            </a:r>
            <a:r>
              <a:rPr lang="en-US" sz="1600"/>
              <a:t>: OCR WER, layout F1, field F1, cost, latency, Extraction results: accepted / escalated / failed fields</a:t>
            </a:r>
          </a:p>
          <a:p>
            <a:r>
              <a:rPr lang="en-US" sz="1600" b="1"/>
              <a:t>Consolidation &amp; Updates</a:t>
            </a:r>
            <a:endParaRPr lang="en-US" sz="1600"/>
          </a:p>
          <a:p>
            <a:pPr lvl="1"/>
            <a:r>
              <a:rPr lang="en-US" sz="1600"/>
              <a:t>AHMN promotes </a:t>
            </a:r>
            <a:r>
              <a:rPr lang="en-US" sz="1600" b="1"/>
              <a:t>policies/templates</a:t>
            </a:r>
            <a:r>
              <a:rPr lang="en-US" sz="1600"/>
              <a:t> with positive lift, Demotes those with drift/regressions, Updates </a:t>
            </a:r>
            <a:r>
              <a:rPr lang="en-US" sz="1600" b="1" err="1"/>
              <a:t>PreprocPolicyMemory</a:t>
            </a:r>
            <a:r>
              <a:rPr lang="en-US" sz="1600"/>
              <a:t> with new vendor/layout mappings</a:t>
            </a:r>
          </a:p>
          <a:p>
            <a:r>
              <a:rPr lang="en-US" sz="1600" b="1"/>
              <a:t>Cross-Domain Transfer</a:t>
            </a:r>
            <a:endParaRPr lang="en-US" sz="1600"/>
          </a:p>
          <a:p>
            <a:pPr lvl="1"/>
            <a:r>
              <a:rPr lang="en-US" sz="1600"/>
              <a:t>If Policy A works for Vendor X → suggest for Vendor Y with </a:t>
            </a:r>
            <a:r>
              <a:rPr lang="en-US" sz="1600" b="1"/>
              <a:t>similar layout cluster, </a:t>
            </a:r>
            <a:r>
              <a:rPr lang="en-US" sz="1600"/>
              <a:t>Transfer suggestions provided to IDPO during future advice</a:t>
            </a:r>
          </a:p>
          <a:p>
            <a:pPr marL="0" indent="0">
              <a:buNone/>
            </a:pPr>
            <a:endParaRPr lang="en-US" sz="1600" b="1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690465787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7D4E7-BB28-97F1-B63E-7952F68E9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72856A-E444-DB47-068F-C475C2F51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82" y="2158016"/>
            <a:ext cx="11191568" cy="1514475"/>
          </a:xfrm>
        </p:spPr>
        <p:txBody>
          <a:bodyPr>
            <a:normAutofit/>
          </a:bodyPr>
          <a:lstStyle/>
          <a:p>
            <a:r>
              <a:rPr lang="en-US" sz="4400">
                <a:latin typeface="Rockwell Nova" panose="02060503020205020403" pitchFamily="18" charset="0"/>
                <a:cs typeface="Times New Roman" panose="02020603050405020304" pitchFamily="18" charset="0"/>
              </a:rPr>
              <a:t>Hallucination Detection and Guardrails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DF5CF3-2BBF-B1C1-AC0C-A03D20AA2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682" y="4589463"/>
            <a:ext cx="10515600" cy="1500187"/>
          </a:xfrm>
        </p:spPr>
        <p:txBody>
          <a:bodyPr/>
          <a:lstStyle/>
          <a:p>
            <a:pPr algn="ctr"/>
            <a:r>
              <a:rPr lang="en-US">
                <a:latin typeface="Rockwell" panose="02060603020205020403" pitchFamily="18" charset="0"/>
              </a:rPr>
              <a:t>BSc (Hons) in Information Technology Specializing in Data Science</a:t>
            </a:r>
          </a:p>
        </p:txBody>
      </p:sp>
      <p:pic>
        <p:nvPicPr>
          <p:cNvPr id="3" name="Picture 2" descr="A person in a suit and tie&#10;&#10;AI-generated content may be incorrect.">
            <a:extLst>
              <a:ext uri="{FF2B5EF4-FFF2-40B4-BE49-F238E27FC236}">
                <a16:creationId xmlns:a16="http://schemas.microsoft.com/office/drawing/2014/main" id="{010B29A0-CC4A-579E-4FBD-AE9CC206B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049" y="34021"/>
            <a:ext cx="2057400" cy="26452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E4522F-6DA5-433A-4FC0-47A540280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412" y="6471813"/>
            <a:ext cx="5774672" cy="36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48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7991C-F359-C260-944D-EB5E465AA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1AE2CE-AE77-4AC6-B8BF-DAA97144B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684000" cy="868362"/>
          </a:xfrm>
        </p:spPr>
        <p:txBody>
          <a:bodyPr>
            <a:normAutofit/>
          </a:bodyPr>
          <a:lstStyle/>
          <a:p>
            <a:r>
              <a:rPr lang="en-US">
                <a:latin typeface="Rockwell Nova" panose="02060503020205020403" pitchFamily="18" charset="0"/>
                <a:cs typeface="Times New Roman" panose="02020603050405020304" pitchFamily="18" charset="0"/>
              </a:rPr>
              <a:t>Hallucination Detection and Guardrails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65D27C-3051-A748-F3A5-40038D6BD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b="1">
                <a:latin typeface="Rockwell" panose="02060603020205020403" pitchFamily="18" charset="0"/>
                <a:cs typeface="Times New Roman" panose="02020603050405020304" pitchFamily="18" charset="0"/>
              </a:rPr>
              <a:t>Research Gap</a:t>
            </a:r>
          </a:p>
          <a:p>
            <a:pPr lvl="1" algn="just"/>
            <a:r>
              <a:rPr lang="en-US" sz="1800">
                <a:latin typeface="Rockwell" panose="02060603020205020403" pitchFamily="18" charset="0"/>
                <a:cs typeface="Times New Roman" panose="02020603050405020304" pitchFamily="18" charset="0"/>
              </a:rPr>
              <a:t>Lack of consistently reliable metrics or frameworks to quantify and validate high volume AI-generated content accuracy before user interaction.  </a:t>
            </a:r>
            <a:r>
              <a:rPr lang="en-US" sz="1200">
                <a:latin typeface="Rockwell" panose="02060603020205020403" pitchFamily="18" charset="0"/>
                <a:cs typeface="Times New Roman" panose="02020603050405020304" pitchFamily="18" charset="0"/>
              </a:rPr>
              <a:t>[Rule based detection - </a:t>
            </a:r>
            <a:r>
              <a:rPr lang="en-US" sz="1200" err="1">
                <a:latin typeface="Rockwell" panose="02060603020205020403" pitchFamily="18" charset="0"/>
                <a:cs typeface="Times New Roman" panose="02020603050405020304" pitchFamily="18" charset="0"/>
              </a:rPr>
              <a:t>Wildflare</a:t>
            </a:r>
            <a:r>
              <a:rPr lang="en-US" sz="1200">
                <a:latin typeface="Rockwell" panose="02060603020205020403" pitchFamily="18" charset="0"/>
                <a:cs typeface="Times New Roman" panose="02020603050405020304" pitchFamily="18" charset="0"/>
              </a:rPr>
              <a:t> Guardrail Pipeline]</a:t>
            </a:r>
          </a:p>
          <a:p>
            <a:pPr algn="just"/>
            <a:r>
              <a:rPr lang="en-US" sz="2200" b="1">
                <a:latin typeface="Rockwell" panose="02060603020205020403" pitchFamily="18" charset="0"/>
                <a:cs typeface="Times New Roman" panose="02020603050405020304" pitchFamily="18" charset="0"/>
              </a:rPr>
              <a:t>Provided Solution</a:t>
            </a:r>
          </a:p>
          <a:p>
            <a:pPr lvl="1" algn="just"/>
            <a:r>
              <a:rPr lang="en-US" sz="1800">
                <a:latin typeface="Rockwell" panose="02060603020205020403" pitchFamily="18" charset="0"/>
              </a:rPr>
              <a:t>Multi-layered detection + guardrails (semantic, prompt, consistency, token checks); automatic flag/block/escalate.</a:t>
            </a:r>
            <a:endParaRPr lang="en-US" sz="1800">
              <a:latin typeface="Rockwell" panose="02060603020205020403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918519-7E9B-EC37-82FF-9305826AF22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IT22910936   |   Wijetunga W.L.A.T. |   25-26J-129</a:t>
            </a:r>
          </a:p>
        </p:txBody>
      </p:sp>
    </p:spTree>
    <p:extLst>
      <p:ext uri="{BB962C8B-B14F-4D97-AF65-F5344CB8AC3E}">
        <p14:creationId xmlns:p14="http://schemas.microsoft.com/office/powerpoint/2010/main" val="4248971360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6B136-AC01-0862-DB5D-D43991318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20AED2-4EB6-381A-0DBD-A8CF5E6EC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684000" cy="868362"/>
          </a:xfrm>
        </p:spPr>
        <p:txBody>
          <a:bodyPr>
            <a:normAutofit/>
          </a:bodyPr>
          <a:lstStyle/>
          <a:p>
            <a:r>
              <a:rPr lang="en-US">
                <a:latin typeface="Rockwell Nova" panose="02060503020205020403" pitchFamily="18" charset="0"/>
                <a:cs typeface="Times New Roman" panose="02020603050405020304" pitchFamily="18" charset="0"/>
              </a:rPr>
              <a:t>Hallucination Detection and Guardrails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218639-BE26-0A65-481B-777BC1A4A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b="1">
                <a:latin typeface="Rockwell" panose="02060603020205020403" pitchFamily="18" charset="0"/>
                <a:cs typeface="Times New Roman" panose="02020603050405020304" pitchFamily="18" charset="0"/>
              </a:rPr>
              <a:t>Application of Specialization-based Knowledge</a:t>
            </a:r>
          </a:p>
          <a:p>
            <a:pPr lvl="1" algn="just"/>
            <a:r>
              <a:rPr lang="en-US" sz="1800">
                <a:latin typeface="Rockwell" panose="02060603020205020403" pitchFamily="18" charset="0"/>
                <a:cs typeface="Times New Roman" panose="02020603050405020304" pitchFamily="18" charset="0"/>
              </a:rPr>
              <a:t>Domains: NLP, AI Trust &amp; Safety, Model Evaluation.</a:t>
            </a:r>
          </a:p>
          <a:p>
            <a:pPr lvl="1" algn="just"/>
            <a:r>
              <a:rPr lang="en-US" sz="1800">
                <a:latin typeface="Rockwell" panose="02060603020205020403" pitchFamily="18" charset="0"/>
                <a:cs typeface="Times New Roman" panose="02020603050405020304" pitchFamily="18" charset="0"/>
              </a:rPr>
              <a:t>Technologies: BERT, RAG, semantic embeddings, validator LLMs tools like </a:t>
            </a:r>
            <a:r>
              <a:rPr lang="en-US" sz="1800" err="1">
                <a:latin typeface="Rockwell" panose="02060603020205020403" pitchFamily="18" charset="0"/>
                <a:cs typeface="Times New Roman" panose="02020603050405020304" pitchFamily="18" charset="0"/>
              </a:rPr>
              <a:t>FacTool</a:t>
            </a:r>
            <a:r>
              <a:rPr lang="en-US" sz="1800">
                <a:latin typeface="Rockwell" panose="02060603020205020403" pitchFamily="18" charset="0"/>
                <a:cs typeface="Times New Roman" panose="02020603050405020304" pitchFamily="18" charset="0"/>
              </a:rPr>
              <a:t>/</a:t>
            </a:r>
            <a:r>
              <a:rPr lang="en-US" sz="1800" err="1">
                <a:latin typeface="Rockwell" panose="02060603020205020403" pitchFamily="18" charset="0"/>
                <a:cs typeface="Times New Roman" panose="02020603050405020304" pitchFamily="18" charset="0"/>
              </a:rPr>
              <a:t>SelfCheckGPT</a:t>
            </a:r>
            <a:r>
              <a:rPr lang="en-US" sz="1800">
                <a:latin typeface="Rockwell" panose="02060603020205020403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sz="1800">
                <a:latin typeface="Rockwell" panose="02060603020205020403" pitchFamily="18" charset="0"/>
                <a:cs typeface="Times New Roman" panose="02020603050405020304" pitchFamily="18" charset="0"/>
              </a:rPr>
              <a:t>Evaluation: Compare to gold standards; cross-checked outputs; aim up to 80% accuracy. (Approx. metrics)</a:t>
            </a:r>
          </a:p>
          <a:p>
            <a:pPr lvl="1" algn="just"/>
            <a:r>
              <a:rPr lang="en-US" sz="1800">
                <a:latin typeface="Rockwell" panose="02060603020205020403" pitchFamily="18" charset="0"/>
                <a:cs typeface="Times New Roman" panose="02020603050405020304" pitchFamily="18" charset="0"/>
              </a:rPr>
              <a:t>Data/Ethics: Uses open datasets, ethical review, privacy upheld.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FC8F5D-CA0C-8D58-F65A-2D11A0A915E4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IT22910936   |   Wijetunga W.L.A.T. |   25-26J-129</a:t>
            </a:r>
          </a:p>
        </p:txBody>
      </p:sp>
    </p:spTree>
    <p:extLst>
      <p:ext uri="{BB962C8B-B14F-4D97-AF65-F5344CB8AC3E}">
        <p14:creationId xmlns:p14="http://schemas.microsoft.com/office/powerpoint/2010/main" val="2347887893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DC82-B270-18D6-D727-4D9B2D452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9DEB16-488A-4980-5A7A-64082F371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684000" cy="868362"/>
          </a:xfrm>
        </p:spPr>
        <p:txBody>
          <a:bodyPr>
            <a:normAutofit/>
          </a:bodyPr>
          <a:lstStyle/>
          <a:p>
            <a:r>
              <a:rPr lang="en-US">
                <a:latin typeface="Rockwell" panose="02060603020205020403" pitchFamily="18" charset="0"/>
                <a:cs typeface="Times New Roman" panose="02020603050405020304" pitchFamily="18" charset="0"/>
              </a:rPr>
              <a:t>Hallucination Detection and Guardrails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B51157-D256-93C8-67BE-924A8D373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b="1">
                <a:latin typeface="Rockwell" panose="02060603020205020403" pitchFamily="18" charset="0"/>
                <a:cs typeface="Times New Roman" panose="02020603050405020304" pitchFamily="18" charset="0"/>
              </a:rPr>
              <a:t>Evaluation/Validation:</a:t>
            </a:r>
          </a:p>
          <a:p>
            <a:pPr lvl="1" algn="just"/>
            <a:r>
              <a:rPr lang="en-US" sz="1800">
                <a:latin typeface="Rockwell" panose="02060603020205020403" pitchFamily="18" charset="0"/>
                <a:cs typeface="Times New Roman" panose="02020603050405020304" pitchFamily="18" charset="0"/>
              </a:rPr>
              <a:t>Benchmark vs. expert (“gold standard”) answers</a:t>
            </a:r>
          </a:p>
          <a:p>
            <a:pPr lvl="1" algn="just"/>
            <a:r>
              <a:rPr lang="en-US" sz="1800">
                <a:latin typeface="Rockwell" panose="02060603020205020403" pitchFamily="18" charset="0"/>
                <a:cs typeface="Times New Roman" panose="02020603050405020304" pitchFamily="18" charset="0"/>
              </a:rPr>
              <a:t>Ensemble scoring (accuracy, grounding, consistency)</a:t>
            </a:r>
          </a:p>
          <a:p>
            <a:pPr lvl="3" algn="just"/>
            <a:r>
              <a:rPr lang="en-US" sz="1200">
                <a:latin typeface="Rockwell" panose="02060603020205020403" pitchFamily="18" charset="0"/>
                <a:cs typeface="Times New Roman" panose="02020603050405020304" pitchFamily="18" charset="0"/>
              </a:rPr>
              <a:t>Entropy – Captures answer uncertainty</a:t>
            </a:r>
          </a:p>
          <a:p>
            <a:pPr lvl="3" algn="just"/>
            <a:r>
              <a:rPr lang="en-US" sz="1200">
                <a:latin typeface="Rockwell" panose="02060603020205020403" pitchFamily="18" charset="0"/>
                <a:cs typeface="Times New Roman" panose="02020603050405020304" pitchFamily="18" charset="0"/>
              </a:rPr>
              <a:t>Semantic Similarity – Measures the closeness between generated answer and its supporting context</a:t>
            </a:r>
          </a:p>
          <a:p>
            <a:pPr lvl="3" algn="just"/>
            <a:r>
              <a:rPr lang="en-US" sz="1200">
                <a:latin typeface="Rockwell" panose="02060603020205020403" pitchFamily="18" charset="0"/>
                <a:cs typeface="Times New Roman" panose="02020603050405020304" pitchFamily="18" charset="0"/>
              </a:rPr>
              <a:t>Schema Checks – Detects structural or domain violations</a:t>
            </a:r>
          </a:p>
          <a:p>
            <a:pPr lvl="1" algn="just"/>
            <a:r>
              <a:rPr lang="en-US" sz="1800">
                <a:latin typeface="Rockwell" panose="02060603020205020403" pitchFamily="18" charset="0"/>
                <a:cs typeface="Times New Roman" panose="02020603050405020304" pitchFamily="18" charset="0"/>
              </a:rPr>
              <a:t>Success metric: up to 80% detection accuracy (Approx. estimation)</a:t>
            </a:r>
          </a:p>
          <a:p>
            <a:pPr algn="just"/>
            <a:r>
              <a:rPr lang="en-US" sz="2200" b="1">
                <a:latin typeface="Rockwell" panose="02060603020205020403" pitchFamily="18" charset="0"/>
                <a:cs typeface="Times New Roman" panose="02020603050405020304" pitchFamily="18" charset="0"/>
              </a:rPr>
              <a:t>Data &amp; Ethics:</a:t>
            </a:r>
          </a:p>
          <a:p>
            <a:pPr lvl="1" algn="just"/>
            <a:r>
              <a:rPr lang="en-US" sz="1800">
                <a:latin typeface="Rockwell" panose="02060603020205020403" pitchFamily="18" charset="0"/>
                <a:cs typeface="Times New Roman" panose="02020603050405020304" pitchFamily="18" charset="0"/>
              </a:rPr>
              <a:t>Uses open-access, permission-cleared datasets</a:t>
            </a:r>
          </a:p>
          <a:p>
            <a:pPr lvl="1" algn="just"/>
            <a:r>
              <a:rPr lang="en-US" sz="1800">
                <a:latin typeface="Rockwell" panose="02060603020205020403" pitchFamily="18" charset="0"/>
                <a:cs typeface="Times New Roman" panose="02020603050405020304" pitchFamily="18" charset="0"/>
              </a:rPr>
              <a:t>Follows privacy standards, ethical review for validation and human-in-the-loop feedback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F2A90-4A28-F363-87EA-3FDF2FB9BAC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IT22910936   |   Wijetunga W.L.A.T. |   25-26J-129</a:t>
            </a:r>
          </a:p>
        </p:txBody>
      </p:sp>
    </p:spTree>
    <p:extLst>
      <p:ext uri="{BB962C8B-B14F-4D97-AF65-F5344CB8AC3E}">
        <p14:creationId xmlns:p14="http://schemas.microsoft.com/office/powerpoint/2010/main" val="2885073116"/>
      </p:ext>
    </p:extLst>
  </p:cSld>
  <p:clrMapOvr>
    <a:masterClrMapping/>
  </p:clrMapOvr>
  <p:transition spd="slow">
    <p:randomBar dir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0D8B1-2398-5684-438A-E001F17E9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981E83-26C8-52E4-61EC-D48E31E5F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01748" cy="1325563"/>
          </a:xfrm>
        </p:spPr>
        <p:txBody>
          <a:bodyPr>
            <a:normAutofit/>
          </a:bodyPr>
          <a:lstStyle/>
          <a:p>
            <a:r>
              <a:rPr lang="en-US">
                <a:latin typeface="Rockwell" panose="02060603020205020403" pitchFamily="18" charset="0"/>
              </a:rPr>
              <a:t>Hallucination Detection and Guardrails </a:t>
            </a:r>
            <a:r>
              <a:rPr lang="en-US" err="1">
                <a:latin typeface="Rockwell" panose="02060603020205020403" pitchFamily="18" charset="0"/>
              </a:rPr>
              <a:t>Famework</a:t>
            </a:r>
            <a:endParaRPr lang="en-US">
              <a:latin typeface="Rockwell" panose="02060603020205020403" pitchFamily="18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44CBA66-F993-2405-22E1-FB956D318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8947" y="1825625"/>
            <a:ext cx="4514106" cy="43513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C0F5DD2-F06A-A193-1541-3D2AF9801123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Rockwell" panose="02060603020205020403" pitchFamily="18" charset="0"/>
              </a:rPr>
              <a:t>IT22910936   |   Wijetunga W.L.A.T. |   25-26J-129</a:t>
            </a:r>
          </a:p>
        </p:txBody>
      </p:sp>
    </p:spTree>
    <p:extLst>
      <p:ext uri="{BB962C8B-B14F-4D97-AF65-F5344CB8AC3E}">
        <p14:creationId xmlns:p14="http://schemas.microsoft.com/office/powerpoint/2010/main" val="3809179479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29B64-F8EF-1951-8CB6-CB809F0DA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66D268-6FAF-7E42-93B7-87177FEDF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684000" cy="868362"/>
          </a:xfrm>
        </p:spPr>
        <p:txBody>
          <a:bodyPr>
            <a:normAutofit/>
          </a:bodyPr>
          <a:lstStyle/>
          <a:p>
            <a:r>
              <a:rPr lang="en-US">
                <a:latin typeface="Rockwell" panose="02060603020205020403" pitchFamily="18" charset="0"/>
                <a:cs typeface="Times New Roman" panose="02020603050405020304" pitchFamily="18" charset="0"/>
              </a:rPr>
              <a:t>Hallucination Detection and Guardrails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C142B-FDCE-FBAB-FEF6-0892284F3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sz="1600"/>
              <a:t>[1] J. M. Jackson and M. D. Pinto, “Human Near the Loop: Implications for Artificial Intelligence in Healthcare,” Clinical nursing research, vol. 33, no. 2–3, pp. 135–137, Jan. 2024, </a:t>
            </a:r>
            <a:r>
              <a:rPr lang="en-US" sz="1600" err="1"/>
              <a:t>doi</a:t>
            </a:r>
            <a:r>
              <a:rPr lang="en-US" sz="1600"/>
              <a:t>: https://doi.org/10.1177/10547738241227699 </a:t>
            </a:r>
          </a:p>
          <a:p>
            <a:pPr algn="just"/>
            <a:r>
              <a:rPr lang="en-US" sz="1600"/>
              <a:t>[2] X. Wu, T. Ma, X. Li, Q. Chen, and L. He, “Human-in-the-loop document layout analysis,” </a:t>
            </a:r>
            <a:r>
              <a:rPr lang="en-US" sz="1600" err="1"/>
              <a:t>arXiv</a:t>
            </a:r>
            <a:r>
              <a:rPr lang="en-US" sz="1600"/>
              <a:t>, 2021. [Online]. Available: http://arno.uvt.nl/show.cgi?fid=160955 </a:t>
            </a:r>
          </a:p>
          <a:p>
            <a:pPr algn="just"/>
            <a:r>
              <a:rPr lang="en-US" sz="1600"/>
              <a:t>[3] D. </a:t>
            </a:r>
            <a:r>
              <a:rPr lang="en-US" sz="1600" err="1"/>
              <a:t>Gosmar</a:t>
            </a:r>
            <a:r>
              <a:rPr lang="en-US" sz="1600"/>
              <a:t> and D. A. Dahl, “Hallucination Mitigation using Agentic AI Natural Language-Based Frameworks,” arXiv.org, 2025. https://arxiv.org/abs/2501.13946 </a:t>
            </a:r>
          </a:p>
          <a:p>
            <a:pPr algn="just"/>
            <a:r>
              <a:rPr lang="en-US" sz="1600"/>
              <a:t>[4] A. Kovacs, “</a:t>
            </a:r>
            <a:r>
              <a:rPr lang="en-US" sz="1600" err="1"/>
              <a:t>LettuceDetect</a:t>
            </a:r>
            <a:r>
              <a:rPr lang="en-US" sz="1600"/>
              <a:t>: A Hallucination Detection Framework for RAG Applications | Towards Data Science,” Towards Data Science, Mar. 10, 2025. https://towardsdatascience.com/lettucedetect-a-hallucination-detection-framework-for rag-applications/(accessed Aug. 24, 2025). </a:t>
            </a:r>
          </a:p>
          <a:p>
            <a:pPr algn="just"/>
            <a:r>
              <a:rPr lang="en-US" sz="1600"/>
              <a:t>[5] J. Song et al., “RAG-HAT: A Hallucination-Aware Tuning Pipeline for LLM in Retrieval-Augmented Generation,” 2024. Available: https://aclanthology.org/2024.emnlp-industry.113.pdf </a:t>
            </a:r>
          </a:p>
          <a:p>
            <a:pPr algn="just"/>
            <a:r>
              <a:rPr lang="en-US" sz="1600"/>
              <a:t>[6] “Benchmarking Hallucination Detection Methods in RAG,” </a:t>
            </a:r>
            <a:r>
              <a:rPr lang="en-US" sz="1600" err="1"/>
              <a:t>Cleanlab</a:t>
            </a:r>
            <a:r>
              <a:rPr lang="en-US" sz="1600"/>
              <a:t>, 2024. https://cleanlab.ai/blog/rag-tlm-hallucination-benchmarking/ (accessed Aug. 24, 2025). </a:t>
            </a:r>
          </a:p>
          <a:p>
            <a:pPr algn="just"/>
            <a:r>
              <a:rPr lang="en-US" sz="1600"/>
              <a:t>[7] M. Humbert-Droz, “Detecting Hallucinations in Healthcare AI,” Medium, May 28, 2025. https://pub.towardsai.net/detecting-hallucinations-in-healthcare-ai-99aa67e55bb7 (accessed Aug. 24, 2025). </a:t>
            </a:r>
          </a:p>
          <a:p>
            <a:pPr algn="just"/>
            <a:r>
              <a:rPr lang="en-US" sz="1600"/>
              <a:t>[8] “Detect hallucinations for RAG-based systems | Amazon Web Services,” Amazon Web Services, May 16, 2025. https://aws.amazon.com/blogs/machine-learning/detect hallucinations-for-rag-based-systems/ (accessed Aug. 24, 2025). 21 </a:t>
            </a:r>
          </a:p>
          <a:p>
            <a:pPr algn="just"/>
            <a:r>
              <a:rPr lang="en-US" sz="1600"/>
              <a:t>[9] K. Pavan, “Building Agentic RAG Pipelines for Medical Data with </a:t>
            </a:r>
            <a:r>
              <a:rPr lang="en-US" sz="1600" err="1"/>
              <a:t>CrewAI</a:t>
            </a:r>
            <a:r>
              <a:rPr lang="en-US" sz="1600"/>
              <a:t> and </a:t>
            </a:r>
            <a:r>
              <a:rPr lang="en-US" sz="1600" err="1"/>
              <a:t>Qdrant</a:t>
            </a:r>
            <a:r>
              <a:rPr lang="en-US" sz="1600"/>
              <a:t>,” Medium, Jan. 12, 2025. https://ai.gopubby.com/building-agentic-rag-pipelines for-medical-data-with-crewai-and-qdrant-3a00a48fb0d1 (accessed Aug. 24, 2025).</a:t>
            </a:r>
            <a:endParaRPr lang="en-US" sz="1800">
              <a:latin typeface="Rockwell" panose="02060603020205020403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88964D-F3EE-BFC2-BAC5-A920614A46E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IT22910936   |   Wijetunga W.L.A.T. |   25-26J-129</a:t>
            </a:r>
          </a:p>
        </p:txBody>
      </p:sp>
    </p:spTree>
    <p:extLst>
      <p:ext uri="{BB962C8B-B14F-4D97-AF65-F5344CB8AC3E}">
        <p14:creationId xmlns:p14="http://schemas.microsoft.com/office/powerpoint/2010/main" val="3157499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967E-B8C2-4415-F4E7-BE68F79EC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Rockwell" panose="02060603020205020403" pitchFamily="18" charset="0"/>
              </a:rPr>
              <a:t>Commercialization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E24C3-CA05-964A-2BB5-D2941A2CA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10750550" cy="4533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>
                <a:latin typeface="Rockwell" panose="02060603020205020403" pitchFamily="18" charset="0"/>
              </a:rPr>
              <a:t>Target Industries</a:t>
            </a:r>
            <a:endParaRPr lang="en-US" sz="1800">
              <a:latin typeface="Rockwell" panose="02060603020205020403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800">
                <a:latin typeface="Rockwell" panose="02060603020205020403" pitchFamily="18" charset="0"/>
              </a:rPr>
              <a:t>Healthcare, Legal, Finance, Education</a:t>
            </a:r>
          </a:p>
          <a:p>
            <a:pPr marL="0" indent="0">
              <a:buNone/>
            </a:pPr>
            <a:endParaRPr lang="en-US" sz="1800" b="1">
              <a:latin typeface="Rockwell" panose="02060603020205020403" pitchFamily="18" charset="0"/>
            </a:endParaRPr>
          </a:p>
          <a:p>
            <a:pPr marL="0" indent="0">
              <a:buNone/>
            </a:pPr>
            <a:r>
              <a:rPr lang="en-US" sz="1800" b="1">
                <a:latin typeface="Rockwell" panose="02060603020205020403" pitchFamily="18" charset="0"/>
              </a:rPr>
              <a:t>Revenue Model</a:t>
            </a:r>
            <a:endParaRPr lang="en-US" sz="1800">
              <a:latin typeface="Rockwell" panose="02060603020205020403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800">
                <a:latin typeface="Rockwell" panose="02060603020205020403" pitchFamily="18" charset="0"/>
              </a:rPr>
              <a:t>Subscription-based with tiered plans </a:t>
            </a:r>
          </a:p>
          <a:p>
            <a:pPr>
              <a:buFont typeface="Wingdings" pitchFamily="2" charset="2"/>
              <a:buChar char="Ø"/>
            </a:pPr>
            <a:r>
              <a:rPr lang="en-US" sz="1800">
                <a:latin typeface="Rockwell" panose="02060603020205020403" pitchFamily="18" charset="0"/>
              </a:rPr>
              <a:t>Enterprise: custom deployments, premium support, domain-specific modules</a:t>
            </a:r>
          </a:p>
          <a:p>
            <a:pPr marL="0" indent="0">
              <a:buNone/>
            </a:pPr>
            <a:endParaRPr lang="en-US" sz="1900" b="1">
              <a:latin typeface="Rockwell" panose="02060603020205020403" pitchFamily="18" charset="0"/>
            </a:endParaRPr>
          </a:p>
          <a:p>
            <a:pPr marL="0" indent="0">
              <a:buNone/>
            </a:pPr>
            <a:r>
              <a:rPr lang="en-US" sz="1900" b="1">
                <a:latin typeface="Rockwell" panose="02060603020205020403" pitchFamily="18" charset="0"/>
              </a:rPr>
              <a:t>Investment Cost</a:t>
            </a:r>
          </a:p>
          <a:p>
            <a:endParaRPr lang="en-US" sz="1900">
              <a:latin typeface="Rockwell" panose="02060603020205020403" pitchFamily="18" charset="0"/>
            </a:endParaRPr>
          </a:p>
          <a:p>
            <a:endParaRPr lang="en-US">
              <a:latin typeface="Rockwell" panose="02060603020205020403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00D117-9C00-B2B3-2968-66BBF21BE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102833"/>
              </p:ext>
            </p:extLst>
          </p:nvPr>
        </p:nvGraphicFramePr>
        <p:xfrm>
          <a:off x="755650" y="4330700"/>
          <a:ext cx="65532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74573448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6348014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733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Cloud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112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Conference Participation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116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Software Licenses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778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76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3" ma:contentTypeDescription="Create a new document." ma:contentTypeScope="" ma:versionID="550c4f938508304d96ee8923cc022600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578884b52fd4f9d1b61924ef77b1223d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964503-272C-4EC0-8505-49C3CA0A3A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2E055B-A990-46B1-B98F-117CD27610CF}">
  <ds:schemaRefs>
    <ds:schemaRef ds:uri="http://purl.org/dc/terms/"/>
    <ds:schemaRef ds:uri="http://schemas.microsoft.com/office/infopath/2007/PartnerControls"/>
    <ds:schemaRef ds:uri="b315195e-671e-423b-bef2-4f1205612242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31038DC-2B4F-4A36-BB5B-0459AC3AB557}"/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2827</TotalTime>
  <Words>3518</Words>
  <Application>Microsoft Office PowerPoint</Application>
  <PresentationFormat>Widescreen</PresentationFormat>
  <Paragraphs>258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Adobe Devanagari</vt:lpstr>
      <vt:lpstr>Aptos</vt:lpstr>
      <vt:lpstr>Aptos Display</vt:lpstr>
      <vt:lpstr>Arial</vt:lpstr>
      <vt:lpstr>Calibri</vt:lpstr>
      <vt:lpstr>Cambria</vt:lpstr>
      <vt:lpstr>Courier New</vt:lpstr>
      <vt:lpstr>Rockwell</vt:lpstr>
      <vt:lpstr>Rockwell Nova</vt:lpstr>
      <vt:lpstr>Times New Roman</vt:lpstr>
      <vt:lpstr>TimesNewRomanPSMT</vt:lpstr>
      <vt:lpstr>Wingdings</vt:lpstr>
      <vt:lpstr>Office Theme</vt:lpstr>
      <vt:lpstr>Modular Multi Agent Document AI</vt:lpstr>
      <vt:lpstr>Introduction to the Problem</vt:lpstr>
      <vt:lpstr>PowerPoint Presentation</vt:lpstr>
      <vt:lpstr>System Diagram</vt:lpstr>
      <vt:lpstr>IT22892058 |  S A T Nayanapriya </vt:lpstr>
      <vt:lpstr>Intelligent Document Processing Orchestration </vt:lpstr>
      <vt:lpstr>Intelligent Document Processing Orchestration </vt:lpstr>
      <vt:lpstr>Intelligent Document Processing Orchestration - Methodology</vt:lpstr>
      <vt:lpstr>IDPO: Success Evaluation/Validation:</vt:lpstr>
      <vt:lpstr>Intelligent Document Processing Orchestration </vt:lpstr>
      <vt:lpstr>Adaptive Hierarchial Memory Network</vt:lpstr>
      <vt:lpstr>Adaptive Hierarchial Memory Network</vt:lpstr>
      <vt:lpstr>Adaptive Hierarchial Memory Network</vt:lpstr>
      <vt:lpstr>Adaptive Hierarchial Memory Network</vt:lpstr>
      <vt:lpstr>Hierarchial Memory Framework</vt:lpstr>
      <vt:lpstr>Hierarchial Memory Framework</vt:lpstr>
      <vt:lpstr> Human-Guided Explainable AI</vt:lpstr>
      <vt:lpstr> Human-Guided Explainable AI</vt:lpstr>
      <vt:lpstr> Human-Guided Explainable AI</vt:lpstr>
      <vt:lpstr> Human-Guided Explainable AI</vt:lpstr>
      <vt:lpstr> Human-Guided Explainable AI</vt:lpstr>
      <vt:lpstr> Human-Guided Explainable AI</vt:lpstr>
      <vt:lpstr>Interaction Between AHMN &amp; IDPO</vt:lpstr>
      <vt:lpstr>Hallucination Detection and Guardrails</vt:lpstr>
      <vt:lpstr>Hallucination Detection and Guardrails</vt:lpstr>
      <vt:lpstr>Hallucination Detection and Guardrails</vt:lpstr>
      <vt:lpstr>Hallucination Detection and Guardrails</vt:lpstr>
      <vt:lpstr>Hallucination Detection and Guardrails Famework</vt:lpstr>
      <vt:lpstr>Hallucination Detection and Guardrails</vt:lpstr>
      <vt:lpstr>Commercialization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PATHIRANA M M it22335050</dc:creator>
  <cp:lastModifiedBy>DASANAYAKE D R L it22350800</cp:lastModifiedBy>
  <cp:revision>2</cp:revision>
  <dcterms:created xsi:type="dcterms:W3CDTF">2025-09-06T09:58:39Z</dcterms:created>
  <dcterms:modified xsi:type="dcterms:W3CDTF">2025-09-19T16:43:26Z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