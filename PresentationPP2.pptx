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9"/>
  </p:notesMasterIdLst>
  <p:sldIdLst>
    <p:sldId id="256" r:id="rId2"/>
    <p:sldId id="257" r:id="rId3"/>
    <p:sldId id="259" r:id="rId4"/>
    <p:sldId id="265" r:id="rId5"/>
    <p:sldId id="261" r:id="rId6"/>
    <p:sldId id="262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3C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E35AD3-A08B-46EA-9856-20B55889CC63}" v="13" dt="2026-03-09T06:12:16.394"/>
    <p1510:client id="{CE3FCB69-BB4A-89A8-888E-478828D72D7F}" v="4" dt="2026-03-09T06:11:34.907"/>
    <p1510:client id="{E2E6EFE6-C0DF-134D-9DA5-86CAD89618EF}" v="1" dt="2026-03-08T12:18:17.1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75"/>
    <p:restoredTop sz="92334"/>
  </p:normalViewPr>
  <p:slideViewPr>
    <p:cSldViewPr snapToGrid="0">
      <p:cViewPr varScale="1">
        <p:scale>
          <a:sx n="102" d="100"/>
          <a:sy n="102" d="100"/>
        </p:scale>
        <p:origin x="96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F593A3-722F-B94A-A9D7-3EB486B9102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09D05-7C9F-EE43-BE66-F66F34596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7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C09D05-7C9F-EE43-BE66-F66F345963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509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C09D05-7C9F-EE43-BE66-F66F345963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247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C09D05-7C9F-EE43-BE66-F66F345963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367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EA697-4F93-9345-8484-B32B0D80F0DC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64612-3DBF-C64B-9C5E-8DE458AF9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932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170D7-7ABE-7D4F-8536-B0E80503024E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64612-3DBF-C64B-9C5E-8DE458AF9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23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8F635-4ADD-4844-83D6-E31C95FE3B58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64612-3DBF-C64B-9C5E-8DE458AF9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937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60C56-0CB3-DA43-9946-B05814EA983A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64612-3DBF-C64B-9C5E-8DE458AF9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015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92B6F-7391-1C49-9977-D40F98D933FC}" type="datetime1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64612-3DBF-C64B-9C5E-8DE458AF9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257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D931E-269F-664E-BAF5-D7AD1EA8A781}" type="datetime1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64612-3DBF-C64B-9C5E-8DE458AF9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637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2F34F-AFC6-5A4E-8800-6949E1F8D4E0}" type="datetime1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64612-3DBF-C64B-9C5E-8DE458AF9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173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D4032-78FB-2E47-8C54-E36EDB74E99B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64612-3DBF-C64B-9C5E-8DE458AF9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304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82B67-E7C5-6241-BCE4-F79829A87357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64612-3DBF-C64B-9C5E-8DE458AF9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202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F665-721D-0B4F-A484-C091C21C82BE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64612-3DBF-C64B-9C5E-8DE458AF9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573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B0445-4898-CA45-BA7B-B7DC9B46B70B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64612-3DBF-C64B-9C5E-8DE458AF9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86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C67712-CA54-5843-9908-0C3B0295D560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64612-3DBF-C64B-9C5E-8DE458AF9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662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2B2B82A2-C38B-D009-79A1-849499F60D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7497" y="1209274"/>
            <a:ext cx="5503934" cy="12532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l"/>
            <a:r>
              <a:rPr lang="en-US" sz="4000" b="1" kern="1200" dirty="0">
                <a:solidFill>
                  <a:srgbClr val="2E3C4E"/>
                </a:solidFill>
                <a:latin typeface="Barlow" pitchFamily="2" charset="77"/>
              </a:rPr>
              <a:t>Modular Multi-Agent Document AI</a:t>
            </a:r>
            <a:endParaRPr lang="en-US" sz="4000" kern="1200" dirty="0">
              <a:solidFill>
                <a:srgbClr val="2E3C4E"/>
              </a:solidFill>
              <a:latin typeface="Barlow" pitchFamily="2" charset="77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7133D47F-2218-5FC6-877A-C7F543006FDF}"/>
              </a:ext>
            </a:extLst>
          </p:cNvPr>
          <p:cNvSpPr/>
          <p:nvPr/>
        </p:nvSpPr>
        <p:spPr>
          <a:xfrm>
            <a:off x="1137498" y="2679881"/>
            <a:ext cx="5590680" cy="1687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An adaptive, self-learning document intelligence platform designed to transform how organizations extract value from unstructured documents.</a:t>
            </a:r>
          </a:p>
        </p:txBody>
      </p:sp>
      <p:pic>
        <p:nvPicPr>
          <p:cNvPr id="15" name="Graphic 14" descr="Robot">
            <a:extLst>
              <a:ext uri="{FF2B5EF4-FFF2-40B4-BE49-F238E27FC236}">
                <a16:creationId xmlns:a16="http://schemas.microsoft.com/office/drawing/2014/main" id="{12654EE7-F4BF-4816-97A0-BD84CF0992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40A140-86EA-FD84-209C-59E3ADF903B6}"/>
              </a:ext>
            </a:extLst>
          </p:cNvPr>
          <p:cNvSpPr txBox="1"/>
          <p:nvPr/>
        </p:nvSpPr>
        <p:spPr>
          <a:xfrm>
            <a:off x="2831977" y="43678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15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F33CB2A-B7D9-5BBD-94A6-D26D43A0E260}"/>
              </a:ext>
            </a:extLst>
          </p:cNvPr>
          <p:cNvGrpSpPr/>
          <p:nvPr/>
        </p:nvGrpSpPr>
        <p:grpSpPr>
          <a:xfrm>
            <a:off x="514240" y="1050587"/>
            <a:ext cx="11163519" cy="5179502"/>
            <a:chOff x="658773" y="1967270"/>
            <a:chExt cx="13312854" cy="5057417"/>
          </a:xfrm>
        </p:grpSpPr>
        <p:sp>
          <p:nvSpPr>
            <p:cNvPr id="9" name="Shape 1">
              <a:extLst>
                <a:ext uri="{FF2B5EF4-FFF2-40B4-BE49-F238E27FC236}">
                  <a16:creationId xmlns:a16="http://schemas.microsoft.com/office/drawing/2014/main" id="{E5B20026-AE7F-63F3-80AD-B55FA760D465}"/>
                </a:ext>
              </a:extLst>
            </p:cNvPr>
            <p:cNvSpPr/>
            <p:nvPr/>
          </p:nvSpPr>
          <p:spPr>
            <a:xfrm>
              <a:off x="658773" y="1967270"/>
              <a:ext cx="4328636" cy="2934295"/>
            </a:xfrm>
            <a:prstGeom prst="roundRect">
              <a:avLst>
                <a:gd name="adj" fmla="val 9623"/>
              </a:avLst>
            </a:prstGeom>
            <a:solidFill>
              <a:srgbClr val="D4E9F7"/>
            </a:solidFill>
            <a:ln w="7620">
              <a:solidFill>
                <a:srgbClr val="BACF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0" name="Image 0" descr="preencoded.png">
              <a:extLst>
                <a:ext uri="{FF2B5EF4-FFF2-40B4-BE49-F238E27FC236}">
                  <a16:creationId xmlns:a16="http://schemas.microsoft.com/office/drawing/2014/main" id="{852DBF68-08F0-6FAB-3883-BF4128382E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4631" y="2163128"/>
              <a:ext cx="564713" cy="564713"/>
            </a:xfrm>
            <a:prstGeom prst="rect">
              <a:avLst/>
            </a:prstGeom>
          </p:spPr>
        </p:pic>
        <p:pic>
          <p:nvPicPr>
            <p:cNvPr id="11" name="Image 1" descr="preencoded.png">
              <a:extLst>
                <a:ext uri="{FF2B5EF4-FFF2-40B4-BE49-F238E27FC236}">
                  <a16:creationId xmlns:a16="http://schemas.microsoft.com/office/drawing/2014/main" id="{89949CF2-A19C-6822-00EE-51CA38D0C9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9888" y="2318385"/>
              <a:ext cx="254079" cy="254079"/>
            </a:xfrm>
            <a:prstGeom prst="rect">
              <a:avLst/>
            </a:prstGeom>
          </p:spPr>
        </p:pic>
        <p:sp>
          <p:nvSpPr>
            <p:cNvPr id="12" name="Text 2">
              <a:extLst>
                <a:ext uri="{FF2B5EF4-FFF2-40B4-BE49-F238E27FC236}">
                  <a16:creationId xmlns:a16="http://schemas.microsoft.com/office/drawing/2014/main" id="{F0C5F4D6-10ED-7B1F-7B69-81B0AA150775}"/>
                </a:ext>
              </a:extLst>
            </p:cNvPr>
            <p:cNvSpPr/>
            <p:nvPr/>
          </p:nvSpPr>
          <p:spPr>
            <a:xfrm>
              <a:off x="854631" y="2891314"/>
              <a:ext cx="2476976" cy="3095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195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Document Overload</a:t>
              </a:r>
              <a:endParaRPr lang="en-US" sz="1950" dirty="0"/>
            </a:p>
          </p:txBody>
        </p:sp>
        <p:sp>
          <p:nvSpPr>
            <p:cNvPr id="13" name="Text 3">
              <a:extLst>
                <a:ext uri="{FF2B5EF4-FFF2-40B4-BE49-F238E27FC236}">
                  <a16:creationId xmlns:a16="http://schemas.microsoft.com/office/drawing/2014/main" id="{E381B45C-6D9D-3462-2F67-CA5E2BE824CE}"/>
                </a:ext>
              </a:extLst>
            </p:cNvPr>
            <p:cNvSpPr/>
            <p:nvPr/>
          </p:nvSpPr>
          <p:spPr>
            <a:xfrm>
              <a:off x="854631" y="3298984"/>
              <a:ext cx="3936921" cy="11253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145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Companies process thousands of documents daily </a:t>
              </a:r>
              <a:r>
                <a:rPr lang="en-US" sz="1450" dirty="0">
                  <a:solidFill>
                    <a:srgbClr val="2E3C4E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invoices</a:t>
              </a:r>
              <a:r>
                <a:rPr lang="en-US" sz="145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, claims, contracts, forms with no intelligent routing or adaptation per document type.</a:t>
              </a:r>
              <a:endParaRPr lang="en-US" sz="1450" dirty="0"/>
            </a:p>
          </p:txBody>
        </p:sp>
        <p:sp>
          <p:nvSpPr>
            <p:cNvPr id="14" name="Shape 4">
              <a:extLst>
                <a:ext uri="{FF2B5EF4-FFF2-40B4-BE49-F238E27FC236}">
                  <a16:creationId xmlns:a16="http://schemas.microsoft.com/office/drawing/2014/main" id="{0554790A-4D67-835F-FB44-BB5D6ECBC585}"/>
                </a:ext>
              </a:extLst>
            </p:cNvPr>
            <p:cNvSpPr/>
            <p:nvPr/>
          </p:nvSpPr>
          <p:spPr>
            <a:xfrm>
              <a:off x="5150882" y="1967270"/>
              <a:ext cx="4328636" cy="2934295"/>
            </a:xfrm>
            <a:prstGeom prst="roundRect">
              <a:avLst>
                <a:gd name="adj" fmla="val 9623"/>
              </a:avLst>
            </a:prstGeom>
            <a:solidFill>
              <a:srgbClr val="D4E9F7"/>
            </a:solidFill>
            <a:ln w="7620">
              <a:solidFill>
                <a:srgbClr val="BACF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5" name="Image 2" descr="preencoded.png">
              <a:extLst>
                <a:ext uri="{FF2B5EF4-FFF2-40B4-BE49-F238E27FC236}">
                  <a16:creationId xmlns:a16="http://schemas.microsoft.com/office/drawing/2014/main" id="{E4E2565F-B5EE-4905-1C2B-5E32F2B1D4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46740" y="2163128"/>
              <a:ext cx="564713" cy="564713"/>
            </a:xfrm>
            <a:prstGeom prst="rect">
              <a:avLst/>
            </a:prstGeom>
          </p:spPr>
        </p:pic>
        <p:pic>
          <p:nvPicPr>
            <p:cNvPr id="16" name="Image 3" descr="preencoded.png">
              <a:extLst>
                <a:ext uri="{FF2B5EF4-FFF2-40B4-BE49-F238E27FC236}">
                  <a16:creationId xmlns:a16="http://schemas.microsoft.com/office/drawing/2014/main" id="{017436C7-72DD-253E-4D88-A3EEACCE97D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01997" y="2318385"/>
              <a:ext cx="254079" cy="254079"/>
            </a:xfrm>
            <a:prstGeom prst="rect">
              <a:avLst/>
            </a:prstGeom>
          </p:spPr>
        </p:pic>
        <p:sp>
          <p:nvSpPr>
            <p:cNvPr id="17" name="Text 5">
              <a:extLst>
                <a:ext uri="{FF2B5EF4-FFF2-40B4-BE49-F238E27FC236}">
                  <a16:creationId xmlns:a16="http://schemas.microsoft.com/office/drawing/2014/main" id="{47B8EF8E-DE99-B681-EDDC-10D05D26704E}"/>
                </a:ext>
              </a:extLst>
            </p:cNvPr>
            <p:cNvSpPr/>
            <p:nvPr/>
          </p:nvSpPr>
          <p:spPr>
            <a:xfrm>
              <a:off x="5346740" y="2891314"/>
              <a:ext cx="2476976" cy="3095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195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No Memory</a:t>
              </a:r>
              <a:endParaRPr lang="en-US" sz="1950" dirty="0"/>
            </a:p>
          </p:txBody>
        </p:sp>
        <p:sp>
          <p:nvSpPr>
            <p:cNvPr id="18" name="Text 6">
              <a:extLst>
                <a:ext uri="{FF2B5EF4-FFF2-40B4-BE49-F238E27FC236}">
                  <a16:creationId xmlns:a16="http://schemas.microsoft.com/office/drawing/2014/main" id="{F4A29C42-D6B9-8C9D-0772-495A5EB5F5F9}"/>
                </a:ext>
              </a:extLst>
            </p:cNvPr>
            <p:cNvSpPr/>
            <p:nvPr/>
          </p:nvSpPr>
          <p:spPr>
            <a:xfrm>
              <a:off x="5346740" y="3298984"/>
              <a:ext cx="3936921" cy="14067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145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Every document is processed from scratch. Lessons learned from one document are never applied to the next. The system is permanently stuck at day-one performance.</a:t>
              </a:r>
              <a:endParaRPr lang="en-US" sz="1450" dirty="0"/>
            </a:p>
          </p:txBody>
        </p:sp>
        <p:sp>
          <p:nvSpPr>
            <p:cNvPr id="19" name="Shape 7">
              <a:extLst>
                <a:ext uri="{FF2B5EF4-FFF2-40B4-BE49-F238E27FC236}">
                  <a16:creationId xmlns:a16="http://schemas.microsoft.com/office/drawing/2014/main" id="{7E38CCBE-B398-84D4-5335-090721DD4D2A}"/>
                </a:ext>
              </a:extLst>
            </p:cNvPr>
            <p:cNvSpPr/>
            <p:nvPr/>
          </p:nvSpPr>
          <p:spPr>
            <a:xfrm>
              <a:off x="9642991" y="1967270"/>
              <a:ext cx="4328636" cy="2934295"/>
            </a:xfrm>
            <a:prstGeom prst="roundRect">
              <a:avLst>
                <a:gd name="adj" fmla="val 9623"/>
              </a:avLst>
            </a:prstGeom>
            <a:solidFill>
              <a:srgbClr val="D4E9F7"/>
            </a:solidFill>
            <a:ln w="7620">
              <a:solidFill>
                <a:srgbClr val="BACF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0" name="Image 4" descr="preencoded.png">
              <a:extLst>
                <a:ext uri="{FF2B5EF4-FFF2-40B4-BE49-F238E27FC236}">
                  <a16:creationId xmlns:a16="http://schemas.microsoft.com/office/drawing/2014/main" id="{A1152BD0-4E1A-2F16-ED40-DEB00EFD0F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838849" y="2163128"/>
              <a:ext cx="564713" cy="564713"/>
            </a:xfrm>
            <a:prstGeom prst="rect">
              <a:avLst/>
            </a:prstGeom>
          </p:spPr>
        </p:pic>
        <p:pic>
          <p:nvPicPr>
            <p:cNvPr id="21" name="Image 5" descr="preencoded.png">
              <a:extLst>
                <a:ext uri="{FF2B5EF4-FFF2-40B4-BE49-F238E27FC236}">
                  <a16:creationId xmlns:a16="http://schemas.microsoft.com/office/drawing/2014/main" id="{198A3BAB-5A7F-0A5E-5D8D-4D1E91D27F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994106" y="2318385"/>
              <a:ext cx="254079" cy="254079"/>
            </a:xfrm>
            <a:prstGeom prst="rect">
              <a:avLst/>
            </a:prstGeom>
          </p:spPr>
        </p:pic>
        <p:sp>
          <p:nvSpPr>
            <p:cNvPr id="22" name="Text 8">
              <a:extLst>
                <a:ext uri="{FF2B5EF4-FFF2-40B4-BE49-F238E27FC236}">
                  <a16:creationId xmlns:a16="http://schemas.microsoft.com/office/drawing/2014/main" id="{4BEE0D60-3214-B9B4-F931-3EDA2A1B2C80}"/>
                </a:ext>
              </a:extLst>
            </p:cNvPr>
            <p:cNvSpPr/>
            <p:nvPr/>
          </p:nvSpPr>
          <p:spPr>
            <a:xfrm>
              <a:off x="9838849" y="2891314"/>
              <a:ext cx="2476976" cy="3095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195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No Trust</a:t>
              </a:r>
              <a:endParaRPr lang="en-US" sz="1950" dirty="0"/>
            </a:p>
          </p:txBody>
        </p:sp>
        <p:sp>
          <p:nvSpPr>
            <p:cNvPr id="23" name="Text 9">
              <a:extLst>
                <a:ext uri="{FF2B5EF4-FFF2-40B4-BE49-F238E27FC236}">
                  <a16:creationId xmlns:a16="http://schemas.microsoft.com/office/drawing/2014/main" id="{7A879211-0CD5-30DB-298C-6016A1CAD9EE}"/>
                </a:ext>
              </a:extLst>
            </p:cNvPr>
            <p:cNvSpPr/>
            <p:nvPr/>
          </p:nvSpPr>
          <p:spPr>
            <a:xfrm>
              <a:off x="9838849" y="3298984"/>
              <a:ext cx="3936921" cy="8440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145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AI extracts fields with no explanation, no evidence, and no structured way for humans to verify or correct results.</a:t>
              </a:r>
              <a:endParaRPr lang="en-US" sz="1450" dirty="0"/>
            </a:p>
          </p:txBody>
        </p:sp>
        <p:sp>
          <p:nvSpPr>
            <p:cNvPr id="24" name="Text 10">
              <a:extLst>
                <a:ext uri="{FF2B5EF4-FFF2-40B4-BE49-F238E27FC236}">
                  <a16:creationId xmlns:a16="http://schemas.microsoft.com/office/drawing/2014/main" id="{2A885105-EE7C-77EF-6C09-DDC24F9112BC}"/>
                </a:ext>
              </a:extLst>
            </p:cNvPr>
            <p:cNvSpPr/>
            <p:nvPr/>
          </p:nvSpPr>
          <p:spPr>
            <a:xfrm>
              <a:off x="658773" y="5248989"/>
              <a:ext cx="2476976" cy="3095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1950" b="1" dirty="0">
                  <a:solidFill>
                    <a:srgbClr val="2E3C4E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Stakeholders</a:t>
              </a:r>
              <a:endParaRPr lang="en-US" sz="1950" dirty="0"/>
            </a:p>
          </p:txBody>
        </p:sp>
        <p:sp>
          <p:nvSpPr>
            <p:cNvPr id="25" name="Shape 11">
              <a:extLst>
                <a:ext uri="{FF2B5EF4-FFF2-40B4-BE49-F238E27FC236}">
                  <a16:creationId xmlns:a16="http://schemas.microsoft.com/office/drawing/2014/main" id="{A2C77800-57A7-3632-D1C3-94DABF44591B}"/>
                </a:ext>
              </a:extLst>
            </p:cNvPr>
            <p:cNvSpPr/>
            <p:nvPr/>
          </p:nvSpPr>
          <p:spPr>
            <a:xfrm>
              <a:off x="658773" y="5742503"/>
              <a:ext cx="8492609" cy="1282184"/>
            </a:xfrm>
            <a:prstGeom prst="roundRect">
              <a:avLst>
                <a:gd name="adj" fmla="val 22023"/>
              </a:avLst>
            </a:prstGeom>
            <a:noFill/>
            <a:ln w="7620">
              <a:solidFill>
                <a:srgbClr val="000000">
                  <a:alpha val="8000"/>
                </a:srgbClr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" name="Shape 12">
              <a:extLst>
                <a:ext uri="{FF2B5EF4-FFF2-40B4-BE49-F238E27FC236}">
                  <a16:creationId xmlns:a16="http://schemas.microsoft.com/office/drawing/2014/main" id="{67AC80A5-5B40-19EC-5483-85B1E2D92CC5}"/>
                </a:ext>
              </a:extLst>
            </p:cNvPr>
            <p:cNvSpPr/>
            <p:nvPr/>
          </p:nvSpPr>
          <p:spPr>
            <a:xfrm>
              <a:off x="666393" y="5750123"/>
              <a:ext cx="8477369" cy="774144"/>
            </a:xfrm>
            <a:prstGeom prst="rect">
              <a:avLst/>
            </a:prstGeom>
            <a:solidFill>
              <a:srgbClr val="FFFFFF">
                <a:alpha val="4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13">
              <a:extLst>
                <a:ext uri="{FF2B5EF4-FFF2-40B4-BE49-F238E27FC236}">
                  <a16:creationId xmlns:a16="http://schemas.microsoft.com/office/drawing/2014/main" id="{CF60184C-1D55-E055-0292-893D05A3BC00}"/>
                </a:ext>
              </a:extLst>
            </p:cNvPr>
            <p:cNvSpPr/>
            <p:nvPr/>
          </p:nvSpPr>
          <p:spPr>
            <a:xfrm>
              <a:off x="854750" y="5855851"/>
              <a:ext cx="2162889" cy="2813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1450" b="1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Primary</a:t>
              </a:r>
              <a:endParaRPr lang="en-US" sz="1450" dirty="0"/>
            </a:p>
          </p:txBody>
        </p:sp>
        <p:sp>
          <p:nvSpPr>
            <p:cNvPr id="28" name="Text 14">
              <a:extLst>
                <a:ext uri="{FF2B5EF4-FFF2-40B4-BE49-F238E27FC236}">
                  <a16:creationId xmlns:a16="http://schemas.microsoft.com/office/drawing/2014/main" id="{9A343084-B7E0-50A5-A532-E50398A96EA9}"/>
                </a:ext>
              </a:extLst>
            </p:cNvPr>
            <p:cNvSpPr/>
            <p:nvPr/>
          </p:nvSpPr>
          <p:spPr>
            <a:xfrm>
              <a:off x="3401735" y="5855851"/>
              <a:ext cx="5453325" cy="9081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145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Document processing teams, Compliance officers, Healthcare RCM analysts, Finance directors</a:t>
              </a:r>
              <a:endParaRPr lang="en-US" sz="1450" dirty="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BF659486-AF1F-ADB8-D803-1A2723CB2E89}"/>
              </a:ext>
            </a:extLst>
          </p:cNvPr>
          <p:cNvSpPr txBox="1"/>
          <p:nvPr/>
        </p:nvSpPr>
        <p:spPr>
          <a:xfrm>
            <a:off x="397328" y="215152"/>
            <a:ext cx="8434869" cy="592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Problem With Document AI Today</a:t>
            </a:r>
            <a:endParaRPr lang="en-US" sz="3250" dirty="0"/>
          </a:p>
        </p:txBody>
      </p:sp>
    </p:spTree>
    <p:extLst>
      <p:ext uri="{BB962C8B-B14F-4D97-AF65-F5344CB8AC3E}">
        <p14:creationId xmlns:p14="http://schemas.microsoft.com/office/powerpoint/2010/main" val="418508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A5E6E967-1921-1764-D664-6A07BBFC9191}"/>
              </a:ext>
            </a:extLst>
          </p:cNvPr>
          <p:cNvGrpSpPr/>
          <p:nvPr/>
        </p:nvGrpSpPr>
        <p:grpSpPr>
          <a:xfrm>
            <a:off x="437183" y="398807"/>
            <a:ext cx="11317633" cy="6060385"/>
            <a:chOff x="1750219" y="1100614"/>
            <a:chExt cx="11129843" cy="6028372"/>
          </a:xfrm>
        </p:grpSpPr>
        <p:sp>
          <p:nvSpPr>
            <p:cNvPr id="26" name="Text 0">
              <a:extLst>
                <a:ext uri="{FF2B5EF4-FFF2-40B4-BE49-F238E27FC236}">
                  <a16:creationId xmlns:a16="http://schemas.microsoft.com/office/drawing/2014/main" id="{BDC2F965-D713-8457-849C-846E19014E35}"/>
                </a:ext>
              </a:extLst>
            </p:cNvPr>
            <p:cNvSpPr/>
            <p:nvPr/>
          </p:nvSpPr>
          <p:spPr>
            <a:xfrm>
              <a:off x="1750219" y="1100614"/>
              <a:ext cx="4032528" cy="5039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950"/>
                </a:lnSpc>
                <a:buNone/>
              </a:pPr>
              <a:r>
                <a:rPr lang="en-US" sz="3250" b="1" dirty="0">
                  <a:solidFill>
                    <a:srgbClr val="2E3C4E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What We Built</a:t>
              </a:r>
              <a:endParaRPr lang="en-US" sz="3250" dirty="0"/>
            </a:p>
          </p:txBody>
        </p:sp>
        <p:sp>
          <p:nvSpPr>
            <p:cNvPr id="27" name="Text 1">
              <a:extLst>
                <a:ext uri="{FF2B5EF4-FFF2-40B4-BE49-F238E27FC236}">
                  <a16:creationId xmlns:a16="http://schemas.microsoft.com/office/drawing/2014/main" id="{F6D9AA3A-888D-D1E4-076B-E70A07B47CCF}"/>
                </a:ext>
              </a:extLst>
            </p:cNvPr>
            <p:cNvSpPr/>
            <p:nvPr/>
          </p:nvSpPr>
          <p:spPr>
            <a:xfrm>
              <a:off x="1750219" y="1821299"/>
              <a:ext cx="11129843" cy="2091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120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 pipeline of 14 intelligent agents that learns from every document, explains every decision, and validates every output.</a:t>
              </a:r>
              <a:endParaRPr lang="en-US" sz="1200" dirty="0"/>
            </a:p>
          </p:txBody>
        </p:sp>
        <p:pic>
          <p:nvPicPr>
            <p:cNvPr id="28" name="Image 0" descr="preencoded.png">
              <a:extLst>
                <a:ext uri="{FF2B5EF4-FFF2-40B4-BE49-F238E27FC236}">
                  <a16:creationId xmlns:a16="http://schemas.microsoft.com/office/drawing/2014/main" id="{4F003808-D470-2BA8-D612-6BDE32F33A5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750219" y="2152412"/>
              <a:ext cx="459700" cy="459700"/>
            </a:xfrm>
            <a:prstGeom prst="rect">
              <a:avLst/>
            </a:prstGeom>
          </p:spPr>
        </p:pic>
        <p:sp>
          <p:nvSpPr>
            <p:cNvPr id="29" name="Text 2">
              <a:extLst>
                <a:ext uri="{FF2B5EF4-FFF2-40B4-BE49-F238E27FC236}">
                  <a16:creationId xmlns:a16="http://schemas.microsoft.com/office/drawing/2014/main" id="{C2F1A406-D445-BF16-FF03-790AA81C0DB0}"/>
                </a:ext>
              </a:extLst>
            </p:cNvPr>
            <p:cNvSpPr/>
            <p:nvPr/>
          </p:nvSpPr>
          <p:spPr>
            <a:xfrm>
              <a:off x="2345293" y="2152412"/>
              <a:ext cx="2016204" cy="2519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55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IDPO</a:t>
              </a:r>
              <a:endParaRPr lang="en-US" sz="1550" dirty="0"/>
            </a:p>
          </p:txBody>
        </p:sp>
        <p:sp>
          <p:nvSpPr>
            <p:cNvPr id="30" name="Text 3">
              <a:extLst>
                <a:ext uri="{FF2B5EF4-FFF2-40B4-BE49-F238E27FC236}">
                  <a16:creationId xmlns:a16="http://schemas.microsoft.com/office/drawing/2014/main" id="{D0CC1CC2-1FD6-0647-E2D0-8DDA06F9BDBD}"/>
                </a:ext>
              </a:extLst>
            </p:cNvPr>
            <p:cNvSpPr/>
            <p:nvPr/>
          </p:nvSpPr>
          <p:spPr>
            <a:xfrm>
              <a:off x="2345293" y="2469356"/>
              <a:ext cx="4902160" cy="2091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1200" b="1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Intelligent Document Processing Orchestrator</a:t>
              </a:r>
              <a:endParaRPr lang="en-US" sz="1200" dirty="0"/>
            </a:p>
          </p:txBody>
        </p:sp>
        <p:sp>
          <p:nvSpPr>
            <p:cNvPr id="31" name="Text 4">
              <a:extLst>
                <a:ext uri="{FF2B5EF4-FFF2-40B4-BE49-F238E27FC236}">
                  <a16:creationId xmlns:a16="http://schemas.microsoft.com/office/drawing/2014/main" id="{C30F5B71-5F1E-C7FA-A2F8-EA633E1DB324}"/>
                </a:ext>
              </a:extLst>
            </p:cNvPr>
            <p:cNvSpPr/>
            <p:nvPr/>
          </p:nvSpPr>
          <p:spPr>
            <a:xfrm>
              <a:off x="2345293" y="2743557"/>
              <a:ext cx="4902160" cy="6275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120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Central pipeline coordinator with 14+ specialist agents. Adaptive OCR, entity extraction, field-level recovery, and escalation. </a:t>
              </a:r>
              <a:endParaRPr lang="en-US" sz="1200" dirty="0"/>
            </a:p>
          </p:txBody>
        </p:sp>
        <p:pic>
          <p:nvPicPr>
            <p:cNvPr id="32" name="Image 1" descr="preencoded.png">
              <a:extLst>
                <a:ext uri="{FF2B5EF4-FFF2-40B4-BE49-F238E27FC236}">
                  <a16:creationId xmlns:a16="http://schemas.microsoft.com/office/drawing/2014/main" id="{75C53024-3C01-854D-1B94-0DA709B6B0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382828" y="2152412"/>
              <a:ext cx="459700" cy="459700"/>
            </a:xfrm>
            <a:prstGeom prst="rect">
              <a:avLst/>
            </a:prstGeom>
          </p:spPr>
        </p:pic>
        <p:sp>
          <p:nvSpPr>
            <p:cNvPr id="33" name="Text 5">
              <a:extLst>
                <a:ext uri="{FF2B5EF4-FFF2-40B4-BE49-F238E27FC236}">
                  <a16:creationId xmlns:a16="http://schemas.microsoft.com/office/drawing/2014/main" id="{4590EBB4-9BFC-62F3-BB2A-0DAD902E6513}"/>
                </a:ext>
              </a:extLst>
            </p:cNvPr>
            <p:cNvSpPr/>
            <p:nvPr/>
          </p:nvSpPr>
          <p:spPr>
            <a:xfrm>
              <a:off x="7977902" y="2152412"/>
              <a:ext cx="2016204" cy="2519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55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AHMN</a:t>
              </a:r>
              <a:endParaRPr lang="en-US" sz="1550" dirty="0"/>
            </a:p>
          </p:txBody>
        </p:sp>
        <p:sp>
          <p:nvSpPr>
            <p:cNvPr id="34" name="Text 6">
              <a:extLst>
                <a:ext uri="{FF2B5EF4-FFF2-40B4-BE49-F238E27FC236}">
                  <a16:creationId xmlns:a16="http://schemas.microsoft.com/office/drawing/2014/main" id="{93133273-3941-B5F9-CF2E-DC73085F70F5}"/>
                </a:ext>
              </a:extLst>
            </p:cNvPr>
            <p:cNvSpPr/>
            <p:nvPr/>
          </p:nvSpPr>
          <p:spPr>
            <a:xfrm>
              <a:off x="7977902" y="2469356"/>
              <a:ext cx="4902160" cy="2091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1200" b="1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Adaptive Hierarchical Memory Network</a:t>
              </a:r>
              <a:endParaRPr lang="en-US" sz="1200" dirty="0"/>
            </a:p>
          </p:txBody>
        </p:sp>
        <p:sp>
          <p:nvSpPr>
            <p:cNvPr id="35" name="Text 7">
              <a:extLst>
                <a:ext uri="{FF2B5EF4-FFF2-40B4-BE49-F238E27FC236}">
                  <a16:creationId xmlns:a16="http://schemas.microsoft.com/office/drawing/2014/main" id="{ED5D2F7A-036D-A1B1-35E2-D8DD6D7D9B98}"/>
                </a:ext>
              </a:extLst>
            </p:cNvPr>
            <p:cNvSpPr/>
            <p:nvPr/>
          </p:nvSpPr>
          <p:spPr>
            <a:xfrm>
              <a:off x="7977902" y="2743557"/>
              <a:ext cx="4902160" cy="6275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120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Three-tier memory (Redis → PostgreSQL → pgvector). Thompson Sampling selects the best policy per document. RABI solves cold-start. DAAF handles drift. Learns from every F1 signal.</a:t>
              </a:r>
              <a:endParaRPr lang="en-US" sz="1200" dirty="0"/>
            </a:p>
          </p:txBody>
        </p:sp>
        <p:pic>
          <p:nvPicPr>
            <p:cNvPr id="36" name="Image 2" descr="preencoded.png">
              <a:extLst>
                <a:ext uri="{FF2B5EF4-FFF2-40B4-BE49-F238E27FC236}">
                  <a16:creationId xmlns:a16="http://schemas.microsoft.com/office/drawing/2014/main" id="{9AAF2009-6A0A-BAFB-3A7A-1787BE33BE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50219" y="3587829"/>
              <a:ext cx="459700" cy="459700"/>
            </a:xfrm>
            <a:prstGeom prst="rect">
              <a:avLst/>
            </a:prstGeom>
          </p:spPr>
        </p:pic>
        <p:sp>
          <p:nvSpPr>
            <p:cNvPr id="37" name="Text 8">
              <a:extLst>
                <a:ext uri="{FF2B5EF4-FFF2-40B4-BE49-F238E27FC236}">
                  <a16:creationId xmlns:a16="http://schemas.microsoft.com/office/drawing/2014/main" id="{E0531627-D32F-8A6F-E27B-221E2BACBFC0}"/>
                </a:ext>
              </a:extLst>
            </p:cNvPr>
            <p:cNvSpPr/>
            <p:nvPr/>
          </p:nvSpPr>
          <p:spPr>
            <a:xfrm>
              <a:off x="2345293" y="3587829"/>
              <a:ext cx="2016204" cy="2519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55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XAI-HITL</a:t>
              </a:r>
              <a:endParaRPr lang="en-US" sz="1550" dirty="0"/>
            </a:p>
          </p:txBody>
        </p:sp>
        <p:sp>
          <p:nvSpPr>
            <p:cNvPr id="38" name="Text 9">
              <a:extLst>
                <a:ext uri="{FF2B5EF4-FFF2-40B4-BE49-F238E27FC236}">
                  <a16:creationId xmlns:a16="http://schemas.microsoft.com/office/drawing/2014/main" id="{94C9EFBA-3741-4BEB-A8BF-F0ED49F19A39}"/>
                </a:ext>
              </a:extLst>
            </p:cNvPr>
            <p:cNvSpPr/>
            <p:nvPr/>
          </p:nvSpPr>
          <p:spPr>
            <a:xfrm>
              <a:off x="2345293" y="3904774"/>
              <a:ext cx="4902160" cy="2091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1200" b="1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Human-Guided Explainable AI</a:t>
              </a:r>
              <a:endParaRPr lang="en-US" sz="1200" dirty="0"/>
            </a:p>
          </p:txBody>
        </p:sp>
        <p:sp>
          <p:nvSpPr>
            <p:cNvPr id="39" name="Text 10">
              <a:extLst>
                <a:ext uri="{FF2B5EF4-FFF2-40B4-BE49-F238E27FC236}">
                  <a16:creationId xmlns:a16="http://schemas.microsoft.com/office/drawing/2014/main" id="{F8D6891B-F0ED-954E-B89C-F71186BF3BDA}"/>
                </a:ext>
              </a:extLst>
            </p:cNvPr>
            <p:cNvSpPr/>
            <p:nvPr/>
          </p:nvSpPr>
          <p:spPr>
            <a:xfrm>
              <a:off x="2345293" y="4178975"/>
              <a:ext cx="4902160" cy="6275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120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BARTQA + LIME explanations + attention importance scores. Every extraction comes with traceable evidence. Human corrections feed back into the learning loop.</a:t>
              </a:r>
              <a:endParaRPr lang="en-US" sz="1200" dirty="0"/>
            </a:p>
          </p:txBody>
        </p:sp>
        <p:pic>
          <p:nvPicPr>
            <p:cNvPr id="40" name="Image 3" descr="preencoded.png">
              <a:extLst>
                <a:ext uri="{FF2B5EF4-FFF2-40B4-BE49-F238E27FC236}">
                  <a16:creationId xmlns:a16="http://schemas.microsoft.com/office/drawing/2014/main" id="{703C8479-CAF3-75AD-8A4D-EFFE61D17BE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382828" y="3587829"/>
              <a:ext cx="459700" cy="459700"/>
            </a:xfrm>
            <a:prstGeom prst="rect">
              <a:avLst/>
            </a:prstGeom>
          </p:spPr>
        </p:pic>
        <p:sp>
          <p:nvSpPr>
            <p:cNvPr id="41" name="Text 11">
              <a:extLst>
                <a:ext uri="{FF2B5EF4-FFF2-40B4-BE49-F238E27FC236}">
                  <a16:creationId xmlns:a16="http://schemas.microsoft.com/office/drawing/2014/main" id="{70948CE7-2EE2-526C-B4BF-D6949E17A2B4}"/>
                </a:ext>
              </a:extLst>
            </p:cNvPr>
            <p:cNvSpPr/>
            <p:nvPr/>
          </p:nvSpPr>
          <p:spPr>
            <a:xfrm>
              <a:off x="7977902" y="3587829"/>
              <a:ext cx="2016204" cy="2519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55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Guardrails</a:t>
              </a:r>
              <a:endParaRPr lang="en-US" sz="1550" dirty="0"/>
            </a:p>
          </p:txBody>
        </p:sp>
        <p:sp>
          <p:nvSpPr>
            <p:cNvPr id="42" name="Text 12">
              <a:extLst>
                <a:ext uri="{FF2B5EF4-FFF2-40B4-BE49-F238E27FC236}">
                  <a16:creationId xmlns:a16="http://schemas.microsoft.com/office/drawing/2014/main" id="{AB1A1ECA-6718-2565-F592-EFFC23E4F555}"/>
                </a:ext>
              </a:extLst>
            </p:cNvPr>
            <p:cNvSpPr/>
            <p:nvPr/>
          </p:nvSpPr>
          <p:spPr>
            <a:xfrm>
              <a:off x="7977902" y="3904774"/>
              <a:ext cx="4902160" cy="2091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1200" b="1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Hallucination Detection &amp; Validation</a:t>
              </a:r>
              <a:endParaRPr lang="en-US" sz="1200" dirty="0"/>
            </a:p>
          </p:txBody>
        </p:sp>
        <p:sp>
          <p:nvSpPr>
            <p:cNvPr id="43" name="Text 13">
              <a:extLst>
                <a:ext uri="{FF2B5EF4-FFF2-40B4-BE49-F238E27FC236}">
                  <a16:creationId xmlns:a16="http://schemas.microsoft.com/office/drawing/2014/main" id="{221D5B8A-B6E4-945A-44A9-B98947B1233D}"/>
                </a:ext>
              </a:extLst>
            </p:cNvPr>
            <p:cNvSpPr/>
            <p:nvPr/>
          </p:nvSpPr>
          <p:spPr>
            <a:xfrm>
              <a:off x="7977902" y="4178975"/>
              <a:ext cx="4902160" cy="6275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00"/>
                </a:lnSpc>
                <a:buNone/>
              </a:pPr>
              <a:r>
                <a:rPr lang="en-US" sz="120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Six-layer ensemble: schema adherence, internal consistency</a:t>
              </a:r>
              <a:r>
                <a:rPr lang="en-US" sz="120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, relevance, </a:t>
              </a:r>
              <a:r>
                <a:rPr lang="en-US" sz="120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domain rules, PII detection via Presidio, semantic faithfulness via cosine similarity. Runs before any result reaches the user.</a:t>
              </a:r>
              <a:endParaRPr lang="en-US" sz="1200" dirty="0"/>
            </a:p>
          </p:txBody>
        </p:sp>
        <p:sp>
          <p:nvSpPr>
            <p:cNvPr id="44" name="Text 14">
              <a:extLst>
                <a:ext uri="{FF2B5EF4-FFF2-40B4-BE49-F238E27FC236}">
                  <a16:creationId xmlns:a16="http://schemas.microsoft.com/office/drawing/2014/main" id="{6E5D50D3-DD01-B37A-C1F6-281949945DFB}"/>
                </a:ext>
              </a:extLst>
            </p:cNvPr>
            <p:cNvSpPr/>
            <p:nvPr/>
          </p:nvSpPr>
          <p:spPr>
            <a:xfrm>
              <a:off x="1750219" y="5005030"/>
              <a:ext cx="2680930" cy="5056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3950"/>
                </a:lnSpc>
                <a:buNone/>
              </a:pPr>
              <a:r>
                <a:rPr lang="en-US" sz="395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90%</a:t>
              </a:r>
              <a:endParaRPr lang="en-US" sz="3950" dirty="0"/>
            </a:p>
          </p:txBody>
        </p:sp>
        <p:sp>
          <p:nvSpPr>
            <p:cNvPr id="45" name="Text 15">
              <a:extLst>
                <a:ext uri="{FF2B5EF4-FFF2-40B4-BE49-F238E27FC236}">
                  <a16:creationId xmlns:a16="http://schemas.microsoft.com/office/drawing/2014/main" id="{5F5569A6-5A9B-75A5-3371-F3025AAB45BA}"/>
                </a:ext>
              </a:extLst>
            </p:cNvPr>
            <p:cNvSpPr/>
            <p:nvPr/>
          </p:nvSpPr>
          <p:spPr>
            <a:xfrm>
              <a:off x="2082522" y="5668447"/>
              <a:ext cx="2016204" cy="2519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950"/>
                </a:lnSpc>
                <a:buNone/>
              </a:pPr>
              <a:r>
                <a:rPr lang="en-US" sz="155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System Completion</a:t>
              </a:r>
              <a:endParaRPr lang="en-US" sz="1550" dirty="0"/>
            </a:p>
          </p:txBody>
        </p:sp>
        <p:sp>
          <p:nvSpPr>
            <p:cNvPr id="46" name="Text 16">
              <a:extLst>
                <a:ext uri="{FF2B5EF4-FFF2-40B4-BE49-F238E27FC236}">
                  <a16:creationId xmlns:a16="http://schemas.microsoft.com/office/drawing/2014/main" id="{A72D691B-6837-4821-E1A4-F8D7BE10BB1A}"/>
                </a:ext>
              </a:extLst>
            </p:cNvPr>
            <p:cNvSpPr/>
            <p:nvPr/>
          </p:nvSpPr>
          <p:spPr>
            <a:xfrm>
              <a:off x="4566523" y="5005030"/>
              <a:ext cx="2680930" cy="5056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3950"/>
                </a:lnSpc>
                <a:buNone/>
              </a:pPr>
              <a:r>
                <a:rPr lang="en-US" sz="395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8</a:t>
              </a:r>
              <a:endParaRPr lang="en-US" sz="3950" dirty="0"/>
            </a:p>
          </p:txBody>
        </p:sp>
        <p:sp>
          <p:nvSpPr>
            <p:cNvPr id="47" name="Text 17">
              <a:extLst>
                <a:ext uri="{FF2B5EF4-FFF2-40B4-BE49-F238E27FC236}">
                  <a16:creationId xmlns:a16="http://schemas.microsoft.com/office/drawing/2014/main" id="{6EC9165F-6BA9-B62F-DB94-9963B683FDAA}"/>
                </a:ext>
              </a:extLst>
            </p:cNvPr>
            <p:cNvSpPr/>
            <p:nvPr/>
          </p:nvSpPr>
          <p:spPr>
            <a:xfrm>
              <a:off x="4898827" y="5668447"/>
              <a:ext cx="2016204" cy="2519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950"/>
                </a:lnSpc>
                <a:buNone/>
              </a:pPr>
              <a:r>
                <a:rPr lang="en-US" sz="155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Docker Services</a:t>
              </a:r>
              <a:endParaRPr lang="en-US" sz="1550" dirty="0"/>
            </a:p>
          </p:txBody>
        </p:sp>
        <p:sp>
          <p:nvSpPr>
            <p:cNvPr id="48" name="Text 18">
              <a:extLst>
                <a:ext uri="{FF2B5EF4-FFF2-40B4-BE49-F238E27FC236}">
                  <a16:creationId xmlns:a16="http://schemas.microsoft.com/office/drawing/2014/main" id="{107FBF09-41B6-658E-0689-CCF452BBC61B}"/>
                </a:ext>
              </a:extLst>
            </p:cNvPr>
            <p:cNvSpPr/>
            <p:nvPr/>
          </p:nvSpPr>
          <p:spPr>
            <a:xfrm>
              <a:off x="7382828" y="5005030"/>
              <a:ext cx="2680930" cy="5056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3950"/>
                </a:lnSpc>
                <a:buNone/>
              </a:pPr>
              <a:r>
                <a:rPr lang="en-US" sz="395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3</a:t>
              </a:r>
              <a:endParaRPr lang="en-US" sz="3950" dirty="0"/>
            </a:p>
          </p:txBody>
        </p:sp>
        <p:sp>
          <p:nvSpPr>
            <p:cNvPr id="49" name="Text 19">
              <a:extLst>
                <a:ext uri="{FF2B5EF4-FFF2-40B4-BE49-F238E27FC236}">
                  <a16:creationId xmlns:a16="http://schemas.microsoft.com/office/drawing/2014/main" id="{F3712273-6474-E3A5-A2D9-F9FA86AADA8F}"/>
                </a:ext>
              </a:extLst>
            </p:cNvPr>
            <p:cNvSpPr/>
            <p:nvPr/>
          </p:nvSpPr>
          <p:spPr>
            <a:xfrm>
              <a:off x="7715131" y="5668447"/>
              <a:ext cx="2016204" cy="2519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950"/>
                </a:lnSpc>
                <a:buNone/>
              </a:pPr>
              <a:r>
                <a:rPr lang="en-US" sz="155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Memory Tiers</a:t>
              </a:r>
              <a:endParaRPr lang="en-US" sz="1550" dirty="0"/>
            </a:p>
          </p:txBody>
        </p:sp>
        <p:sp>
          <p:nvSpPr>
            <p:cNvPr id="50" name="Text 20">
              <a:extLst>
                <a:ext uri="{FF2B5EF4-FFF2-40B4-BE49-F238E27FC236}">
                  <a16:creationId xmlns:a16="http://schemas.microsoft.com/office/drawing/2014/main" id="{0B043B32-8C1F-FA90-F6C9-F863FE38F356}"/>
                </a:ext>
              </a:extLst>
            </p:cNvPr>
            <p:cNvSpPr/>
            <p:nvPr/>
          </p:nvSpPr>
          <p:spPr>
            <a:xfrm>
              <a:off x="10199132" y="5005030"/>
              <a:ext cx="2680930" cy="5056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3950"/>
                </a:lnSpc>
                <a:buNone/>
              </a:pPr>
              <a:r>
                <a:rPr lang="en-US" sz="395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14+</a:t>
              </a:r>
              <a:endParaRPr lang="en-US" sz="3950" dirty="0"/>
            </a:p>
          </p:txBody>
        </p:sp>
        <p:sp>
          <p:nvSpPr>
            <p:cNvPr id="51" name="Text 21">
              <a:extLst>
                <a:ext uri="{FF2B5EF4-FFF2-40B4-BE49-F238E27FC236}">
                  <a16:creationId xmlns:a16="http://schemas.microsoft.com/office/drawing/2014/main" id="{D1C99F53-0F38-7AA8-FECC-477608F1CA15}"/>
                </a:ext>
              </a:extLst>
            </p:cNvPr>
            <p:cNvSpPr/>
            <p:nvPr/>
          </p:nvSpPr>
          <p:spPr>
            <a:xfrm>
              <a:off x="10531435" y="5668447"/>
              <a:ext cx="2016204" cy="2519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950"/>
                </a:lnSpc>
                <a:buNone/>
              </a:pPr>
              <a:r>
                <a:rPr lang="en-US" sz="155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Specialist Agents</a:t>
              </a:r>
              <a:endParaRPr lang="en-US" sz="1550" dirty="0"/>
            </a:p>
          </p:txBody>
        </p:sp>
        <p:sp>
          <p:nvSpPr>
            <p:cNvPr id="52" name="Text 22">
              <a:extLst>
                <a:ext uri="{FF2B5EF4-FFF2-40B4-BE49-F238E27FC236}">
                  <a16:creationId xmlns:a16="http://schemas.microsoft.com/office/drawing/2014/main" id="{ACC89DC8-1BAF-372C-4EA5-AD67776363CD}"/>
                </a:ext>
              </a:extLst>
            </p:cNvPr>
            <p:cNvSpPr/>
            <p:nvPr/>
          </p:nvSpPr>
          <p:spPr>
            <a:xfrm>
              <a:off x="5974675" y="6213634"/>
              <a:ext cx="2680930" cy="5056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>
                <a:lnSpc>
                  <a:spcPts val="3950"/>
                </a:lnSpc>
              </a:pPr>
              <a:r>
                <a:rPr lang="en-US" sz="3950" b="1" dirty="0">
                  <a:solidFill>
                    <a:srgbClr val="384653"/>
                  </a:solidFill>
                  <a:latin typeface="Barlow Bold" pitchFamily="34" charset="0"/>
                </a:rPr>
                <a:t>6</a:t>
              </a:r>
              <a:endParaRPr lang="en-US" sz="3950" dirty="0"/>
            </a:p>
          </p:txBody>
        </p:sp>
        <p:sp>
          <p:nvSpPr>
            <p:cNvPr id="53" name="Text 23">
              <a:extLst>
                <a:ext uri="{FF2B5EF4-FFF2-40B4-BE49-F238E27FC236}">
                  <a16:creationId xmlns:a16="http://schemas.microsoft.com/office/drawing/2014/main" id="{0E54E4B1-34F6-90CD-E0E0-E82D9CB26395}"/>
                </a:ext>
              </a:extLst>
            </p:cNvPr>
            <p:cNvSpPr/>
            <p:nvPr/>
          </p:nvSpPr>
          <p:spPr>
            <a:xfrm>
              <a:off x="6306979" y="6877050"/>
              <a:ext cx="2016204" cy="2519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950"/>
                </a:lnSpc>
                <a:buNone/>
              </a:pPr>
              <a:r>
                <a:rPr lang="en-US" sz="155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Validation Layers</a:t>
              </a:r>
              <a:endParaRPr lang="en-US" sz="1550" dirty="0"/>
            </a:p>
          </p:txBody>
        </p:sp>
      </p:grpSp>
    </p:spTree>
    <p:extLst>
      <p:ext uri="{BB962C8B-B14F-4D97-AF65-F5344CB8AC3E}">
        <p14:creationId xmlns:p14="http://schemas.microsoft.com/office/powerpoint/2010/main" val="2901342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93E60B7-F6F9-56F9-E8D6-3EDD29DE8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063C7AE-95F2-8250-18F7-1634377B61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61967" y="0"/>
            <a:ext cx="66680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736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4449D2F-570E-2812-612B-AAEB04194C70}"/>
              </a:ext>
            </a:extLst>
          </p:cNvPr>
          <p:cNvGrpSpPr/>
          <p:nvPr/>
        </p:nvGrpSpPr>
        <p:grpSpPr>
          <a:xfrm>
            <a:off x="135467" y="422918"/>
            <a:ext cx="11921066" cy="6400799"/>
            <a:chOff x="643771" y="877133"/>
            <a:chExt cx="13350478" cy="6475333"/>
          </a:xfrm>
        </p:grpSpPr>
        <p:sp>
          <p:nvSpPr>
            <p:cNvPr id="4" name="Text 0">
              <a:extLst>
                <a:ext uri="{FF2B5EF4-FFF2-40B4-BE49-F238E27FC236}">
                  <a16:creationId xmlns:a16="http://schemas.microsoft.com/office/drawing/2014/main" id="{13E66484-209C-5585-9566-AF970175445C}"/>
                </a:ext>
              </a:extLst>
            </p:cNvPr>
            <p:cNvSpPr/>
            <p:nvPr/>
          </p:nvSpPr>
          <p:spPr>
            <a:xfrm>
              <a:off x="643771" y="877133"/>
              <a:ext cx="6568797" cy="6050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750"/>
                </a:lnSpc>
                <a:buNone/>
              </a:pPr>
              <a:r>
                <a:rPr lang="en-US" sz="3800" b="1" dirty="0">
                  <a:solidFill>
                    <a:srgbClr val="2E3C4E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Why This Has Real-World Value</a:t>
              </a:r>
              <a:endParaRPr lang="en-US" sz="3800" dirty="0"/>
            </a:p>
          </p:txBody>
        </p:sp>
        <p:sp>
          <p:nvSpPr>
            <p:cNvPr id="5" name="Text 1">
              <a:extLst>
                <a:ext uri="{FF2B5EF4-FFF2-40B4-BE49-F238E27FC236}">
                  <a16:creationId xmlns:a16="http://schemas.microsoft.com/office/drawing/2014/main" id="{29EC474E-712D-6758-312F-6E58719B2DDD}"/>
                </a:ext>
              </a:extLst>
            </p:cNvPr>
            <p:cNvSpPr/>
            <p:nvPr/>
          </p:nvSpPr>
          <p:spPr>
            <a:xfrm>
              <a:off x="643771" y="1872496"/>
              <a:ext cx="2420422" cy="3025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50"/>
                </a:lnSpc>
                <a:buNone/>
              </a:pPr>
              <a:r>
                <a:rPr lang="en-US" sz="1900" b="1" dirty="0">
                  <a:solidFill>
                    <a:srgbClr val="2E3C4E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Market Opportunity</a:t>
              </a:r>
              <a:endParaRPr lang="en-US" sz="1900" dirty="0"/>
            </a:p>
          </p:txBody>
        </p:sp>
        <p:sp>
          <p:nvSpPr>
            <p:cNvPr id="6" name="Text 2">
              <a:extLst>
                <a:ext uri="{FF2B5EF4-FFF2-40B4-BE49-F238E27FC236}">
                  <a16:creationId xmlns:a16="http://schemas.microsoft.com/office/drawing/2014/main" id="{63A6BD29-BDDE-1CCF-761F-DF3C0068731F}"/>
                </a:ext>
              </a:extLst>
            </p:cNvPr>
            <p:cNvSpPr/>
            <p:nvPr/>
          </p:nvSpPr>
          <p:spPr>
            <a:xfrm>
              <a:off x="643771" y="2331125"/>
              <a:ext cx="6447115" cy="2720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100"/>
                </a:lnSpc>
              </a:pPr>
              <a:r>
                <a:rPr lang="en-US" sz="1400" b="1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Target Industries:</a:t>
              </a:r>
              <a:r>
                <a:rPr lang="en-US" sz="140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Finance · Legal · Healthcare · Education</a:t>
              </a:r>
              <a:endParaRPr lang="en-US" sz="1400" dirty="0"/>
            </a:p>
          </p:txBody>
        </p:sp>
        <p:sp>
          <p:nvSpPr>
            <p:cNvPr id="7" name="Text 3">
              <a:extLst>
                <a:ext uri="{FF2B5EF4-FFF2-40B4-BE49-F238E27FC236}">
                  <a16:creationId xmlns:a16="http://schemas.microsoft.com/office/drawing/2014/main" id="{20501CF1-061C-9F2B-583C-204EC0A5740A}"/>
                </a:ext>
              </a:extLst>
            </p:cNvPr>
            <p:cNvSpPr/>
            <p:nvPr/>
          </p:nvSpPr>
          <p:spPr>
            <a:xfrm>
              <a:off x="643771" y="2743676"/>
              <a:ext cx="6447115" cy="10882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400" b="1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The Problem:</a:t>
              </a:r>
              <a:r>
                <a:rPr lang="en-US" sz="140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When a new document type arrives or an existing format changes, traditional systems need a person to label data, retrain, validate, and redeploy. That takes weeks and costs significant engineering hours every time.</a:t>
              </a:r>
              <a:endParaRPr lang="en-US" sz="1400" dirty="0"/>
            </a:p>
          </p:txBody>
        </p:sp>
        <p:sp>
          <p:nvSpPr>
            <p:cNvPr id="8" name="Text 4">
              <a:extLst>
                <a:ext uri="{FF2B5EF4-FFF2-40B4-BE49-F238E27FC236}">
                  <a16:creationId xmlns:a16="http://schemas.microsoft.com/office/drawing/2014/main" id="{10EE62A2-5026-9F36-B8A7-3859D7EAA9E6}"/>
                </a:ext>
              </a:extLst>
            </p:cNvPr>
            <p:cNvSpPr/>
            <p:nvPr/>
          </p:nvSpPr>
          <p:spPr>
            <a:xfrm>
              <a:off x="643771" y="3972401"/>
              <a:ext cx="6447115" cy="10882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400" b="1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Our Advantage:</a:t>
              </a:r>
              <a:r>
                <a:rPr lang="en-US" sz="140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AHMN handles a new document type in 10–20 documents through knowledge transfer. Guardrails catches errors before they reach users. XAI provides audit trails for compliance. Zero retraining required.</a:t>
              </a:r>
              <a:endParaRPr lang="en-US" sz="1400" dirty="0"/>
            </a:p>
          </p:txBody>
        </p:sp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93271A96-FA38-6F94-4D8D-D417F61EE12B}"/>
                </a:ext>
              </a:extLst>
            </p:cNvPr>
            <p:cNvSpPr/>
            <p:nvPr/>
          </p:nvSpPr>
          <p:spPr>
            <a:xfrm>
              <a:off x="7547134" y="1872496"/>
              <a:ext cx="2420422" cy="3025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50"/>
                </a:lnSpc>
                <a:buNone/>
              </a:pPr>
              <a:r>
                <a:rPr lang="en-US" sz="1900" b="1" dirty="0">
                  <a:solidFill>
                    <a:srgbClr val="2E3C4E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Revenue Model</a:t>
              </a:r>
              <a:endParaRPr lang="en-US" sz="1900" dirty="0"/>
            </a:p>
          </p:txBody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6D7EF6FB-8D3B-A9FA-75CC-1CF89452CD2B}"/>
                </a:ext>
              </a:extLst>
            </p:cNvPr>
            <p:cNvSpPr/>
            <p:nvPr/>
          </p:nvSpPr>
          <p:spPr>
            <a:xfrm>
              <a:off x="7547134" y="2331125"/>
              <a:ext cx="6447115" cy="5441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40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Subscription-based with tiered plans. Enterprise tier offers custom deployments + domain-specific modules.</a:t>
              </a:r>
              <a:endParaRPr lang="en-US" sz="1400" dirty="0"/>
            </a:p>
          </p:txBody>
        </p:sp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12239AAD-D85D-42DE-908B-F259006113D0}"/>
                </a:ext>
              </a:extLst>
            </p:cNvPr>
            <p:cNvSpPr/>
            <p:nvPr/>
          </p:nvSpPr>
          <p:spPr>
            <a:xfrm>
              <a:off x="7547134" y="3031331"/>
              <a:ext cx="2460784" cy="3025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50"/>
                </a:lnSpc>
                <a:buNone/>
              </a:pPr>
              <a:r>
                <a:rPr lang="en-US" sz="1900" b="1" dirty="0">
                  <a:solidFill>
                    <a:srgbClr val="2E3C4E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Investment Breakdown</a:t>
              </a:r>
              <a:endParaRPr lang="en-US" sz="1900" dirty="0"/>
            </a:p>
          </p:txBody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790166D3-E201-D7D4-97EE-5BD261AB29FB}"/>
                </a:ext>
              </a:extLst>
            </p:cNvPr>
            <p:cNvSpPr/>
            <p:nvPr/>
          </p:nvSpPr>
          <p:spPr>
            <a:xfrm>
              <a:off x="7547134" y="3509486"/>
              <a:ext cx="6447115" cy="1914049"/>
            </a:xfrm>
            <a:prstGeom prst="roundRect">
              <a:avLst>
                <a:gd name="adj" fmla="val 14416"/>
              </a:avLst>
            </a:prstGeom>
            <a:noFill/>
            <a:ln w="7620">
              <a:solidFill>
                <a:srgbClr val="000000">
                  <a:alpha val="8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CA22247E-7593-A0BF-16F9-E79BA476B54E}"/>
                </a:ext>
              </a:extLst>
            </p:cNvPr>
            <p:cNvSpPr/>
            <p:nvPr/>
          </p:nvSpPr>
          <p:spPr>
            <a:xfrm>
              <a:off x="7554754" y="3517106"/>
              <a:ext cx="6431875" cy="474702"/>
            </a:xfrm>
            <a:prstGeom prst="rect">
              <a:avLst/>
            </a:prstGeom>
            <a:solidFill>
              <a:srgbClr val="FFFFFF">
                <a:alpha val="4000"/>
              </a:srgbClr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" name="Text 10">
              <a:extLst>
                <a:ext uri="{FF2B5EF4-FFF2-40B4-BE49-F238E27FC236}">
                  <a16:creationId xmlns:a16="http://schemas.microsoft.com/office/drawing/2014/main" id="{2C4227B2-45BA-97B8-67DE-8DB04BB6E308}"/>
                </a:ext>
              </a:extLst>
            </p:cNvPr>
            <p:cNvSpPr/>
            <p:nvPr/>
          </p:nvSpPr>
          <p:spPr>
            <a:xfrm>
              <a:off x="7738824" y="3618428"/>
              <a:ext cx="3487341" cy="2720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400" b="1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Deployment and Maintenance</a:t>
              </a:r>
              <a:endParaRPr lang="en-US" sz="1400" dirty="0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DA4BB472-0452-C1BC-D0F4-D03F6D763173}"/>
                </a:ext>
              </a:extLst>
            </p:cNvPr>
            <p:cNvSpPr/>
            <p:nvPr/>
          </p:nvSpPr>
          <p:spPr>
            <a:xfrm>
              <a:off x="11601688" y="3618428"/>
              <a:ext cx="2200989" cy="2720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40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20,000 LKR</a:t>
              </a:r>
              <a:endParaRPr lang="en-US" sz="1400" dirty="0"/>
            </a:p>
          </p:txBody>
        </p:sp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08DFABC9-9CB5-9476-22D3-E5A1FF2E6FAD}"/>
                </a:ext>
              </a:extLst>
            </p:cNvPr>
            <p:cNvSpPr/>
            <p:nvPr/>
          </p:nvSpPr>
          <p:spPr>
            <a:xfrm>
              <a:off x="7554754" y="3991808"/>
              <a:ext cx="6431875" cy="474702"/>
            </a:xfrm>
            <a:prstGeom prst="rect">
              <a:avLst/>
            </a:prstGeom>
            <a:solidFill>
              <a:srgbClr val="000000">
                <a:alpha val="4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3">
              <a:extLst>
                <a:ext uri="{FF2B5EF4-FFF2-40B4-BE49-F238E27FC236}">
                  <a16:creationId xmlns:a16="http://schemas.microsoft.com/office/drawing/2014/main" id="{1C5F0B63-63B9-910E-60E0-5CD0031A3474}"/>
                </a:ext>
              </a:extLst>
            </p:cNvPr>
            <p:cNvSpPr/>
            <p:nvPr/>
          </p:nvSpPr>
          <p:spPr>
            <a:xfrm>
              <a:off x="7738824" y="4093131"/>
              <a:ext cx="3487341" cy="2720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400" b="1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Conference Participation</a:t>
              </a:r>
              <a:endParaRPr lang="en-US" sz="1400" dirty="0"/>
            </a:p>
          </p:txBody>
        </p:sp>
        <p:sp>
          <p:nvSpPr>
            <p:cNvPr id="18" name="Text 14">
              <a:extLst>
                <a:ext uri="{FF2B5EF4-FFF2-40B4-BE49-F238E27FC236}">
                  <a16:creationId xmlns:a16="http://schemas.microsoft.com/office/drawing/2014/main" id="{51CF7637-DDA4-59FC-9256-6B78124C99E2}"/>
                </a:ext>
              </a:extLst>
            </p:cNvPr>
            <p:cNvSpPr/>
            <p:nvPr/>
          </p:nvSpPr>
          <p:spPr>
            <a:xfrm>
              <a:off x="11601688" y="4093131"/>
              <a:ext cx="2200989" cy="2720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40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100,000 LKR</a:t>
              </a:r>
              <a:endParaRPr lang="en-US" sz="1400" dirty="0"/>
            </a:p>
          </p:txBody>
        </p:sp>
        <p:sp>
          <p:nvSpPr>
            <p:cNvPr id="22" name="Shape 18">
              <a:extLst>
                <a:ext uri="{FF2B5EF4-FFF2-40B4-BE49-F238E27FC236}">
                  <a16:creationId xmlns:a16="http://schemas.microsoft.com/office/drawing/2014/main" id="{E9017AC0-51BE-B703-B689-D48AC37DFBB6}"/>
                </a:ext>
              </a:extLst>
            </p:cNvPr>
            <p:cNvSpPr/>
            <p:nvPr/>
          </p:nvSpPr>
          <p:spPr>
            <a:xfrm>
              <a:off x="7554754" y="4941213"/>
              <a:ext cx="6431875" cy="474702"/>
            </a:xfrm>
            <a:prstGeom prst="rect">
              <a:avLst/>
            </a:prstGeom>
            <a:solidFill>
              <a:srgbClr val="000000">
                <a:alpha val="4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19">
              <a:extLst>
                <a:ext uri="{FF2B5EF4-FFF2-40B4-BE49-F238E27FC236}">
                  <a16:creationId xmlns:a16="http://schemas.microsoft.com/office/drawing/2014/main" id="{A2B9AA40-6D23-95BC-A8B2-10E82A6AE894}"/>
                </a:ext>
              </a:extLst>
            </p:cNvPr>
            <p:cNvSpPr/>
            <p:nvPr/>
          </p:nvSpPr>
          <p:spPr>
            <a:xfrm>
              <a:off x="7738824" y="5042535"/>
              <a:ext cx="3487341" cy="2720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400" b="1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Total</a:t>
              </a:r>
              <a:endParaRPr lang="en-US" sz="1400" dirty="0"/>
            </a:p>
          </p:txBody>
        </p:sp>
        <p:sp>
          <p:nvSpPr>
            <p:cNvPr id="24" name="Text 20">
              <a:extLst>
                <a:ext uri="{FF2B5EF4-FFF2-40B4-BE49-F238E27FC236}">
                  <a16:creationId xmlns:a16="http://schemas.microsoft.com/office/drawing/2014/main" id="{A45C433C-D67E-6A88-E251-B91D8FBA9DBE}"/>
                </a:ext>
              </a:extLst>
            </p:cNvPr>
            <p:cNvSpPr/>
            <p:nvPr/>
          </p:nvSpPr>
          <p:spPr>
            <a:xfrm>
              <a:off x="11601688" y="5042535"/>
              <a:ext cx="2200989" cy="2720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400" b="1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120,000 LKR</a:t>
              </a:r>
              <a:endParaRPr lang="en-US" sz="1400" dirty="0"/>
            </a:p>
          </p:txBody>
        </p:sp>
        <p:sp>
          <p:nvSpPr>
            <p:cNvPr id="25" name="Shape 21">
              <a:extLst>
                <a:ext uri="{FF2B5EF4-FFF2-40B4-BE49-F238E27FC236}">
                  <a16:creationId xmlns:a16="http://schemas.microsoft.com/office/drawing/2014/main" id="{3AD72175-B020-09F8-85E5-A92B3E5046C7}"/>
                </a:ext>
              </a:extLst>
            </p:cNvPr>
            <p:cNvSpPr/>
            <p:nvPr/>
          </p:nvSpPr>
          <p:spPr>
            <a:xfrm>
              <a:off x="643771" y="5774769"/>
              <a:ext cx="13342858" cy="1577697"/>
            </a:xfrm>
            <a:prstGeom prst="roundRect">
              <a:avLst>
                <a:gd name="adj" fmla="val 17490"/>
              </a:avLst>
            </a:prstGeom>
            <a:solidFill>
              <a:srgbClr val="BEDFF3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preencoded.png">
              <a:extLst>
                <a:ext uri="{FF2B5EF4-FFF2-40B4-BE49-F238E27FC236}">
                  <a16:creationId xmlns:a16="http://schemas.microsoft.com/office/drawing/2014/main" id="{CE611DD1-26CB-ECAB-D3E9-D8CD513C3E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7723" y="6008965"/>
              <a:ext cx="302538" cy="241935"/>
            </a:xfrm>
            <a:prstGeom prst="rect">
              <a:avLst/>
            </a:prstGeom>
          </p:spPr>
        </p:pic>
        <p:sp>
          <p:nvSpPr>
            <p:cNvPr id="27" name="Text 22">
              <a:extLst>
                <a:ext uri="{FF2B5EF4-FFF2-40B4-BE49-F238E27FC236}">
                  <a16:creationId xmlns:a16="http://schemas.microsoft.com/office/drawing/2014/main" id="{177BD5B9-31B8-A3BD-7937-EA9E29BE64BF}"/>
                </a:ext>
              </a:extLst>
            </p:cNvPr>
            <p:cNvSpPr/>
            <p:nvPr/>
          </p:nvSpPr>
          <p:spPr>
            <a:xfrm>
              <a:off x="1314212" y="5976818"/>
              <a:ext cx="2515910" cy="3025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50"/>
                </a:lnSpc>
                <a:buNone/>
              </a:pPr>
              <a:r>
                <a:rPr lang="en-US" sz="1900" b="1" dirty="0">
                  <a:solidFill>
                    <a:srgbClr val="000000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Competitive Advantage</a:t>
              </a:r>
              <a:endParaRPr lang="en-US" sz="1900" dirty="0"/>
            </a:p>
          </p:txBody>
        </p:sp>
        <p:sp>
          <p:nvSpPr>
            <p:cNvPr id="28" name="Text 23">
              <a:extLst>
                <a:ext uri="{FF2B5EF4-FFF2-40B4-BE49-F238E27FC236}">
                  <a16:creationId xmlns:a16="http://schemas.microsoft.com/office/drawing/2014/main" id="{CBE4EEC0-B6A5-7278-E5BB-0A96E87078BB}"/>
                </a:ext>
              </a:extLst>
            </p:cNvPr>
            <p:cNvSpPr/>
            <p:nvPr/>
          </p:nvSpPr>
          <p:spPr>
            <a:xfrm>
              <a:off x="1314212" y="6435447"/>
              <a:ext cx="12488466" cy="2720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Docsumo · Rossum · </a:t>
              </a:r>
              <a:r>
                <a:rPr lang="en-US" sz="1400" b="1" dirty="0" err="1">
                  <a:solidFill>
                    <a:srgbClr val="00000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Hyperscience</a:t>
              </a:r>
              <a:r>
                <a:rPr lang="en-US" sz="1400" dirty="0">
                  <a:solidFill>
                    <a:srgbClr val="00000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 All require manual intervention for new document types.</a:t>
              </a:r>
              <a:endParaRPr lang="en-US" sz="1400" dirty="0"/>
            </a:p>
          </p:txBody>
        </p:sp>
        <p:sp>
          <p:nvSpPr>
            <p:cNvPr id="29" name="Text 24">
              <a:extLst>
                <a:ext uri="{FF2B5EF4-FFF2-40B4-BE49-F238E27FC236}">
                  <a16:creationId xmlns:a16="http://schemas.microsoft.com/office/drawing/2014/main" id="{ED150E8D-CC67-213B-400D-A15AE34AB807}"/>
                </a:ext>
              </a:extLst>
            </p:cNvPr>
            <p:cNvSpPr/>
            <p:nvPr/>
          </p:nvSpPr>
          <p:spPr>
            <a:xfrm>
              <a:off x="1314212" y="6847999"/>
              <a:ext cx="12488466" cy="2720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400" b="1" dirty="0">
                  <a:solidFill>
                    <a:srgbClr val="2589C9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We don't.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26302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84870CF-C7C7-B0FB-C046-0CB301F691EF}"/>
              </a:ext>
            </a:extLst>
          </p:cNvPr>
          <p:cNvGrpSpPr/>
          <p:nvPr/>
        </p:nvGrpSpPr>
        <p:grpSpPr>
          <a:xfrm>
            <a:off x="225778" y="180622"/>
            <a:ext cx="11785600" cy="6570134"/>
            <a:chOff x="3371969" y="1092398"/>
            <a:chExt cx="7886462" cy="6044803"/>
          </a:xfrm>
        </p:grpSpPr>
        <p:sp>
          <p:nvSpPr>
            <p:cNvPr id="4" name="Text 0">
              <a:extLst>
                <a:ext uri="{FF2B5EF4-FFF2-40B4-BE49-F238E27FC236}">
                  <a16:creationId xmlns:a16="http://schemas.microsoft.com/office/drawing/2014/main" id="{3B90CCD7-40B9-0686-5584-77DC4BAA910D}"/>
                </a:ext>
              </a:extLst>
            </p:cNvPr>
            <p:cNvSpPr/>
            <p:nvPr/>
          </p:nvSpPr>
          <p:spPr>
            <a:xfrm>
              <a:off x="3371969" y="1092398"/>
              <a:ext cx="4719876" cy="3571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00"/>
                </a:lnSpc>
                <a:buNone/>
              </a:pPr>
              <a:r>
                <a:rPr lang="en-US" sz="2200" b="1" dirty="0">
                  <a:solidFill>
                    <a:srgbClr val="2E3C4E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30-Minute Demo — What To Watch For</a:t>
              </a:r>
              <a:endParaRPr lang="en-US" sz="2200" dirty="0"/>
            </a:p>
          </p:txBody>
        </p:sp>
        <p:sp>
          <p:nvSpPr>
            <p:cNvPr id="5" name="Shape 1">
              <a:extLst>
                <a:ext uri="{FF2B5EF4-FFF2-40B4-BE49-F238E27FC236}">
                  <a16:creationId xmlns:a16="http://schemas.microsoft.com/office/drawing/2014/main" id="{53572EBC-6950-F05E-DC93-69889C87FEDB}"/>
                </a:ext>
              </a:extLst>
            </p:cNvPr>
            <p:cNvSpPr/>
            <p:nvPr/>
          </p:nvSpPr>
          <p:spPr>
            <a:xfrm>
              <a:off x="3480554" y="1721168"/>
              <a:ext cx="108466" cy="689015"/>
            </a:xfrm>
            <a:prstGeom prst="roundRect">
              <a:avLst>
                <a:gd name="adj" fmla="val 150161"/>
              </a:avLst>
            </a:prstGeom>
            <a:solidFill>
              <a:srgbClr val="D4E9F7"/>
            </a:solidFill>
            <a:ln w="7620">
              <a:solidFill>
                <a:srgbClr val="BACF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2">
              <a:extLst>
                <a:ext uri="{FF2B5EF4-FFF2-40B4-BE49-F238E27FC236}">
                  <a16:creationId xmlns:a16="http://schemas.microsoft.com/office/drawing/2014/main" id="{68B69457-8EBF-1E2A-2F3C-66488780EE1E}"/>
                </a:ext>
              </a:extLst>
            </p:cNvPr>
            <p:cNvSpPr/>
            <p:nvPr/>
          </p:nvSpPr>
          <p:spPr>
            <a:xfrm>
              <a:off x="3371969" y="1649968"/>
              <a:ext cx="325636" cy="325636"/>
            </a:xfrm>
            <a:prstGeom prst="roundRect">
              <a:avLst>
                <a:gd name="adj" fmla="val 140402"/>
              </a:avLst>
            </a:prstGeom>
            <a:solidFill>
              <a:srgbClr val="D4E9F7"/>
            </a:solidFill>
            <a:ln w="7620">
              <a:solidFill>
                <a:srgbClr val="BACF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7" name="Image 0" descr="preencoded.png">
              <a:extLst>
                <a:ext uri="{FF2B5EF4-FFF2-40B4-BE49-F238E27FC236}">
                  <a16:creationId xmlns:a16="http://schemas.microsoft.com/office/drawing/2014/main" id="{FF867799-4560-7702-6718-A8279B4800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53408" y="1731407"/>
              <a:ext cx="162758" cy="162758"/>
            </a:xfrm>
            <a:prstGeom prst="rect">
              <a:avLst/>
            </a:prstGeom>
          </p:spPr>
        </p:pic>
        <p:sp>
          <p:nvSpPr>
            <p:cNvPr id="8" name="Text 3">
              <a:extLst>
                <a:ext uri="{FF2B5EF4-FFF2-40B4-BE49-F238E27FC236}">
                  <a16:creationId xmlns:a16="http://schemas.microsoft.com/office/drawing/2014/main" id="{68B8633C-EEA9-A06E-248F-30D0BD6A1686}"/>
                </a:ext>
              </a:extLst>
            </p:cNvPr>
            <p:cNvSpPr/>
            <p:nvPr/>
          </p:nvSpPr>
          <p:spPr>
            <a:xfrm>
              <a:off x="3752017" y="1666875"/>
              <a:ext cx="1592699" cy="1785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10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Upload &amp; Pipeline Trigger</a:t>
              </a:r>
              <a:endParaRPr lang="en-US" sz="1100" dirty="0"/>
            </a:p>
          </p:txBody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ED470332-6649-F208-A9FB-223B971B8EAC}"/>
                </a:ext>
              </a:extLst>
            </p:cNvPr>
            <p:cNvSpPr/>
            <p:nvPr/>
          </p:nvSpPr>
          <p:spPr>
            <a:xfrm>
              <a:off x="3752017" y="1878092"/>
              <a:ext cx="7506414" cy="13037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000"/>
                </a:lnSpc>
                <a:buNone/>
              </a:pPr>
              <a:r>
                <a:rPr lang="en-US" sz="850" b="1" dirty="0">
                  <a:solidFill>
                    <a:srgbClr val="75BAE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Dasanayake — 3 min</a:t>
              </a:r>
              <a:endParaRPr lang="en-US" sz="850" dirty="0"/>
            </a:p>
          </p:txBody>
        </p:sp>
        <p:sp>
          <p:nvSpPr>
            <p:cNvPr id="10" name="Text 5">
              <a:extLst>
                <a:ext uri="{FF2B5EF4-FFF2-40B4-BE49-F238E27FC236}">
                  <a16:creationId xmlns:a16="http://schemas.microsoft.com/office/drawing/2014/main" id="{A7689823-5509-EC47-CB41-FE1E85C93C81}"/>
                </a:ext>
              </a:extLst>
            </p:cNvPr>
            <p:cNvSpPr/>
            <p:nvPr/>
          </p:nvSpPr>
          <p:spPr>
            <a:xfrm>
              <a:off x="3752017" y="2041088"/>
              <a:ext cx="7506414" cy="2607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000"/>
                </a:lnSpc>
                <a:buNone/>
              </a:pPr>
              <a:r>
                <a:rPr lang="en-US" sz="85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Live upload of a healthcare invoice + clinical summary. Watch IDPO receive the documents, call AHMN for policy advice, and begin the agent pipeline.</a:t>
              </a:r>
              <a:endParaRPr lang="en-US" sz="850" dirty="0"/>
            </a:p>
          </p:txBody>
        </p:sp>
        <p:sp>
          <p:nvSpPr>
            <p:cNvPr id="11" name="Shape 6">
              <a:extLst>
                <a:ext uri="{FF2B5EF4-FFF2-40B4-BE49-F238E27FC236}">
                  <a16:creationId xmlns:a16="http://schemas.microsoft.com/office/drawing/2014/main" id="{E9D019AC-5968-EEDA-FD28-8D46D6BFB4C1}"/>
                </a:ext>
              </a:extLst>
            </p:cNvPr>
            <p:cNvSpPr/>
            <p:nvPr/>
          </p:nvSpPr>
          <p:spPr>
            <a:xfrm>
              <a:off x="3643313" y="2627471"/>
              <a:ext cx="108466" cy="689015"/>
            </a:xfrm>
            <a:prstGeom prst="roundRect">
              <a:avLst>
                <a:gd name="adj" fmla="val 150161"/>
              </a:avLst>
            </a:prstGeom>
            <a:solidFill>
              <a:srgbClr val="D4E9F7"/>
            </a:solidFill>
            <a:ln w="7620">
              <a:solidFill>
                <a:srgbClr val="BACF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7">
              <a:extLst>
                <a:ext uri="{FF2B5EF4-FFF2-40B4-BE49-F238E27FC236}">
                  <a16:creationId xmlns:a16="http://schemas.microsoft.com/office/drawing/2014/main" id="{3273D69A-5E7F-D970-48E3-10DDC936FCFF}"/>
                </a:ext>
              </a:extLst>
            </p:cNvPr>
            <p:cNvSpPr/>
            <p:nvPr/>
          </p:nvSpPr>
          <p:spPr>
            <a:xfrm>
              <a:off x="3534728" y="2556272"/>
              <a:ext cx="325636" cy="325636"/>
            </a:xfrm>
            <a:prstGeom prst="roundRect">
              <a:avLst>
                <a:gd name="adj" fmla="val 140402"/>
              </a:avLst>
            </a:prstGeom>
            <a:solidFill>
              <a:srgbClr val="D4E9F7"/>
            </a:solidFill>
            <a:ln w="7620">
              <a:solidFill>
                <a:srgbClr val="BACF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3" name="Image 1" descr="preencoded.png">
              <a:extLst>
                <a:ext uri="{FF2B5EF4-FFF2-40B4-BE49-F238E27FC236}">
                  <a16:creationId xmlns:a16="http://schemas.microsoft.com/office/drawing/2014/main" id="{6C62B9E4-3584-DE95-1E69-F9A6EADD08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616166" y="2637711"/>
              <a:ext cx="162758" cy="162758"/>
            </a:xfrm>
            <a:prstGeom prst="rect">
              <a:avLst/>
            </a:prstGeom>
          </p:spPr>
        </p:pic>
        <p:sp>
          <p:nvSpPr>
            <p:cNvPr id="14" name="Text 8">
              <a:extLst>
                <a:ext uri="{FF2B5EF4-FFF2-40B4-BE49-F238E27FC236}">
                  <a16:creationId xmlns:a16="http://schemas.microsoft.com/office/drawing/2014/main" id="{F3A67FCF-ACF6-624D-AAB6-70B2EE5EA4E0}"/>
                </a:ext>
              </a:extLst>
            </p:cNvPr>
            <p:cNvSpPr/>
            <p:nvPr/>
          </p:nvSpPr>
          <p:spPr>
            <a:xfrm>
              <a:off x="3914775" y="2573179"/>
              <a:ext cx="1428631" cy="1785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10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IDPO Pipeline Live</a:t>
              </a:r>
              <a:endParaRPr lang="en-US" sz="1100" dirty="0"/>
            </a:p>
          </p:txBody>
        </p:sp>
        <p:sp>
          <p:nvSpPr>
            <p:cNvPr id="15" name="Text 9">
              <a:extLst>
                <a:ext uri="{FF2B5EF4-FFF2-40B4-BE49-F238E27FC236}">
                  <a16:creationId xmlns:a16="http://schemas.microsoft.com/office/drawing/2014/main" id="{67505EE2-270F-30A1-6644-B852B3D2996B}"/>
                </a:ext>
              </a:extLst>
            </p:cNvPr>
            <p:cNvSpPr/>
            <p:nvPr/>
          </p:nvSpPr>
          <p:spPr>
            <a:xfrm>
              <a:off x="3914775" y="2784396"/>
              <a:ext cx="7343656" cy="13037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000"/>
                </a:lnSpc>
                <a:buNone/>
              </a:pPr>
              <a:r>
                <a:rPr lang="en-US" sz="850" b="1" dirty="0">
                  <a:solidFill>
                    <a:srgbClr val="75BAE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Nayanapriya — 8 min</a:t>
              </a:r>
              <a:endParaRPr lang="en-US" sz="850" dirty="0"/>
            </a:p>
          </p:txBody>
        </p:sp>
        <p:sp>
          <p:nvSpPr>
            <p:cNvPr id="16" name="Text 10">
              <a:extLst>
                <a:ext uri="{FF2B5EF4-FFF2-40B4-BE49-F238E27FC236}">
                  <a16:creationId xmlns:a16="http://schemas.microsoft.com/office/drawing/2014/main" id="{2339A678-89B8-A826-55DF-5BFD74350805}"/>
                </a:ext>
              </a:extLst>
            </p:cNvPr>
            <p:cNvSpPr/>
            <p:nvPr/>
          </p:nvSpPr>
          <p:spPr>
            <a:xfrm>
              <a:off x="3914775" y="2947392"/>
              <a:ext cx="7343656" cy="2607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000"/>
                </a:lnSpc>
                <a:buNone/>
              </a:pPr>
              <a:r>
                <a:rPr lang="en-US" sz="85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14-agent pipeline executing in real time. OCR selection, entity extraction, field-level recovery on low-confidence fields. Watch the provenance chain build.</a:t>
              </a:r>
              <a:endParaRPr lang="en-US" sz="850" dirty="0"/>
            </a:p>
          </p:txBody>
        </p:sp>
        <p:sp>
          <p:nvSpPr>
            <p:cNvPr id="17" name="Shape 11">
              <a:extLst>
                <a:ext uri="{FF2B5EF4-FFF2-40B4-BE49-F238E27FC236}">
                  <a16:creationId xmlns:a16="http://schemas.microsoft.com/office/drawing/2014/main" id="{0DADE73F-D2F2-F90E-992F-CA51037C5C21}"/>
                </a:ext>
              </a:extLst>
            </p:cNvPr>
            <p:cNvSpPr/>
            <p:nvPr/>
          </p:nvSpPr>
          <p:spPr>
            <a:xfrm>
              <a:off x="3806190" y="3533775"/>
              <a:ext cx="108466" cy="689015"/>
            </a:xfrm>
            <a:prstGeom prst="roundRect">
              <a:avLst>
                <a:gd name="adj" fmla="val 150161"/>
              </a:avLst>
            </a:prstGeom>
            <a:solidFill>
              <a:srgbClr val="D4E9F7"/>
            </a:solidFill>
            <a:ln w="7620">
              <a:solidFill>
                <a:srgbClr val="BACF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12">
              <a:extLst>
                <a:ext uri="{FF2B5EF4-FFF2-40B4-BE49-F238E27FC236}">
                  <a16:creationId xmlns:a16="http://schemas.microsoft.com/office/drawing/2014/main" id="{CD2C08A0-75F9-A47A-0C61-2689D96FAECA}"/>
                </a:ext>
              </a:extLst>
            </p:cNvPr>
            <p:cNvSpPr/>
            <p:nvPr/>
          </p:nvSpPr>
          <p:spPr>
            <a:xfrm>
              <a:off x="3697605" y="3462576"/>
              <a:ext cx="325636" cy="325636"/>
            </a:xfrm>
            <a:prstGeom prst="roundRect">
              <a:avLst>
                <a:gd name="adj" fmla="val 140402"/>
              </a:avLst>
            </a:prstGeom>
            <a:solidFill>
              <a:srgbClr val="D4E9F7"/>
            </a:solidFill>
            <a:ln w="7620">
              <a:solidFill>
                <a:srgbClr val="BACF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9" name="Image 2" descr="preencoded.png">
              <a:extLst>
                <a:ext uri="{FF2B5EF4-FFF2-40B4-BE49-F238E27FC236}">
                  <a16:creationId xmlns:a16="http://schemas.microsoft.com/office/drawing/2014/main" id="{C40F326A-CBF4-8856-ECD4-DEBDB1E9C1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79044" y="3544014"/>
              <a:ext cx="162758" cy="162758"/>
            </a:xfrm>
            <a:prstGeom prst="rect">
              <a:avLst/>
            </a:prstGeom>
          </p:spPr>
        </p:pic>
        <p:sp>
          <p:nvSpPr>
            <p:cNvPr id="20" name="Text 13">
              <a:extLst>
                <a:ext uri="{FF2B5EF4-FFF2-40B4-BE49-F238E27FC236}">
                  <a16:creationId xmlns:a16="http://schemas.microsoft.com/office/drawing/2014/main" id="{97987881-C2C7-6575-09B2-4A88ABA36EDF}"/>
                </a:ext>
              </a:extLst>
            </p:cNvPr>
            <p:cNvSpPr/>
            <p:nvPr/>
          </p:nvSpPr>
          <p:spPr>
            <a:xfrm>
              <a:off x="4077652" y="3479483"/>
              <a:ext cx="1428631" cy="1785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10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AHMN Learning Loop</a:t>
              </a:r>
              <a:endParaRPr lang="en-US" sz="1100" dirty="0"/>
            </a:p>
          </p:txBody>
        </p:sp>
        <p:sp>
          <p:nvSpPr>
            <p:cNvPr id="21" name="Text 14">
              <a:extLst>
                <a:ext uri="{FF2B5EF4-FFF2-40B4-BE49-F238E27FC236}">
                  <a16:creationId xmlns:a16="http://schemas.microsoft.com/office/drawing/2014/main" id="{7439A214-921F-6617-F7FA-C4D9C20821AD}"/>
                </a:ext>
              </a:extLst>
            </p:cNvPr>
            <p:cNvSpPr/>
            <p:nvPr/>
          </p:nvSpPr>
          <p:spPr>
            <a:xfrm>
              <a:off x="4077652" y="3690699"/>
              <a:ext cx="7180778" cy="13037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000"/>
                </a:lnSpc>
                <a:buNone/>
              </a:pPr>
              <a:r>
                <a:rPr lang="en-US" sz="850" b="1" dirty="0">
                  <a:solidFill>
                    <a:srgbClr val="75BAE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Dasanayake — 8 min</a:t>
              </a:r>
              <a:endParaRPr lang="en-US" sz="850" dirty="0"/>
            </a:p>
          </p:txBody>
        </p:sp>
        <p:sp>
          <p:nvSpPr>
            <p:cNvPr id="22" name="Text 15">
              <a:extLst>
                <a:ext uri="{FF2B5EF4-FFF2-40B4-BE49-F238E27FC236}">
                  <a16:creationId xmlns:a16="http://schemas.microsoft.com/office/drawing/2014/main" id="{5EA77E92-30D0-E6AB-6BC4-322E103AA999}"/>
                </a:ext>
              </a:extLst>
            </p:cNvPr>
            <p:cNvSpPr/>
            <p:nvPr/>
          </p:nvSpPr>
          <p:spPr>
            <a:xfrm>
              <a:off x="4077652" y="3853696"/>
              <a:ext cx="7180778" cy="2607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000"/>
                </a:lnSpc>
                <a:buNone/>
              </a:pPr>
              <a:r>
                <a:rPr lang="en-US" sz="85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Thompson Sampling policy selection live. STM → MTM → LTM memory tiers on the dashboard. F1 reward sent back, α/β updated, LTM entry updated. Watch the system learn in real time.</a:t>
              </a:r>
              <a:endParaRPr lang="en-US" sz="850" dirty="0"/>
            </a:p>
          </p:txBody>
        </p:sp>
        <p:sp>
          <p:nvSpPr>
            <p:cNvPr id="23" name="Shape 16">
              <a:extLst>
                <a:ext uri="{FF2B5EF4-FFF2-40B4-BE49-F238E27FC236}">
                  <a16:creationId xmlns:a16="http://schemas.microsoft.com/office/drawing/2014/main" id="{0D288A98-3C4C-5445-F114-A7F3E65B23E0}"/>
                </a:ext>
              </a:extLst>
            </p:cNvPr>
            <p:cNvSpPr/>
            <p:nvPr/>
          </p:nvSpPr>
          <p:spPr>
            <a:xfrm>
              <a:off x="3969068" y="4440079"/>
              <a:ext cx="108466" cy="689015"/>
            </a:xfrm>
            <a:prstGeom prst="roundRect">
              <a:avLst>
                <a:gd name="adj" fmla="val 150161"/>
              </a:avLst>
            </a:prstGeom>
            <a:solidFill>
              <a:srgbClr val="D4E9F7"/>
            </a:solidFill>
            <a:ln w="7620">
              <a:solidFill>
                <a:srgbClr val="BACF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Shape 17">
              <a:extLst>
                <a:ext uri="{FF2B5EF4-FFF2-40B4-BE49-F238E27FC236}">
                  <a16:creationId xmlns:a16="http://schemas.microsoft.com/office/drawing/2014/main" id="{6F5337CD-F5A9-F100-89D0-1AEF1C58F37F}"/>
                </a:ext>
              </a:extLst>
            </p:cNvPr>
            <p:cNvSpPr/>
            <p:nvPr/>
          </p:nvSpPr>
          <p:spPr>
            <a:xfrm>
              <a:off x="3860483" y="4368879"/>
              <a:ext cx="325636" cy="325636"/>
            </a:xfrm>
            <a:prstGeom prst="roundRect">
              <a:avLst>
                <a:gd name="adj" fmla="val 140402"/>
              </a:avLst>
            </a:prstGeom>
            <a:solidFill>
              <a:srgbClr val="D4E9F7"/>
            </a:solidFill>
            <a:ln w="7620">
              <a:solidFill>
                <a:srgbClr val="BACF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5" name="Image 3" descr="preencoded.png">
              <a:extLst>
                <a:ext uri="{FF2B5EF4-FFF2-40B4-BE49-F238E27FC236}">
                  <a16:creationId xmlns:a16="http://schemas.microsoft.com/office/drawing/2014/main" id="{9EC43702-96EF-8FF1-B7C5-3098CE4AAF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41921" y="4450318"/>
              <a:ext cx="162758" cy="162758"/>
            </a:xfrm>
            <a:prstGeom prst="rect">
              <a:avLst/>
            </a:prstGeom>
          </p:spPr>
        </p:pic>
        <p:sp>
          <p:nvSpPr>
            <p:cNvPr id="26" name="Text 18">
              <a:extLst>
                <a:ext uri="{FF2B5EF4-FFF2-40B4-BE49-F238E27FC236}">
                  <a16:creationId xmlns:a16="http://schemas.microsoft.com/office/drawing/2014/main" id="{95B33496-9BA2-38F7-EF75-65B20697AB12}"/>
                </a:ext>
              </a:extLst>
            </p:cNvPr>
            <p:cNvSpPr/>
            <p:nvPr/>
          </p:nvSpPr>
          <p:spPr>
            <a:xfrm>
              <a:off x="4240530" y="4385786"/>
              <a:ext cx="2127409" cy="1785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10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XAI Explanations + Human Review</a:t>
              </a:r>
              <a:endParaRPr lang="en-US" sz="1100" dirty="0"/>
            </a:p>
          </p:txBody>
        </p:sp>
        <p:sp>
          <p:nvSpPr>
            <p:cNvPr id="27" name="Text 19">
              <a:extLst>
                <a:ext uri="{FF2B5EF4-FFF2-40B4-BE49-F238E27FC236}">
                  <a16:creationId xmlns:a16="http://schemas.microsoft.com/office/drawing/2014/main" id="{6FEF7DB5-86E3-541D-B6D8-59A35E3EF64A}"/>
                </a:ext>
              </a:extLst>
            </p:cNvPr>
            <p:cNvSpPr/>
            <p:nvPr/>
          </p:nvSpPr>
          <p:spPr>
            <a:xfrm>
              <a:off x="4240530" y="4597003"/>
              <a:ext cx="7017901" cy="13037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000"/>
                </a:lnSpc>
                <a:buNone/>
              </a:pPr>
              <a:r>
                <a:rPr lang="en-US" sz="850" b="1" dirty="0">
                  <a:solidFill>
                    <a:srgbClr val="75BAE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Pathirana — 6 min</a:t>
              </a:r>
              <a:endParaRPr lang="en-US" sz="850" dirty="0"/>
            </a:p>
          </p:txBody>
        </p:sp>
        <p:sp>
          <p:nvSpPr>
            <p:cNvPr id="28" name="Text 20">
              <a:extLst>
                <a:ext uri="{FF2B5EF4-FFF2-40B4-BE49-F238E27FC236}">
                  <a16:creationId xmlns:a16="http://schemas.microsoft.com/office/drawing/2014/main" id="{03F0140F-A7FF-E0D9-B562-E7E6C9547522}"/>
                </a:ext>
              </a:extLst>
            </p:cNvPr>
            <p:cNvSpPr/>
            <p:nvPr/>
          </p:nvSpPr>
          <p:spPr>
            <a:xfrm>
              <a:off x="4240530" y="4760000"/>
              <a:ext cx="7017901" cy="2607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000"/>
                </a:lnSpc>
                <a:buNone/>
              </a:pPr>
              <a:r>
                <a:rPr lang="en-US" sz="85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Highlighted importance scores on extracted fields. Human reviewer marks one field incorrect. Watch that correction propagate back as a learning signal to AHMN.</a:t>
              </a:r>
              <a:endParaRPr lang="en-US" sz="850" dirty="0"/>
            </a:p>
          </p:txBody>
        </p:sp>
        <p:sp>
          <p:nvSpPr>
            <p:cNvPr id="29" name="Shape 21">
              <a:extLst>
                <a:ext uri="{FF2B5EF4-FFF2-40B4-BE49-F238E27FC236}">
                  <a16:creationId xmlns:a16="http://schemas.microsoft.com/office/drawing/2014/main" id="{4FF78790-B6E9-8615-93B2-B6AB963A576C}"/>
                </a:ext>
              </a:extLst>
            </p:cNvPr>
            <p:cNvSpPr/>
            <p:nvPr/>
          </p:nvSpPr>
          <p:spPr>
            <a:xfrm>
              <a:off x="3806190" y="5346383"/>
              <a:ext cx="108466" cy="689015"/>
            </a:xfrm>
            <a:prstGeom prst="roundRect">
              <a:avLst>
                <a:gd name="adj" fmla="val 150161"/>
              </a:avLst>
            </a:prstGeom>
            <a:solidFill>
              <a:srgbClr val="D4E9F7"/>
            </a:solidFill>
            <a:ln w="7620">
              <a:solidFill>
                <a:srgbClr val="BACF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22">
              <a:extLst>
                <a:ext uri="{FF2B5EF4-FFF2-40B4-BE49-F238E27FC236}">
                  <a16:creationId xmlns:a16="http://schemas.microsoft.com/office/drawing/2014/main" id="{914B99A8-440E-3C0F-8FA8-9176A1DF04AB}"/>
                </a:ext>
              </a:extLst>
            </p:cNvPr>
            <p:cNvSpPr/>
            <p:nvPr/>
          </p:nvSpPr>
          <p:spPr>
            <a:xfrm>
              <a:off x="3697605" y="5275183"/>
              <a:ext cx="325636" cy="325636"/>
            </a:xfrm>
            <a:prstGeom prst="roundRect">
              <a:avLst>
                <a:gd name="adj" fmla="val 140402"/>
              </a:avLst>
            </a:prstGeom>
            <a:solidFill>
              <a:srgbClr val="D4E9F7"/>
            </a:solidFill>
            <a:ln w="7620">
              <a:solidFill>
                <a:srgbClr val="BACF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1" name="Image 4" descr="preencoded.png">
              <a:extLst>
                <a:ext uri="{FF2B5EF4-FFF2-40B4-BE49-F238E27FC236}">
                  <a16:creationId xmlns:a16="http://schemas.microsoft.com/office/drawing/2014/main" id="{AA9D4BB3-0B4E-9C5D-561E-5FF5FE40CA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79044" y="5356622"/>
              <a:ext cx="162758" cy="162758"/>
            </a:xfrm>
            <a:prstGeom prst="rect">
              <a:avLst/>
            </a:prstGeom>
          </p:spPr>
        </p:pic>
        <p:sp>
          <p:nvSpPr>
            <p:cNvPr id="32" name="Text 23">
              <a:extLst>
                <a:ext uri="{FF2B5EF4-FFF2-40B4-BE49-F238E27FC236}">
                  <a16:creationId xmlns:a16="http://schemas.microsoft.com/office/drawing/2014/main" id="{3D2E4E40-1847-64B6-F7A6-DE9196A22EEC}"/>
                </a:ext>
              </a:extLst>
            </p:cNvPr>
            <p:cNvSpPr/>
            <p:nvPr/>
          </p:nvSpPr>
          <p:spPr>
            <a:xfrm>
              <a:off x="4077652" y="5292090"/>
              <a:ext cx="1428631" cy="1785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10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Guardrails Validation</a:t>
              </a:r>
              <a:endParaRPr lang="en-US" sz="1100" dirty="0"/>
            </a:p>
          </p:txBody>
        </p:sp>
        <p:sp>
          <p:nvSpPr>
            <p:cNvPr id="33" name="Text 24">
              <a:extLst>
                <a:ext uri="{FF2B5EF4-FFF2-40B4-BE49-F238E27FC236}">
                  <a16:creationId xmlns:a16="http://schemas.microsoft.com/office/drawing/2014/main" id="{3CCF82F9-BF0F-594D-C877-5049BEA069F1}"/>
                </a:ext>
              </a:extLst>
            </p:cNvPr>
            <p:cNvSpPr/>
            <p:nvPr/>
          </p:nvSpPr>
          <p:spPr>
            <a:xfrm>
              <a:off x="4077652" y="5503307"/>
              <a:ext cx="7180778" cy="13037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000"/>
                </a:lnSpc>
                <a:buNone/>
              </a:pPr>
              <a:r>
                <a:rPr lang="en-US" sz="850" b="1" dirty="0">
                  <a:solidFill>
                    <a:srgbClr val="75BAE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Wijetunga — 5 min</a:t>
              </a:r>
              <a:endParaRPr lang="en-US" sz="850" dirty="0"/>
            </a:p>
          </p:txBody>
        </p:sp>
        <p:sp>
          <p:nvSpPr>
            <p:cNvPr id="34" name="Text 25">
              <a:extLst>
                <a:ext uri="{FF2B5EF4-FFF2-40B4-BE49-F238E27FC236}">
                  <a16:creationId xmlns:a16="http://schemas.microsoft.com/office/drawing/2014/main" id="{275B892E-B15A-320E-3693-2D7A4261C188}"/>
                </a:ext>
              </a:extLst>
            </p:cNvPr>
            <p:cNvSpPr/>
            <p:nvPr/>
          </p:nvSpPr>
          <p:spPr>
            <a:xfrm>
              <a:off x="4077652" y="5666303"/>
              <a:ext cx="7180778" cy="2607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000"/>
                </a:lnSpc>
                <a:buNone/>
              </a:pPr>
              <a:r>
                <a:rPr lang="en-US" sz="85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Deliberately malformed document sent through. Watch all six validation layers fire — schema fail, consistency fail, PII detected. System flags and escalates automatically.</a:t>
              </a:r>
              <a:endParaRPr lang="en-US" sz="850" dirty="0"/>
            </a:p>
          </p:txBody>
        </p:sp>
        <p:sp>
          <p:nvSpPr>
            <p:cNvPr id="35" name="Text 26">
              <a:extLst>
                <a:ext uri="{FF2B5EF4-FFF2-40B4-BE49-F238E27FC236}">
                  <a16:creationId xmlns:a16="http://schemas.microsoft.com/office/drawing/2014/main" id="{5FE9029D-03A5-7CD0-1F24-3256BA89C6AE}"/>
                </a:ext>
              </a:extLst>
            </p:cNvPr>
            <p:cNvSpPr/>
            <p:nvPr/>
          </p:nvSpPr>
          <p:spPr>
            <a:xfrm>
              <a:off x="3371969" y="6150888"/>
              <a:ext cx="3909179" cy="35825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800"/>
                </a:lnSpc>
                <a:buNone/>
              </a:pPr>
              <a:r>
                <a:rPr lang="en-US" sz="280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30</a:t>
              </a:r>
              <a:endParaRPr lang="en-US" sz="2800" dirty="0"/>
            </a:p>
          </p:txBody>
        </p:sp>
        <p:sp>
          <p:nvSpPr>
            <p:cNvPr id="36" name="Text 27">
              <a:extLst>
                <a:ext uri="{FF2B5EF4-FFF2-40B4-BE49-F238E27FC236}">
                  <a16:creationId xmlns:a16="http://schemas.microsoft.com/office/drawing/2014/main" id="{63E04EEC-5ED1-1117-5A3C-7CC5811A6B4C}"/>
                </a:ext>
              </a:extLst>
            </p:cNvPr>
            <p:cNvSpPr/>
            <p:nvPr/>
          </p:nvSpPr>
          <p:spPr>
            <a:xfrm>
              <a:off x="4612243" y="6604040"/>
              <a:ext cx="1428631" cy="1785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400"/>
                </a:lnSpc>
                <a:buNone/>
              </a:pPr>
              <a:r>
                <a:rPr lang="en-US" sz="110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Total Demo Time</a:t>
              </a:r>
              <a:endParaRPr lang="en-US" sz="1100" dirty="0"/>
            </a:p>
          </p:txBody>
        </p:sp>
        <p:sp>
          <p:nvSpPr>
            <p:cNvPr id="37" name="Text 28">
              <a:extLst>
                <a:ext uri="{FF2B5EF4-FFF2-40B4-BE49-F238E27FC236}">
                  <a16:creationId xmlns:a16="http://schemas.microsoft.com/office/drawing/2014/main" id="{BE88A881-A8A3-ECF5-99B1-5C04883D2A3E}"/>
                </a:ext>
              </a:extLst>
            </p:cNvPr>
            <p:cNvSpPr/>
            <p:nvPr/>
          </p:nvSpPr>
          <p:spPr>
            <a:xfrm>
              <a:off x="3371969" y="6815257"/>
              <a:ext cx="3909179" cy="13037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000"/>
                </a:lnSpc>
                <a:buNone/>
              </a:pPr>
              <a:r>
                <a:rPr lang="en-US" sz="85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Minutes</a:t>
              </a:r>
              <a:endParaRPr lang="en-US" sz="850" dirty="0"/>
            </a:p>
          </p:txBody>
        </p:sp>
        <p:sp>
          <p:nvSpPr>
            <p:cNvPr id="38" name="Text 29">
              <a:extLst>
                <a:ext uri="{FF2B5EF4-FFF2-40B4-BE49-F238E27FC236}">
                  <a16:creationId xmlns:a16="http://schemas.microsoft.com/office/drawing/2014/main" id="{A13D0869-6C08-211B-9ECA-382BC67321CF}"/>
                </a:ext>
              </a:extLst>
            </p:cNvPr>
            <p:cNvSpPr/>
            <p:nvPr/>
          </p:nvSpPr>
          <p:spPr>
            <a:xfrm>
              <a:off x="7349133" y="6150888"/>
              <a:ext cx="3909298" cy="35825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800"/>
                </a:lnSpc>
                <a:buNone/>
              </a:pPr>
              <a:r>
                <a:rPr lang="en-US" sz="280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4</a:t>
              </a:r>
              <a:endParaRPr lang="en-US" sz="2800" dirty="0"/>
            </a:p>
          </p:txBody>
        </p:sp>
        <p:sp>
          <p:nvSpPr>
            <p:cNvPr id="39" name="Text 30">
              <a:extLst>
                <a:ext uri="{FF2B5EF4-FFF2-40B4-BE49-F238E27FC236}">
                  <a16:creationId xmlns:a16="http://schemas.microsoft.com/office/drawing/2014/main" id="{3A7B457B-68A8-36ED-35B4-DC4414F9627E}"/>
                </a:ext>
              </a:extLst>
            </p:cNvPr>
            <p:cNvSpPr/>
            <p:nvPr/>
          </p:nvSpPr>
          <p:spPr>
            <a:xfrm>
              <a:off x="8589407" y="6604040"/>
              <a:ext cx="1428631" cy="1785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400"/>
                </a:lnSpc>
                <a:buNone/>
              </a:pPr>
              <a:r>
                <a:rPr lang="en-US" sz="110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Team Members</a:t>
              </a:r>
              <a:endParaRPr lang="en-US" sz="1100" dirty="0"/>
            </a:p>
          </p:txBody>
        </p:sp>
        <p:sp>
          <p:nvSpPr>
            <p:cNvPr id="40" name="Text 31">
              <a:extLst>
                <a:ext uri="{FF2B5EF4-FFF2-40B4-BE49-F238E27FC236}">
                  <a16:creationId xmlns:a16="http://schemas.microsoft.com/office/drawing/2014/main" id="{0B1D79CC-39DC-4F88-FA7B-07DC928A3C2A}"/>
                </a:ext>
              </a:extLst>
            </p:cNvPr>
            <p:cNvSpPr/>
            <p:nvPr/>
          </p:nvSpPr>
          <p:spPr>
            <a:xfrm>
              <a:off x="7349133" y="6815257"/>
              <a:ext cx="3909298" cy="13037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000"/>
                </a:lnSpc>
                <a:buNone/>
              </a:pPr>
              <a:r>
                <a:rPr lang="en-US" sz="85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Presenting</a:t>
              </a:r>
              <a:endParaRPr lang="en-US" sz="850" dirty="0"/>
            </a:p>
          </p:txBody>
        </p:sp>
        <p:sp>
          <p:nvSpPr>
            <p:cNvPr id="41" name="Text 32">
              <a:extLst>
                <a:ext uri="{FF2B5EF4-FFF2-40B4-BE49-F238E27FC236}">
                  <a16:creationId xmlns:a16="http://schemas.microsoft.com/office/drawing/2014/main" id="{B78C30D6-062A-B9B0-F1D4-96CD58594B6A}"/>
                </a:ext>
              </a:extLst>
            </p:cNvPr>
            <p:cNvSpPr/>
            <p:nvPr/>
          </p:nvSpPr>
          <p:spPr>
            <a:xfrm>
              <a:off x="3371969" y="7006828"/>
              <a:ext cx="7886462" cy="13037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000"/>
                </a:lnSpc>
                <a:buNone/>
              </a:pPr>
              <a:r>
                <a:rPr lang="en-US" sz="850" b="1" dirty="0">
                  <a:solidFill>
                    <a:srgbClr val="00000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🔴</a:t>
              </a:r>
              <a:r>
                <a:rPr lang="en-US" sz="85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Live System | </a:t>
              </a:r>
              <a:r>
                <a:rPr lang="en-US" sz="850" b="1" dirty="0">
                  <a:solidFill>
                    <a:srgbClr val="00000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💾</a:t>
              </a:r>
              <a:r>
                <a:rPr lang="en-US" sz="85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Backup: Recorded demo ready | </a:t>
              </a:r>
              <a:r>
                <a:rPr lang="en-US" sz="850" b="1" dirty="0">
                  <a:solidFill>
                    <a:srgbClr val="00000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📂</a:t>
              </a:r>
              <a:r>
                <a:rPr lang="en-US" sz="85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Test data preloaded</a:t>
              </a:r>
              <a:endParaRPr lang="en-US" sz="850" dirty="0"/>
            </a:p>
          </p:txBody>
        </p:sp>
      </p:grpSp>
    </p:spTree>
    <p:extLst>
      <p:ext uri="{BB962C8B-B14F-4D97-AF65-F5344CB8AC3E}">
        <p14:creationId xmlns:p14="http://schemas.microsoft.com/office/powerpoint/2010/main" val="3551521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D459325C-C09A-EC7C-EF4E-E347BBE49532}"/>
              </a:ext>
            </a:extLst>
          </p:cNvPr>
          <p:cNvGrpSpPr/>
          <p:nvPr/>
        </p:nvGrpSpPr>
        <p:grpSpPr>
          <a:xfrm>
            <a:off x="4470401" y="180622"/>
            <a:ext cx="7563555" cy="6524977"/>
            <a:chOff x="6244709" y="1044416"/>
            <a:chExt cx="7627382" cy="6140649"/>
          </a:xfrm>
        </p:grpSpPr>
        <p:sp>
          <p:nvSpPr>
            <p:cNvPr id="15" name="Text 0">
              <a:extLst>
                <a:ext uri="{FF2B5EF4-FFF2-40B4-BE49-F238E27FC236}">
                  <a16:creationId xmlns:a16="http://schemas.microsoft.com/office/drawing/2014/main" id="{733E6920-7864-E2DC-680C-D3ABB71433B6}"/>
                </a:ext>
              </a:extLst>
            </p:cNvPr>
            <p:cNvSpPr/>
            <p:nvPr/>
          </p:nvSpPr>
          <p:spPr>
            <a:xfrm>
              <a:off x="6244709" y="1044416"/>
              <a:ext cx="5701546" cy="7127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600"/>
                </a:lnSpc>
                <a:buNone/>
              </a:pPr>
              <a:r>
                <a:rPr lang="en-US" sz="4450" b="1" dirty="0">
                  <a:solidFill>
                    <a:srgbClr val="2E3C4E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Thank You</a:t>
              </a:r>
              <a:endParaRPr lang="en-US" sz="4450" dirty="0"/>
            </a:p>
          </p:txBody>
        </p:sp>
        <p:sp>
          <p:nvSpPr>
            <p:cNvPr id="16" name="Shape 1">
              <a:extLst>
                <a:ext uri="{FF2B5EF4-FFF2-40B4-BE49-F238E27FC236}">
                  <a16:creationId xmlns:a16="http://schemas.microsoft.com/office/drawing/2014/main" id="{1EBA33CD-5336-A5F7-BF73-00DC1B861682}"/>
                </a:ext>
              </a:extLst>
            </p:cNvPr>
            <p:cNvSpPr/>
            <p:nvPr/>
          </p:nvSpPr>
          <p:spPr>
            <a:xfrm>
              <a:off x="6244709" y="2082046"/>
              <a:ext cx="3705344" cy="2668072"/>
            </a:xfrm>
            <a:prstGeom prst="roundRect">
              <a:avLst>
                <a:gd name="adj" fmla="val 12181"/>
              </a:avLst>
            </a:prstGeom>
            <a:solidFill>
              <a:srgbClr val="D4E9F7"/>
            </a:solidFill>
            <a:ln w="7620">
              <a:solidFill>
                <a:srgbClr val="BACF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2">
              <a:extLst>
                <a:ext uri="{FF2B5EF4-FFF2-40B4-BE49-F238E27FC236}">
                  <a16:creationId xmlns:a16="http://schemas.microsoft.com/office/drawing/2014/main" id="{17AEE382-E18A-DB73-921F-46745A477F96}"/>
                </a:ext>
              </a:extLst>
            </p:cNvPr>
            <p:cNvSpPr/>
            <p:nvPr/>
          </p:nvSpPr>
          <p:spPr>
            <a:xfrm>
              <a:off x="6468904" y="2306241"/>
              <a:ext cx="2850713" cy="3562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00"/>
                </a:lnSpc>
                <a:buNone/>
              </a:pPr>
              <a:r>
                <a:rPr lang="en-US" sz="220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Questions?</a:t>
              </a:r>
              <a:endParaRPr lang="en-US" sz="2200" dirty="0"/>
            </a:p>
          </p:txBody>
        </p:sp>
        <p:sp>
          <p:nvSpPr>
            <p:cNvPr id="18" name="Text 3">
              <a:extLst>
                <a:ext uri="{FF2B5EF4-FFF2-40B4-BE49-F238E27FC236}">
                  <a16:creationId xmlns:a16="http://schemas.microsoft.com/office/drawing/2014/main" id="{C41E39EF-77E2-4953-7846-F1444F02CA62}"/>
                </a:ext>
              </a:extLst>
            </p:cNvPr>
            <p:cNvSpPr/>
            <p:nvPr/>
          </p:nvSpPr>
          <p:spPr>
            <a:xfrm>
              <a:off x="6468904" y="2792373"/>
              <a:ext cx="3256955" cy="17335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170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We're ready to demonstrate how our system learns from every document and continuously improves without manual retraining.</a:t>
              </a:r>
              <a:endParaRPr lang="en-US" sz="1700" dirty="0"/>
            </a:p>
          </p:txBody>
        </p:sp>
        <p:sp>
          <p:nvSpPr>
            <p:cNvPr id="19" name="Shape 4">
              <a:extLst>
                <a:ext uri="{FF2B5EF4-FFF2-40B4-BE49-F238E27FC236}">
                  <a16:creationId xmlns:a16="http://schemas.microsoft.com/office/drawing/2014/main" id="{2CA9B44B-25A4-10F8-98B2-2237F9DFA981}"/>
                </a:ext>
              </a:extLst>
            </p:cNvPr>
            <p:cNvSpPr/>
            <p:nvPr/>
          </p:nvSpPr>
          <p:spPr>
            <a:xfrm>
              <a:off x="10166628" y="2082046"/>
              <a:ext cx="3705463" cy="2668072"/>
            </a:xfrm>
            <a:prstGeom prst="roundRect">
              <a:avLst>
                <a:gd name="adj" fmla="val 12181"/>
              </a:avLst>
            </a:prstGeom>
            <a:solidFill>
              <a:srgbClr val="D4E9F7"/>
            </a:solidFill>
            <a:ln w="7620">
              <a:solidFill>
                <a:srgbClr val="BACF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5">
              <a:extLst>
                <a:ext uri="{FF2B5EF4-FFF2-40B4-BE49-F238E27FC236}">
                  <a16:creationId xmlns:a16="http://schemas.microsoft.com/office/drawing/2014/main" id="{36B9E606-0D51-F78B-E6A4-E8BA209F0316}"/>
                </a:ext>
              </a:extLst>
            </p:cNvPr>
            <p:cNvSpPr/>
            <p:nvPr/>
          </p:nvSpPr>
          <p:spPr>
            <a:xfrm>
              <a:off x="10390823" y="2306241"/>
              <a:ext cx="2850713" cy="3562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00"/>
                </a:lnSpc>
                <a:buNone/>
              </a:pPr>
              <a:r>
                <a:rPr lang="en-US" sz="220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Next Steps</a:t>
              </a:r>
              <a:endParaRPr lang="en-US" sz="2200" dirty="0"/>
            </a:p>
          </p:txBody>
        </p:sp>
        <p:sp>
          <p:nvSpPr>
            <p:cNvPr id="21" name="Text 6">
              <a:extLst>
                <a:ext uri="{FF2B5EF4-FFF2-40B4-BE49-F238E27FC236}">
                  <a16:creationId xmlns:a16="http://schemas.microsoft.com/office/drawing/2014/main" id="{4D243BE8-49F2-2359-BB50-C6697062154D}"/>
                </a:ext>
              </a:extLst>
            </p:cNvPr>
            <p:cNvSpPr/>
            <p:nvPr/>
          </p:nvSpPr>
          <p:spPr>
            <a:xfrm>
              <a:off x="10390823" y="2792373"/>
              <a:ext cx="3257074" cy="17335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1700" dirty="0">
                  <a:solidFill>
                    <a:srgbClr val="384653"/>
                  </a:solidFill>
                  <a:latin typeface="Montserrat" pitchFamily="34" charset="0"/>
                </a:rPr>
                <a:t>Hosting and deployment and optimization</a:t>
              </a:r>
              <a:endParaRPr lang="en-US" sz="1700" dirty="0"/>
            </a:p>
          </p:txBody>
        </p:sp>
        <p:sp>
          <p:nvSpPr>
            <p:cNvPr id="22" name="Shape 7">
              <a:extLst>
                <a:ext uri="{FF2B5EF4-FFF2-40B4-BE49-F238E27FC236}">
                  <a16:creationId xmlns:a16="http://schemas.microsoft.com/office/drawing/2014/main" id="{B2038FE5-710A-12B3-2B80-9AEDE2878B1D}"/>
                </a:ext>
              </a:extLst>
            </p:cNvPr>
            <p:cNvSpPr/>
            <p:nvPr/>
          </p:nvSpPr>
          <p:spPr>
            <a:xfrm>
              <a:off x="6244709" y="4966692"/>
              <a:ext cx="7627382" cy="1281232"/>
            </a:xfrm>
            <a:prstGeom prst="roundRect">
              <a:avLst>
                <a:gd name="adj" fmla="val 25366"/>
              </a:avLst>
            </a:prstGeom>
            <a:solidFill>
              <a:srgbClr val="D4E9F7"/>
            </a:solidFill>
            <a:ln w="7620">
              <a:solidFill>
                <a:srgbClr val="BACF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8">
              <a:extLst>
                <a:ext uri="{FF2B5EF4-FFF2-40B4-BE49-F238E27FC236}">
                  <a16:creationId xmlns:a16="http://schemas.microsoft.com/office/drawing/2014/main" id="{27D52C9E-9247-75F5-223A-86D1294352BF}"/>
                </a:ext>
              </a:extLst>
            </p:cNvPr>
            <p:cNvSpPr/>
            <p:nvPr/>
          </p:nvSpPr>
          <p:spPr>
            <a:xfrm>
              <a:off x="6468904" y="5190887"/>
              <a:ext cx="2850713" cy="3562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00"/>
                </a:lnSpc>
                <a:buNone/>
              </a:pPr>
              <a:r>
                <a:rPr lang="en-US" sz="2200" b="1" dirty="0">
                  <a:solidFill>
                    <a:srgbClr val="384653"/>
                  </a:solidFill>
                  <a:latin typeface="Barlow Bold" pitchFamily="34" charset="0"/>
                  <a:ea typeface="Barlow Bold" pitchFamily="34" charset="-122"/>
                  <a:cs typeface="Barlow Bold" pitchFamily="34" charset="-120"/>
                </a:rPr>
                <a:t>Contact</a:t>
              </a:r>
              <a:endParaRPr lang="en-US" sz="2200" dirty="0"/>
            </a:p>
          </p:txBody>
        </p:sp>
        <p:sp>
          <p:nvSpPr>
            <p:cNvPr id="24" name="Text 9">
              <a:extLst>
                <a:ext uri="{FF2B5EF4-FFF2-40B4-BE49-F238E27FC236}">
                  <a16:creationId xmlns:a16="http://schemas.microsoft.com/office/drawing/2014/main" id="{86DF672F-D01D-2E45-6698-7EADDD4DABA7}"/>
                </a:ext>
              </a:extLst>
            </p:cNvPr>
            <p:cNvSpPr/>
            <p:nvPr/>
          </p:nvSpPr>
          <p:spPr>
            <a:xfrm>
              <a:off x="6468904" y="5677019"/>
              <a:ext cx="7178993" cy="3467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1700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SLIIT Faculty of Computing | IT4010 Project 25-26J-129</a:t>
              </a:r>
              <a:endParaRPr lang="en-US" sz="1700" dirty="0"/>
            </a:p>
          </p:txBody>
        </p:sp>
        <p:sp>
          <p:nvSpPr>
            <p:cNvPr id="25" name="Text 10">
              <a:extLst>
                <a:ext uri="{FF2B5EF4-FFF2-40B4-BE49-F238E27FC236}">
                  <a16:creationId xmlns:a16="http://schemas.microsoft.com/office/drawing/2014/main" id="{834DADCA-0900-1BAF-FF25-EAB38125664C}"/>
                </a:ext>
              </a:extLst>
            </p:cNvPr>
            <p:cNvSpPr/>
            <p:nvPr/>
          </p:nvSpPr>
          <p:spPr>
            <a:xfrm>
              <a:off x="6244709" y="6491645"/>
              <a:ext cx="7627382" cy="6934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1700" i="1" dirty="0">
                  <a:solidFill>
                    <a:srgbClr val="38465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Modular Multi-Agent Document AI - A system that learns from every document it processes.</a:t>
              </a:r>
              <a:endParaRPr lang="en-US" sz="1700" dirty="0"/>
            </a:p>
          </p:txBody>
        </p:sp>
      </p:grpSp>
      <p:pic>
        <p:nvPicPr>
          <p:cNvPr id="26" name="Image 0" descr="preencoded.png">
            <a:extLst>
              <a:ext uri="{FF2B5EF4-FFF2-40B4-BE49-F238E27FC236}">
                <a16:creationId xmlns:a16="http://schemas.microsoft.com/office/drawing/2014/main" id="{B1F3328E-7DC8-38E7-0046-ED719EC41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0093" y="-84841"/>
            <a:ext cx="4859989" cy="6942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88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4e3cf94-19c9-4e32-96c3-14f5bf01391a}" enabled="0" method="" siteId="{44e3cf94-19c9-4e32-96c3-14f5bf01391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381</TotalTime>
  <Words>706</Words>
  <Application>Microsoft Office PowerPoint</Application>
  <PresentationFormat>Widescreen</PresentationFormat>
  <Paragraphs>87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Arial</vt:lpstr>
      <vt:lpstr>Barlow</vt:lpstr>
      <vt:lpstr>Barlow Bold</vt:lpstr>
      <vt:lpstr>Calibri</vt:lpstr>
      <vt:lpstr>Calibri Light</vt:lpstr>
      <vt:lpstr>Montserrat</vt:lpstr>
      <vt:lpstr>Office 2013 - 2022 Theme</vt:lpstr>
      <vt:lpstr>Modular Multi-Agent Document 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DASANAYAKE D R L it22350800</dc:creator>
  <cp:lastModifiedBy>WIJETUNGA W L A T it22910936</cp:lastModifiedBy>
  <cp:revision>2</cp:revision>
  <dcterms:created xsi:type="dcterms:W3CDTF">2026-03-08T08:10:02Z</dcterms:created>
  <dcterms:modified xsi:type="dcterms:W3CDTF">2026-04-25T14:42:02Z</dcterms:modified>
</cp:coreProperties>
</file>